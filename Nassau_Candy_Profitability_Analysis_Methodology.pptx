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2" d="100"/>
          <a:sy n="102" d="100"/>
        </p:scale>
        <p:origin x="62" y="41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ndan B S" userId="befbe01013eadd32" providerId="LiveId" clId="{C1F94652-0263-4641-848F-8565259D9F3C}"/>
    <pc:docChg chg="modSld">
      <pc:chgData name="Chandan B S" userId="befbe01013eadd32" providerId="LiveId" clId="{C1F94652-0263-4641-848F-8565259D9F3C}" dt="2026-05-20T10:16:39.953" v="36" actId="20577"/>
      <pc:docMkLst>
        <pc:docMk/>
      </pc:docMkLst>
      <pc:sldChg chg="modSp mod">
        <pc:chgData name="Chandan B S" userId="befbe01013eadd32" providerId="LiveId" clId="{C1F94652-0263-4641-848F-8565259D9F3C}" dt="2026-05-20T10:12:20.869" v="1" actId="20577"/>
        <pc:sldMkLst>
          <pc:docMk/>
          <pc:sldMk cId="0" sldId="260"/>
        </pc:sldMkLst>
        <pc:spChg chg="mod">
          <ac:chgData name="Chandan B S" userId="befbe01013eadd32" providerId="LiveId" clId="{C1F94652-0263-4641-848F-8565259D9F3C}" dt="2026-05-20T10:12:20.869" v="1" actId="20577"/>
          <ac:spMkLst>
            <pc:docMk/>
            <pc:sldMk cId="0" sldId="260"/>
            <ac:spMk id="29" creationId="{00000000-0000-0000-0000-000000000000}"/>
          </ac:spMkLst>
        </pc:spChg>
      </pc:sldChg>
      <pc:sldChg chg="modSp mod">
        <pc:chgData name="Chandan B S" userId="befbe01013eadd32" providerId="LiveId" clId="{C1F94652-0263-4641-848F-8565259D9F3C}" dt="2026-05-20T10:16:39.953" v="36" actId="20577"/>
        <pc:sldMkLst>
          <pc:docMk/>
          <pc:sldMk cId="0" sldId="262"/>
        </pc:sldMkLst>
        <pc:spChg chg="mod">
          <ac:chgData name="Chandan B S" userId="befbe01013eadd32" providerId="LiveId" clId="{C1F94652-0263-4641-848F-8565259D9F3C}" dt="2026-05-20T10:16:39.953" v="36" actId="20577"/>
          <ac:spMkLst>
            <pc:docMk/>
            <pc:sldMk cId="0" sldId="262"/>
            <ac:spMk id="5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34782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dirty="0"/>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6C63FF"/>
          </a:solidFill>
          <a:ln w="12700">
            <a:solidFill>
              <a:srgbClr val="6C63FF"/>
            </a:solidFill>
            <a:prstDash val="solid"/>
          </a:ln>
        </p:spPr>
        <p:txBody>
          <a:bodyPr/>
          <a:lstStyle/>
          <a:p>
            <a:endParaRPr lang="en-IN" dirty="0"/>
          </a:p>
        </p:txBody>
      </p:sp>
      <p:sp>
        <p:nvSpPr>
          <p:cNvPr id="3" name="Shape 1"/>
          <p:cNvSpPr/>
          <p:nvPr/>
        </p:nvSpPr>
        <p:spPr>
          <a:xfrm>
            <a:off x="7498080" y="-548640"/>
            <a:ext cx="2286000" cy="2286000"/>
          </a:xfrm>
          <a:prstGeom prst="ellipse">
            <a:avLst/>
          </a:prstGeom>
          <a:solidFill>
            <a:srgbClr val="6C63FF">
              <a:alpha val="18000"/>
            </a:srgbClr>
          </a:solidFill>
          <a:ln w="12700">
            <a:solidFill>
              <a:srgbClr val="6C63FF">
                <a:alpha val="30000"/>
              </a:srgbClr>
            </a:solidFill>
            <a:prstDash val="solid"/>
          </a:ln>
        </p:spPr>
        <p:txBody>
          <a:bodyPr/>
          <a:lstStyle/>
          <a:p>
            <a:endParaRPr lang="en-IN" dirty="0"/>
          </a:p>
        </p:txBody>
      </p:sp>
      <p:sp>
        <p:nvSpPr>
          <p:cNvPr id="4" name="Shape 2"/>
          <p:cNvSpPr/>
          <p:nvPr/>
        </p:nvSpPr>
        <p:spPr>
          <a:xfrm>
            <a:off x="8046720" y="365760"/>
            <a:ext cx="1371600" cy="1371600"/>
          </a:xfrm>
          <a:prstGeom prst="ellipse">
            <a:avLst/>
          </a:prstGeom>
          <a:solidFill>
            <a:srgbClr val="E8963A">
              <a:alpha val="22000"/>
            </a:srgbClr>
          </a:solidFill>
          <a:ln w="12700">
            <a:solidFill>
              <a:srgbClr val="E8963A">
                <a:alpha val="35000"/>
              </a:srgbClr>
            </a:solidFill>
            <a:prstDash val="solid"/>
          </a:ln>
        </p:spPr>
        <p:txBody>
          <a:bodyPr/>
          <a:lstStyle/>
          <a:p>
            <a:endParaRPr lang="en-IN" dirty="0"/>
          </a:p>
        </p:txBody>
      </p:sp>
      <p:sp>
        <p:nvSpPr>
          <p:cNvPr id="5" name="Shape 3"/>
          <p:cNvSpPr/>
          <p:nvPr/>
        </p:nvSpPr>
        <p:spPr>
          <a:xfrm>
            <a:off x="6949440" y="3474720"/>
            <a:ext cx="1828800" cy="1828800"/>
          </a:xfrm>
          <a:prstGeom prst="ellipse">
            <a:avLst/>
          </a:prstGeom>
          <a:solidFill>
            <a:srgbClr val="7B4F2E">
              <a:alpha val="20000"/>
            </a:srgbClr>
          </a:solidFill>
          <a:ln w="12700">
            <a:solidFill>
              <a:srgbClr val="7B4F2E">
                <a:alpha val="32000"/>
              </a:srgbClr>
            </a:solidFill>
            <a:prstDash val="solid"/>
          </a:ln>
        </p:spPr>
        <p:txBody>
          <a:bodyPr/>
          <a:lstStyle/>
          <a:p>
            <a:endParaRPr lang="en-IN" dirty="0"/>
          </a:p>
        </p:txBody>
      </p:sp>
      <p:sp>
        <p:nvSpPr>
          <p:cNvPr id="6" name="Shape 4"/>
          <p:cNvSpPr/>
          <p:nvPr/>
        </p:nvSpPr>
        <p:spPr>
          <a:xfrm>
            <a:off x="384048" y="164592"/>
            <a:ext cx="2377440" cy="274320"/>
          </a:xfrm>
          <a:prstGeom prst="roundRect">
            <a:avLst>
              <a:gd name="adj" fmla="val 16667"/>
            </a:avLst>
          </a:prstGeom>
          <a:solidFill>
            <a:srgbClr val="6C63FF"/>
          </a:solidFill>
          <a:ln w="12700">
            <a:solidFill>
              <a:srgbClr val="6C63FF"/>
            </a:solidFill>
            <a:prstDash val="solid"/>
          </a:ln>
        </p:spPr>
        <p:txBody>
          <a:bodyPr/>
          <a:lstStyle/>
          <a:p>
            <a:endParaRPr lang="en-IN" dirty="0"/>
          </a:p>
        </p:txBody>
      </p:sp>
      <p:sp>
        <p:nvSpPr>
          <p:cNvPr id="7" name="Text 5"/>
          <p:cNvSpPr/>
          <p:nvPr/>
        </p:nvSpPr>
        <p:spPr>
          <a:xfrm>
            <a:off x="384048" y="164592"/>
            <a:ext cx="2377440" cy="274320"/>
          </a:xfrm>
          <a:prstGeom prst="rect">
            <a:avLst/>
          </a:prstGeom>
          <a:noFill/>
          <a:ln/>
        </p:spPr>
        <p:txBody>
          <a:bodyPr wrap="square" lIns="0" tIns="0" rIns="0" bIns="0" rtlCol="0" anchor="ctr"/>
          <a:lstStyle/>
          <a:p>
            <a:pPr marL="0" indent="0" algn="ctr">
              <a:buNone/>
            </a:pPr>
            <a:r>
              <a:rPr lang="en-US" sz="800" b="1" kern="0" spc="150" dirty="0">
                <a:solidFill>
                  <a:srgbClr val="FFFFFF"/>
                </a:solidFill>
              </a:rPr>
              <a:t>PROFITABILITY INTELLIGENCE</a:t>
            </a:r>
            <a:endParaRPr lang="en-US" sz="800" dirty="0"/>
          </a:p>
        </p:txBody>
      </p:sp>
      <p:sp>
        <p:nvSpPr>
          <p:cNvPr id="8" name="Text 6"/>
          <p:cNvSpPr/>
          <p:nvPr/>
        </p:nvSpPr>
        <p:spPr>
          <a:xfrm>
            <a:off x="384048" y="566928"/>
            <a:ext cx="6858000" cy="658368"/>
          </a:xfrm>
          <a:prstGeom prst="rect">
            <a:avLst/>
          </a:prstGeom>
          <a:noFill/>
          <a:ln/>
        </p:spPr>
        <p:txBody>
          <a:bodyPr wrap="square"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Product Line Profitability</a:t>
            </a:r>
            <a:endParaRPr lang="en-US" sz="3600" dirty="0"/>
          </a:p>
        </p:txBody>
      </p:sp>
      <p:sp>
        <p:nvSpPr>
          <p:cNvPr id="9" name="Text 7"/>
          <p:cNvSpPr/>
          <p:nvPr/>
        </p:nvSpPr>
        <p:spPr>
          <a:xfrm>
            <a:off x="384048" y="1261872"/>
            <a:ext cx="6858000" cy="512064"/>
          </a:xfrm>
          <a:prstGeom prst="rect">
            <a:avLst/>
          </a:prstGeom>
          <a:noFill/>
          <a:ln/>
        </p:spPr>
        <p:txBody>
          <a:bodyPr wrap="square" rtlCol="0" anchor="ctr"/>
          <a:lstStyle/>
          <a:p>
            <a:pPr marL="0" indent="0">
              <a:buNone/>
            </a:pPr>
            <a:r>
              <a:rPr lang="en-US" sz="2600" dirty="0">
                <a:solidFill>
                  <a:srgbClr val="A0A0FF"/>
                </a:solidFill>
                <a:latin typeface="Georgia" pitchFamily="34" charset="0"/>
                <a:ea typeface="Georgia" pitchFamily="34" charset="-122"/>
                <a:cs typeface="Georgia" pitchFamily="34" charset="-120"/>
              </a:rPr>
              <a:t>&amp; Margin Performance Analysis</a:t>
            </a:r>
            <a:endParaRPr lang="en-US" sz="2600" dirty="0"/>
          </a:p>
        </p:txBody>
      </p:sp>
      <p:sp>
        <p:nvSpPr>
          <p:cNvPr id="10" name="Shape 8"/>
          <p:cNvSpPr/>
          <p:nvPr/>
        </p:nvSpPr>
        <p:spPr>
          <a:xfrm>
            <a:off x="384048" y="1901952"/>
            <a:ext cx="5943600" cy="0"/>
          </a:xfrm>
          <a:prstGeom prst="line">
            <a:avLst/>
          </a:prstGeom>
          <a:noFill/>
          <a:ln w="19050">
            <a:solidFill>
              <a:srgbClr val="6C63FF"/>
            </a:solidFill>
            <a:prstDash val="solid"/>
          </a:ln>
        </p:spPr>
        <p:txBody>
          <a:bodyPr/>
          <a:lstStyle/>
          <a:p>
            <a:endParaRPr lang="en-IN" dirty="0"/>
          </a:p>
        </p:txBody>
      </p:sp>
      <p:sp>
        <p:nvSpPr>
          <p:cNvPr id="11" name="Text 9"/>
          <p:cNvSpPr/>
          <p:nvPr/>
        </p:nvSpPr>
        <p:spPr>
          <a:xfrm>
            <a:off x="384048" y="2029968"/>
            <a:ext cx="4572000" cy="310896"/>
          </a:xfrm>
          <a:prstGeom prst="rect">
            <a:avLst/>
          </a:prstGeom>
          <a:noFill/>
          <a:ln/>
        </p:spPr>
        <p:txBody>
          <a:bodyPr wrap="square" rtlCol="0" anchor="ctr"/>
          <a:lstStyle/>
          <a:p>
            <a:pPr marL="0" indent="0">
              <a:buNone/>
            </a:pPr>
            <a:r>
              <a:rPr lang="en-US" sz="1400" b="1" dirty="0">
                <a:solidFill>
                  <a:srgbClr val="C8C8FF"/>
                </a:solidFill>
              </a:rPr>
              <a:t>Nassau Candy Distributor</a:t>
            </a:r>
            <a:endParaRPr lang="en-US" sz="1400" dirty="0"/>
          </a:p>
        </p:txBody>
      </p:sp>
      <p:sp>
        <p:nvSpPr>
          <p:cNvPr id="12" name="Text 10"/>
          <p:cNvSpPr/>
          <p:nvPr/>
        </p:nvSpPr>
        <p:spPr>
          <a:xfrm>
            <a:off x="384048" y="2359152"/>
            <a:ext cx="6400800" cy="274320"/>
          </a:xfrm>
          <a:prstGeom prst="rect">
            <a:avLst/>
          </a:prstGeom>
          <a:noFill/>
          <a:ln/>
        </p:spPr>
        <p:txBody>
          <a:bodyPr wrap="square" rtlCol="0" anchor="ctr"/>
          <a:lstStyle/>
          <a:p>
            <a:pPr marL="0" indent="0">
              <a:buNone/>
            </a:pPr>
            <a:r>
              <a:rPr lang="en-US" sz="1100" dirty="0">
                <a:solidFill>
                  <a:srgbClr val="8888BB"/>
                </a:solidFill>
              </a:rPr>
              <a:t>Analytical Report  ·  Data-Driven Portfolio Strategy  ·  2024–2025</a:t>
            </a:r>
            <a:endParaRPr lang="en-US" sz="1100" dirty="0"/>
          </a:p>
        </p:txBody>
      </p:sp>
      <p:sp>
        <p:nvSpPr>
          <p:cNvPr id="13" name="Shape 11"/>
          <p:cNvSpPr/>
          <p:nvPr/>
        </p:nvSpPr>
        <p:spPr>
          <a:xfrm>
            <a:off x="0" y="4773168"/>
            <a:ext cx="9144000" cy="370332"/>
          </a:xfrm>
          <a:prstGeom prst="rect">
            <a:avLst/>
          </a:prstGeom>
          <a:solidFill>
            <a:srgbClr val="12122A"/>
          </a:solidFill>
          <a:ln w="12700">
            <a:solidFill>
              <a:srgbClr val="12122A"/>
            </a:solidFill>
            <a:prstDash val="solid"/>
          </a:ln>
        </p:spPr>
        <p:txBody>
          <a:bodyPr/>
          <a:lstStyle/>
          <a:p>
            <a:endParaRPr lang="en-IN" dirty="0"/>
          </a:p>
        </p:txBody>
      </p:sp>
      <p:sp>
        <p:nvSpPr>
          <p:cNvPr id="14" name="Text 12"/>
          <p:cNvSpPr/>
          <p:nvPr/>
        </p:nvSpPr>
        <p:spPr>
          <a:xfrm>
            <a:off x="0" y="4773168"/>
            <a:ext cx="9144000" cy="370332"/>
          </a:xfrm>
          <a:prstGeom prst="rect">
            <a:avLst/>
          </a:prstGeom>
          <a:noFill/>
          <a:ln/>
        </p:spPr>
        <p:txBody>
          <a:bodyPr wrap="square" rtlCol="0" anchor="ctr"/>
          <a:lstStyle/>
          <a:p>
            <a:pPr marL="0" indent="0" algn="ctr">
              <a:buNone/>
            </a:pPr>
            <a:r>
              <a:rPr lang="en-US" sz="1000" dirty="0">
                <a:solidFill>
                  <a:srgbClr val="6666AA"/>
                </a:solidFill>
              </a:rPr>
              <a:t>Chocolate Division  ·  Sugar Division  ·  Other Division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4FB"/>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6C63FF"/>
          </a:solidFill>
          <a:ln w="12700">
            <a:solidFill>
              <a:srgbClr val="6C63FF"/>
            </a:solidFill>
            <a:prstDash val="solid"/>
          </a:ln>
        </p:spPr>
        <p:txBody>
          <a:bodyPr/>
          <a:lstStyle/>
          <a:p>
            <a:endParaRPr lang="en-IN" dirty="0"/>
          </a:p>
        </p:txBody>
      </p:sp>
      <p:sp>
        <p:nvSpPr>
          <p:cNvPr id="3" name="Text 1"/>
          <p:cNvSpPr/>
          <p:nvPr/>
        </p:nvSpPr>
        <p:spPr>
          <a:xfrm>
            <a:off x="365760" y="274320"/>
            <a:ext cx="8229600" cy="594360"/>
          </a:xfrm>
          <a:prstGeom prst="rect">
            <a:avLst/>
          </a:prstGeom>
          <a:noFill/>
          <a:ln/>
        </p:spPr>
        <p:txBody>
          <a:bodyPr wrap="square" rtlCol="0" anchor="ctr"/>
          <a:lstStyle/>
          <a:p>
            <a:pPr marL="0" indent="0">
              <a:buNone/>
            </a:pPr>
            <a:r>
              <a:rPr lang="en-US" sz="3400" b="1" dirty="0">
                <a:solidFill>
                  <a:srgbClr val="1A1A2E"/>
                </a:solidFill>
                <a:latin typeface="Georgia" pitchFamily="34" charset="0"/>
                <a:ea typeface="Georgia" pitchFamily="34" charset="-122"/>
                <a:cs typeface="Georgia" pitchFamily="34" charset="-120"/>
              </a:rPr>
              <a:t>Agenda</a:t>
            </a:r>
            <a:endParaRPr lang="en-US" sz="3400" dirty="0"/>
          </a:p>
        </p:txBody>
      </p:sp>
      <p:sp>
        <p:nvSpPr>
          <p:cNvPr id="4" name="Text 2"/>
          <p:cNvSpPr/>
          <p:nvPr/>
        </p:nvSpPr>
        <p:spPr>
          <a:xfrm>
            <a:off x="365760" y="841248"/>
            <a:ext cx="8229600" cy="274320"/>
          </a:xfrm>
          <a:prstGeom prst="rect">
            <a:avLst/>
          </a:prstGeom>
          <a:noFill/>
          <a:ln/>
        </p:spPr>
        <p:txBody>
          <a:bodyPr wrap="square" rtlCol="0" anchor="ctr"/>
          <a:lstStyle/>
          <a:p>
            <a:pPr marL="0" indent="0">
              <a:buNone/>
            </a:pPr>
            <a:r>
              <a:rPr lang="en-US" sz="1200" i="1" dirty="0">
                <a:solidFill>
                  <a:srgbClr val="666688"/>
                </a:solidFill>
              </a:rPr>
              <a:t>What this presentation covers</a:t>
            </a:r>
            <a:endParaRPr lang="en-US" sz="1200" dirty="0"/>
          </a:p>
        </p:txBody>
      </p:sp>
      <p:sp>
        <p:nvSpPr>
          <p:cNvPr id="5" name="Shape 3"/>
          <p:cNvSpPr/>
          <p:nvPr/>
        </p:nvSpPr>
        <p:spPr>
          <a:xfrm>
            <a:off x="365760" y="1261872"/>
            <a:ext cx="8412480" cy="640080"/>
          </a:xfrm>
          <a:prstGeom prst="rect">
            <a:avLst/>
          </a:prstGeom>
          <a:solidFill>
            <a:srgbClr val="FFFFFF"/>
          </a:solidFill>
          <a:ln w="12700">
            <a:solidFill>
              <a:srgbClr val="E0E0EE"/>
            </a:solidFill>
            <a:prstDash val="solid"/>
          </a:ln>
          <a:effectLst>
            <a:outerShdw blurRad="101600" dist="38100" dir="8100000" algn="bl" rotWithShape="0">
              <a:srgbClr val="000000">
                <a:alpha val="12000"/>
              </a:srgbClr>
            </a:outerShdw>
          </a:effectLst>
        </p:spPr>
        <p:txBody>
          <a:bodyPr/>
          <a:lstStyle/>
          <a:p>
            <a:endParaRPr lang="en-IN" dirty="0"/>
          </a:p>
        </p:txBody>
      </p:sp>
      <p:sp>
        <p:nvSpPr>
          <p:cNvPr id="6" name="Shape 4"/>
          <p:cNvSpPr/>
          <p:nvPr/>
        </p:nvSpPr>
        <p:spPr>
          <a:xfrm>
            <a:off x="365760" y="1261872"/>
            <a:ext cx="54864" cy="640080"/>
          </a:xfrm>
          <a:prstGeom prst="rect">
            <a:avLst/>
          </a:prstGeom>
          <a:solidFill>
            <a:srgbClr val="6C63FF"/>
          </a:solidFill>
          <a:ln w="12700">
            <a:solidFill>
              <a:srgbClr val="6C63FF"/>
            </a:solidFill>
            <a:prstDash val="solid"/>
          </a:ln>
        </p:spPr>
        <p:txBody>
          <a:bodyPr/>
          <a:lstStyle/>
          <a:p>
            <a:endParaRPr lang="en-IN" dirty="0"/>
          </a:p>
        </p:txBody>
      </p:sp>
      <p:sp>
        <p:nvSpPr>
          <p:cNvPr id="7" name="Text 5"/>
          <p:cNvSpPr/>
          <p:nvPr/>
        </p:nvSpPr>
        <p:spPr>
          <a:xfrm>
            <a:off x="502920" y="1426464"/>
            <a:ext cx="640080" cy="310896"/>
          </a:xfrm>
          <a:prstGeom prst="rect">
            <a:avLst/>
          </a:prstGeom>
          <a:noFill/>
          <a:ln/>
        </p:spPr>
        <p:txBody>
          <a:bodyPr wrap="square" rtlCol="0" anchor="ctr"/>
          <a:lstStyle/>
          <a:p>
            <a:pPr marL="0" indent="0">
              <a:buNone/>
            </a:pPr>
            <a:r>
              <a:rPr lang="en-US" sz="1600" b="1" dirty="0">
                <a:solidFill>
                  <a:srgbClr val="6C63FF"/>
                </a:solidFill>
                <a:latin typeface="Times New Roman" pitchFamily="34" charset="0"/>
                <a:ea typeface="Times New Roman" pitchFamily="34" charset="-122"/>
                <a:cs typeface="Times New Roman" pitchFamily="34" charset="-120"/>
              </a:rPr>
              <a:t>01</a:t>
            </a:r>
            <a:endParaRPr lang="en-US" sz="1600" dirty="0"/>
          </a:p>
        </p:txBody>
      </p:sp>
      <p:sp>
        <p:nvSpPr>
          <p:cNvPr id="8" name="Text 6"/>
          <p:cNvSpPr/>
          <p:nvPr/>
        </p:nvSpPr>
        <p:spPr>
          <a:xfrm>
            <a:off x="1115568" y="1316736"/>
            <a:ext cx="3657600" cy="292608"/>
          </a:xfrm>
          <a:prstGeom prst="rect">
            <a:avLst/>
          </a:prstGeom>
          <a:noFill/>
          <a:ln/>
        </p:spPr>
        <p:txBody>
          <a:bodyPr wrap="square" rtlCol="0" anchor="ctr"/>
          <a:lstStyle/>
          <a:p>
            <a:pPr marL="0" indent="0">
              <a:buNone/>
            </a:pPr>
            <a:r>
              <a:rPr lang="en-US" sz="1400" b="1" dirty="0">
                <a:solidFill>
                  <a:srgbClr val="12122A"/>
                </a:solidFill>
              </a:rPr>
              <a:t>Introduction</a:t>
            </a:r>
            <a:endParaRPr lang="en-US" sz="1400" dirty="0"/>
          </a:p>
        </p:txBody>
      </p:sp>
      <p:sp>
        <p:nvSpPr>
          <p:cNvPr id="9" name="Text 7"/>
          <p:cNvSpPr/>
          <p:nvPr/>
        </p:nvSpPr>
        <p:spPr>
          <a:xfrm>
            <a:off x="1115568" y="1591056"/>
            <a:ext cx="7132320" cy="256032"/>
          </a:xfrm>
          <a:prstGeom prst="rect">
            <a:avLst/>
          </a:prstGeom>
          <a:noFill/>
          <a:ln/>
        </p:spPr>
        <p:txBody>
          <a:bodyPr wrap="square" rtlCol="0" anchor="ctr"/>
          <a:lstStyle/>
          <a:p>
            <a:pPr marL="0" indent="0">
              <a:buNone/>
            </a:pPr>
            <a:r>
              <a:rPr lang="en-US" sz="1000" i="1" dirty="0">
                <a:solidFill>
                  <a:srgbClr val="666688"/>
                </a:solidFill>
              </a:rPr>
              <a:t>Project background, objectives &amp; dataset overview</a:t>
            </a:r>
            <a:endParaRPr lang="en-US" sz="1000" dirty="0"/>
          </a:p>
        </p:txBody>
      </p:sp>
      <p:sp>
        <p:nvSpPr>
          <p:cNvPr id="10" name="Shape 8"/>
          <p:cNvSpPr/>
          <p:nvPr/>
        </p:nvSpPr>
        <p:spPr>
          <a:xfrm>
            <a:off x="365760" y="2011680"/>
            <a:ext cx="8412480" cy="640080"/>
          </a:xfrm>
          <a:prstGeom prst="rect">
            <a:avLst/>
          </a:prstGeom>
          <a:solidFill>
            <a:srgbClr val="FFFFFF"/>
          </a:solidFill>
          <a:ln w="12700">
            <a:solidFill>
              <a:srgbClr val="E0E0EE"/>
            </a:solidFill>
            <a:prstDash val="solid"/>
          </a:ln>
          <a:effectLst>
            <a:outerShdw blurRad="101600" dist="38100" dir="8100000" algn="bl" rotWithShape="0">
              <a:srgbClr val="000000">
                <a:alpha val="12000"/>
              </a:srgbClr>
            </a:outerShdw>
          </a:effectLst>
        </p:spPr>
        <p:txBody>
          <a:bodyPr/>
          <a:lstStyle/>
          <a:p>
            <a:endParaRPr lang="en-IN" dirty="0"/>
          </a:p>
        </p:txBody>
      </p:sp>
      <p:sp>
        <p:nvSpPr>
          <p:cNvPr id="11" name="Shape 9"/>
          <p:cNvSpPr/>
          <p:nvPr/>
        </p:nvSpPr>
        <p:spPr>
          <a:xfrm>
            <a:off x="365760" y="2011680"/>
            <a:ext cx="54864" cy="640080"/>
          </a:xfrm>
          <a:prstGeom prst="rect">
            <a:avLst/>
          </a:prstGeom>
          <a:solidFill>
            <a:srgbClr val="7B4F2E"/>
          </a:solidFill>
          <a:ln w="12700">
            <a:solidFill>
              <a:srgbClr val="7B4F2E"/>
            </a:solidFill>
            <a:prstDash val="solid"/>
          </a:ln>
        </p:spPr>
        <p:txBody>
          <a:bodyPr/>
          <a:lstStyle/>
          <a:p>
            <a:endParaRPr lang="en-IN" dirty="0"/>
          </a:p>
        </p:txBody>
      </p:sp>
      <p:sp>
        <p:nvSpPr>
          <p:cNvPr id="12" name="Text 10"/>
          <p:cNvSpPr/>
          <p:nvPr/>
        </p:nvSpPr>
        <p:spPr>
          <a:xfrm>
            <a:off x="502920" y="2176272"/>
            <a:ext cx="640080" cy="310896"/>
          </a:xfrm>
          <a:prstGeom prst="rect">
            <a:avLst/>
          </a:prstGeom>
          <a:noFill/>
          <a:ln/>
        </p:spPr>
        <p:txBody>
          <a:bodyPr wrap="square" rtlCol="0" anchor="ctr"/>
          <a:lstStyle/>
          <a:p>
            <a:pPr marL="0" indent="0">
              <a:buNone/>
            </a:pPr>
            <a:r>
              <a:rPr lang="en-US" sz="1600" b="1" dirty="0">
                <a:solidFill>
                  <a:srgbClr val="7B4F2E"/>
                </a:solidFill>
                <a:latin typeface="Times New Roman" pitchFamily="34" charset="0"/>
                <a:ea typeface="Times New Roman" pitchFamily="34" charset="-122"/>
                <a:cs typeface="Times New Roman" pitchFamily="34" charset="-120"/>
              </a:rPr>
              <a:t>02</a:t>
            </a:r>
            <a:endParaRPr lang="en-US" sz="1600" dirty="0"/>
          </a:p>
        </p:txBody>
      </p:sp>
      <p:sp>
        <p:nvSpPr>
          <p:cNvPr id="13" name="Text 11"/>
          <p:cNvSpPr/>
          <p:nvPr/>
        </p:nvSpPr>
        <p:spPr>
          <a:xfrm>
            <a:off x="1115568" y="2066544"/>
            <a:ext cx="3657600" cy="292608"/>
          </a:xfrm>
          <a:prstGeom prst="rect">
            <a:avLst/>
          </a:prstGeom>
          <a:noFill/>
          <a:ln/>
        </p:spPr>
        <p:txBody>
          <a:bodyPr wrap="square" rtlCol="0" anchor="ctr"/>
          <a:lstStyle/>
          <a:p>
            <a:pPr marL="0" indent="0">
              <a:buNone/>
            </a:pPr>
            <a:r>
              <a:rPr lang="en-US" sz="1400" b="1" dirty="0">
                <a:solidFill>
                  <a:srgbClr val="12122A"/>
                </a:solidFill>
              </a:rPr>
              <a:t>Problem Statement</a:t>
            </a:r>
            <a:endParaRPr lang="en-US" sz="1400" dirty="0"/>
          </a:p>
        </p:txBody>
      </p:sp>
      <p:sp>
        <p:nvSpPr>
          <p:cNvPr id="14" name="Text 12"/>
          <p:cNvSpPr/>
          <p:nvPr/>
        </p:nvSpPr>
        <p:spPr>
          <a:xfrm>
            <a:off x="1115568" y="2340864"/>
            <a:ext cx="7132320" cy="256032"/>
          </a:xfrm>
          <a:prstGeom prst="rect">
            <a:avLst/>
          </a:prstGeom>
          <a:noFill/>
          <a:ln/>
        </p:spPr>
        <p:txBody>
          <a:bodyPr wrap="square" rtlCol="0" anchor="ctr"/>
          <a:lstStyle/>
          <a:p>
            <a:pPr marL="0" indent="0">
              <a:buNone/>
            </a:pPr>
            <a:r>
              <a:rPr lang="en-US" sz="1000" i="1" dirty="0">
                <a:solidFill>
                  <a:srgbClr val="666688"/>
                </a:solidFill>
              </a:rPr>
              <a:t>Business challenges &amp; the need for data-driven insight</a:t>
            </a:r>
            <a:endParaRPr lang="en-US" sz="1000" dirty="0"/>
          </a:p>
        </p:txBody>
      </p:sp>
      <p:sp>
        <p:nvSpPr>
          <p:cNvPr id="15" name="Shape 13"/>
          <p:cNvSpPr/>
          <p:nvPr/>
        </p:nvSpPr>
        <p:spPr>
          <a:xfrm>
            <a:off x="365760" y="2761488"/>
            <a:ext cx="8412480" cy="640080"/>
          </a:xfrm>
          <a:prstGeom prst="rect">
            <a:avLst/>
          </a:prstGeom>
          <a:solidFill>
            <a:srgbClr val="FFFFFF"/>
          </a:solidFill>
          <a:ln w="12700">
            <a:solidFill>
              <a:srgbClr val="E0E0EE"/>
            </a:solidFill>
            <a:prstDash val="solid"/>
          </a:ln>
          <a:effectLst>
            <a:outerShdw blurRad="101600" dist="38100" dir="8100000" algn="bl" rotWithShape="0">
              <a:srgbClr val="000000">
                <a:alpha val="12000"/>
              </a:srgbClr>
            </a:outerShdw>
          </a:effectLst>
        </p:spPr>
        <p:txBody>
          <a:bodyPr/>
          <a:lstStyle/>
          <a:p>
            <a:endParaRPr lang="en-IN" dirty="0"/>
          </a:p>
        </p:txBody>
      </p:sp>
      <p:sp>
        <p:nvSpPr>
          <p:cNvPr id="16" name="Shape 14"/>
          <p:cNvSpPr/>
          <p:nvPr/>
        </p:nvSpPr>
        <p:spPr>
          <a:xfrm>
            <a:off x="365760" y="2761488"/>
            <a:ext cx="54864" cy="640080"/>
          </a:xfrm>
          <a:prstGeom prst="rect">
            <a:avLst/>
          </a:prstGeom>
          <a:solidFill>
            <a:srgbClr val="028090"/>
          </a:solidFill>
          <a:ln w="12700">
            <a:solidFill>
              <a:srgbClr val="028090"/>
            </a:solidFill>
            <a:prstDash val="solid"/>
          </a:ln>
        </p:spPr>
        <p:txBody>
          <a:bodyPr/>
          <a:lstStyle/>
          <a:p>
            <a:endParaRPr lang="en-IN" dirty="0"/>
          </a:p>
        </p:txBody>
      </p:sp>
      <p:sp>
        <p:nvSpPr>
          <p:cNvPr id="17" name="Text 15"/>
          <p:cNvSpPr/>
          <p:nvPr/>
        </p:nvSpPr>
        <p:spPr>
          <a:xfrm>
            <a:off x="502920" y="2926080"/>
            <a:ext cx="640080" cy="310896"/>
          </a:xfrm>
          <a:prstGeom prst="rect">
            <a:avLst/>
          </a:prstGeom>
          <a:noFill/>
          <a:ln/>
        </p:spPr>
        <p:txBody>
          <a:bodyPr wrap="square" rtlCol="0" anchor="ctr"/>
          <a:lstStyle/>
          <a:p>
            <a:pPr marL="0" indent="0">
              <a:buNone/>
            </a:pPr>
            <a:r>
              <a:rPr lang="en-US" sz="1600" b="1" dirty="0">
                <a:solidFill>
                  <a:srgbClr val="028090"/>
                </a:solidFill>
                <a:latin typeface="Times New Roman" pitchFamily="34" charset="0"/>
                <a:ea typeface="Times New Roman" pitchFamily="34" charset="-122"/>
                <a:cs typeface="Times New Roman" pitchFamily="34" charset="-120"/>
              </a:rPr>
              <a:t>03</a:t>
            </a:r>
            <a:endParaRPr lang="en-US" sz="1600" dirty="0"/>
          </a:p>
        </p:txBody>
      </p:sp>
      <p:sp>
        <p:nvSpPr>
          <p:cNvPr id="18" name="Text 16"/>
          <p:cNvSpPr/>
          <p:nvPr/>
        </p:nvSpPr>
        <p:spPr>
          <a:xfrm>
            <a:off x="1115568" y="2816352"/>
            <a:ext cx="3657600" cy="292608"/>
          </a:xfrm>
          <a:prstGeom prst="rect">
            <a:avLst/>
          </a:prstGeom>
          <a:noFill/>
          <a:ln/>
        </p:spPr>
        <p:txBody>
          <a:bodyPr wrap="square" rtlCol="0" anchor="ctr"/>
          <a:lstStyle/>
          <a:p>
            <a:pPr marL="0" indent="0">
              <a:buNone/>
            </a:pPr>
            <a:r>
              <a:rPr lang="en-US" sz="1400" b="1" dirty="0">
                <a:solidFill>
                  <a:srgbClr val="12122A"/>
                </a:solidFill>
              </a:rPr>
              <a:t>Tools &amp; Technology</a:t>
            </a:r>
            <a:endParaRPr lang="en-US" sz="1400" dirty="0"/>
          </a:p>
        </p:txBody>
      </p:sp>
      <p:sp>
        <p:nvSpPr>
          <p:cNvPr id="19" name="Text 17"/>
          <p:cNvSpPr/>
          <p:nvPr/>
        </p:nvSpPr>
        <p:spPr>
          <a:xfrm>
            <a:off x="1115568" y="3090672"/>
            <a:ext cx="7132320" cy="256032"/>
          </a:xfrm>
          <a:prstGeom prst="rect">
            <a:avLst/>
          </a:prstGeom>
          <a:noFill/>
          <a:ln/>
        </p:spPr>
        <p:txBody>
          <a:bodyPr wrap="square" rtlCol="0" anchor="ctr"/>
          <a:lstStyle/>
          <a:p>
            <a:pPr marL="0" indent="0">
              <a:buNone/>
            </a:pPr>
            <a:r>
              <a:rPr lang="en-US" sz="1000" i="1" dirty="0">
                <a:solidFill>
                  <a:srgbClr val="666688"/>
                </a:solidFill>
              </a:rPr>
              <a:t>Python, Pandas, Plotly, Streamlit &amp; EDA approach</a:t>
            </a:r>
            <a:endParaRPr lang="en-US" sz="1000" dirty="0"/>
          </a:p>
        </p:txBody>
      </p:sp>
      <p:sp>
        <p:nvSpPr>
          <p:cNvPr id="20" name="Shape 18"/>
          <p:cNvSpPr/>
          <p:nvPr/>
        </p:nvSpPr>
        <p:spPr>
          <a:xfrm>
            <a:off x="365760" y="3511296"/>
            <a:ext cx="8412480" cy="640080"/>
          </a:xfrm>
          <a:prstGeom prst="rect">
            <a:avLst/>
          </a:prstGeom>
          <a:solidFill>
            <a:srgbClr val="FFFFFF"/>
          </a:solidFill>
          <a:ln w="12700">
            <a:solidFill>
              <a:srgbClr val="E0E0EE"/>
            </a:solidFill>
            <a:prstDash val="solid"/>
          </a:ln>
          <a:effectLst>
            <a:outerShdw blurRad="101600" dist="38100" dir="8100000" algn="bl" rotWithShape="0">
              <a:srgbClr val="000000">
                <a:alpha val="12000"/>
              </a:srgbClr>
            </a:outerShdw>
          </a:effectLst>
        </p:spPr>
        <p:txBody>
          <a:bodyPr/>
          <a:lstStyle/>
          <a:p>
            <a:endParaRPr lang="en-IN" dirty="0"/>
          </a:p>
        </p:txBody>
      </p:sp>
      <p:sp>
        <p:nvSpPr>
          <p:cNvPr id="21" name="Shape 19"/>
          <p:cNvSpPr/>
          <p:nvPr/>
        </p:nvSpPr>
        <p:spPr>
          <a:xfrm>
            <a:off x="365760" y="3511296"/>
            <a:ext cx="54864" cy="640080"/>
          </a:xfrm>
          <a:prstGeom prst="rect">
            <a:avLst/>
          </a:prstGeom>
          <a:solidFill>
            <a:srgbClr val="E8963A"/>
          </a:solidFill>
          <a:ln w="12700">
            <a:solidFill>
              <a:srgbClr val="E8963A"/>
            </a:solidFill>
            <a:prstDash val="solid"/>
          </a:ln>
        </p:spPr>
        <p:txBody>
          <a:bodyPr/>
          <a:lstStyle/>
          <a:p>
            <a:endParaRPr lang="en-IN" dirty="0"/>
          </a:p>
        </p:txBody>
      </p:sp>
      <p:sp>
        <p:nvSpPr>
          <p:cNvPr id="22" name="Text 20"/>
          <p:cNvSpPr/>
          <p:nvPr/>
        </p:nvSpPr>
        <p:spPr>
          <a:xfrm>
            <a:off x="502920" y="3675888"/>
            <a:ext cx="640080" cy="310896"/>
          </a:xfrm>
          <a:prstGeom prst="rect">
            <a:avLst/>
          </a:prstGeom>
          <a:noFill/>
          <a:ln/>
        </p:spPr>
        <p:txBody>
          <a:bodyPr wrap="square" rtlCol="0" anchor="ctr"/>
          <a:lstStyle/>
          <a:p>
            <a:pPr marL="0" indent="0">
              <a:buNone/>
            </a:pPr>
            <a:r>
              <a:rPr lang="en-US" sz="1600" b="1" dirty="0">
                <a:solidFill>
                  <a:srgbClr val="E8963A"/>
                </a:solidFill>
                <a:latin typeface="Times New Roman" pitchFamily="34" charset="0"/>
                <a:ea typeface="Times New Roman" pitchFamily="34" charset="-122"/>
                <a:cs typeface="Times New Roman" pitchFamily="34" charset="-120"/>
              </a:rPr>
              <a:t>04</a:t>
            </a:r>
            <a:endParaRPr lang="en-US" sz="1600" dirty="0"/>
          </a:p>
        </p:txBody>
      </p:sp>
      <p:sp>
        <p:nvSpPr>
          <p:cNvPr id="23" name="Text 21"/>
          <p:cNvSpPr/>
          <p:nvPr/>
        </p:nvSpPr>
        <p:spPr>
          <a:xfrm>
            <a:off x="1115568" y="3566160"/>
            <a:ext cx="3657600" cy="292608"/>
          </a:xfrm>
          <a:prstGeom prst="rect">
            <a:avLst/>
          </a:prstGeom>
          <a:noFill/>
          <a:ln/>
        </p:spPr>
        <p:txBody>
          <a:bodyPr wrap="square" rtlCol="0" anchor="ctr"/>
          <a:lstStyle/>
          <a:p>
            <a:pPr marL="0" indent="0">
              <a:buNone/>
            </a:pPr>
            <a:r>
              <a:rPr lang="en-US" sz="1400" b="1" dirty="0">
                <a:solidFill>
                  <a:srgbClr val="12122A"/>
                </a:solidFill>
              </a:rPr>
              <a:t>Methodology</a:t>
            </a:r>
            <a:endParaRPr lang="en-US" sz="1400" dirty="0"/>
          </a:p>
        </p:txBody>
      </p:sp>
      <p:sp>
        <p:nvSpPr>
          <p:cNvPr id="24" name="Text 22"/>
          <p:cNvSpPr/>
          <p:nvPr/>
        </p:nvSpPr>
        <p:spPr>
          <a:xfrm>
            <a:off x="1115568" y="3840480"/>
            <a:ext cx="7132320" cy="256032"/>
          </a:xfrm>
          <a:prstGeom prst="rect">
            <a:avLst/>
          </a:prstGeom>
          <a:noFill/>
          <a:ln/>
        </p:spPr>
        <p:txBody>
          <a:bodyPr wrap="square" rtlCol="0" anchor="ctr"/>
          <a:lstStyle/>
          <a:p>
            <a:pPr marL="0" indent="0">
              <a:buNone/>
            </a:pPr>
            <a:r>
              <a:rPr lang="en-US" sz="1000" i="1" dirty="0">
                <a:solidFill>
                  <a:srgbClr val="666688"/>
                </a:solidFill>
              </a:rPr>
              <a:t>Data cleaning, KPI design, analytical pipeline &amp; dashboard</a:t>
            </a:r>
            <a:endParaRPr lang="en-US" sz="1000" dirty="0"/>
          </a:p>
        </p:txBody>
      </p:sp>
      <p:sp>
        <p:nvSpPr>
          <p:cNvPr id="25" name="Shape 23"/>
          <p:cNvSpPr/>
          <p:nvPr/>
        </p:nvSpPr>
        <p:spPr>
          <a:xfrm>
            <a:off x="365760" y="4261104"/>
            <a:ext cx="8412480" cy="640080"/>
          </a:xfrm>
          <a:prstGeom prst="rect">
            <a:avLst/>
          </a:prstGeom>
          <a:solidFill>
            <a:srgbClr val="FFFFFF"/>
          </a:solidFill>
          <a:ln w="12700">
            <a:solidFill>
              <a:srgbClr val="E0E0EE"/>
            </a:solidFill>
            <a:prstDash val="solid"/>
          </a:ln>
          <a:effectLst>
            <a:outerShdw blurRad="101600" dist="38100" dir="8100000" algn="bl" rotWithShape="0">
              <a:srgbClr val="000000">
                <a:alpha val="12000"/>
              </a:srgbClr>
            </a:outerShdw>
          </a:effectLst>
        </p:spPr>
        <p:txBody>
          <a:bodyPr/>
          <a:lstStyle/>
          <a:p>
            <a:endParaRPr lang="en-IN" dirty="0"/>
          </a:p>
        </p:txBody>
      </p:sp>
      <p:sp>
        <p:nvSpPr>
          <p:cNvPr id="26" name="Shape 24"/>
          <p:cNvSpPr/>
          <p:nvPr/>
        </p:nvSpPr>
        <p:spPr>
          <a:xfrm>
            <a:off x="365760" y="4261104"/>
            <a:ext cx="54864" cy="640080"/>
          </a:xfrm>
          <a:prstGeom prst="rect">
            <a:avLst/>
          </a:prstGeom>
          <a:solidFill>
            <a:srgbClr val="1FA66A"/>
          </a:solidFill>
          <a:ln w="12700">
            <a:solidFill>
              <a:srgbClr val="1FA66A"/>
            </a:solidFill>
            <a:prstDash val="solid"/>
          </a:ln>
        </p:spPr>
        <p:txBody>
          <a:bodyPr/>
          <a:lstStyle/>
          <a:p>
            <a:endParaRPr lang="en-IN" dirty="0"/>
          </a:p>
        </p:txBody>
      </p:sp>
      <p:sp>
        <p:nvSpPr>
          <p:cNvPr id="27" name="Text 25"/>
          <p:cNvSpPr/>
          <p:nvPr/>
        </p:nvSpPr>
        <p:spPr>
          <a:xfrm>
            <a:off x="502920" y="4425696"/>
            <a:ext cx="640080" cy="310896"/>
          </a:xfrm>
          <a:prstGeom prst="rect">
            <a:avLst/>
          </a:prstGeom>
          <a:noFill/>
          <a:ln/>
        </p:spPr>
        <p:txBody>
          <a:bodyPr wrap="square" rtlCol="0" anchor="ctr"/>
          <a:lstStyle/>
          <a:p>
            <a:pPr marL="0" indent="0">
              <a:buNone/>
            </a:pPr>
            <a:r>
              <a:rPr lang="en-US" sz="1600" b="1" dirty="0">
                <a:solidFill>
                  <a:srgbClr val="1FA66A"/>
                </a:solidFill>
                <a:latin typeface="Times New Roman" pitchFamily="34" charset="0"/>
                <a:ea typeface="Times New Roman" pitchFamily="34" charset="-122"/>
                <a:cs typeface="Times New Roman" pitchFamily="34" charset="-120"/>
              </a:rPr>
              <a:t>05</a:t>
            </a:r>
            <a:endParaRPr lang="en-US" sz="1600" dirty="0"/>
          </a:p>
        </p:txBody>
      </p:sp>
      <p:sp>
        <p:nvSpPr>
          <p:cNvPr id="28" name="Text 26"/>
          <p:cNvSpPr/>
          <p:nvPr/>
        </p:nvSpPr>
        <p:spPr>
          <a:xfrm>
            <a:off x="1115568" y="4315968"/>
            <a:ext cx="3657600" cy="292608"/>
          </a:xfrm>
          <a:prstGeom prst="rect">
            <a:avLst/>
          </a:prstGeom>
          <a:noFill/>
          <a:ln/>
        </p:spPr>
        <p:txBody>
          <a:bodyPr wrap="square" rtlCol="0" anchor="ctr"/>
          <a:lstStyle/>
          <a:p>
            <a:pPr marL="0" indent="0">
              <a:buNone/>
            </a:pPr>
            <a:r>
              <a:rPr lang="en-US" sz="1400" b="1" dirty="0">
                <a:solidFill>
                  <a:srgbClr val="12122A"/>
                </a:solidFill>
              </a:rPr>
              <a:t>Results &amp; Conclusion</a:t>
            </a:r>
            <a:endParaRPr lang="en-US" sz="1400" dirty="0"/>
          </a:p>
        </p:txBody>
      </p:sp>
      <p:sp>
        <p:nvSpPr>
          <p:cNvPr id="29" name="Text 27"/>
          <p:cNvSpPr/>
          <p:nvPr/>
        </p:nvSpPr>
        <p:spPr>
          <a:xfrm>
            <a:off x="1115568" y="4590288"/>
            <a:ext cx="7132320" cy="256032"/>
          </a:xfrm>
          <a:prstGeom prst="rect">
            <a:avLst/>
          </a:prstGeom>
          <a:noFill/>
          <a:ln/>
        </p:spPr>
        <p:txBody>
          <a:bodyPr wrap="square" rtlCol="0" anchor="ctr"/>
          <a:lstStyle/>
          <a:p>
            <a:pPr marL="0" indent="0">
              <a:buNone/>
            </a:pPr>
            <a:r>
              <a:rPr lang="en-US" sz="1000" i="1" dirty="0">
                <a:solidFill>
                  <a:srgbClr val="666688"/>
                </a:solidFill>
              </a:rPr>
              <a:t>Key findings, product actions &amp; strategic recommendations</a:t>
            </a:r>
            <a:endParaRPr lang="en-US" sz="1000" dirty="0"/>
          </a:p>
        </p:txBody>
      </p:sp>
      <p:sp>
        <p:nvSpPr>
          <p:cNvPr id="30" name="Text 28"/>
          <p:cNvSpPr/>
          <p:nvPr/>
        </p:nvSpPr>
        <p:spPr>
          <a:xfrm>
            <a:off x="8046720" y="4800600"/>
            <a:ext cx="914400" cy="228600"/>
          </a:xfrm>
          <a:prstGeom prst="rect">
            <a:avLst/>
          </a:prstGeom>
          <a:noFill/>
          <a:ln/>
        </p:spPr>
        <p:txBody>
          <a:bodyPr wrap="square" rtlCol="0" anchor="ctr"/>
          <a:lstStyle/>
          <a:p>
            <a:pPr marL="0" indent="0" algn="r">
              <a:buNone/>
            </a:pPr>
            <a:r>
              <a:rPr lang="en-US" sz="800" dirty="0">
                <a:solidFill>
                  <a:srgbClr val="999999"/>
                </a:solidFill>
              </a:rPr>
              <a:t>2 / 12</a:t>
            </a:r>
            <a:endParaRPr lang="en-US" sz="800" dirty="0"/>
          </a:p>
        </p:txBody>
      </p:sp>
      <p:sp>
        <p:nvSpPr>
          <p:cNvPr id="31" name="Text 29"/>
          <p:cNvSpPr/>
          <p:nvPr/>
        </p:nvSpPr>
        <p:spPr>
          <a:xfrm>
            <a:off x="457200" y="4800600"/>
            <a:ext cx="5486400" cy="228600"/>
          </a:xfrm>
          <a:prstGeom prst="rect">
            <a:avLst/>
          </a:prstGeom>
          <a:noFill/>
          <a:ln/>
        </p:spPr>
        <p:txBody>
          <a:bodyPr wrap="square" rtlCol="0" anchor="ctr"/>
          <a:lstStyle/>
          <a:p>
            <a:pPr marL="0" indent="0" algn="l">
              <a:buNone/>
            </a:pPr>
            <a:r>
              <a:rPr lang="en-US" sz="800" dirty="0">
                <a:solidFill>
                  <a:srgbClr val="999999"/>
                </a:solidFill>
              </a:rPr>
              <a:t>Nassau Candy Distributor · Profitability Analysis</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6C63FF"/>
          </a:solidFill>
          <a:ln w="12700">
            <a:solidFill>
              <a:srgbClr val="6C63FF"/>
            </a:solidFill>
            <a:prstDash val="solid"/>
          </a:ln>
        </p:spPr>
        <p:txBody>
          <a:bodyPr/>
          <a:lstStyle/>
          <a:p>
            <a:endParaRPr lang="en-IN" dirty="0"/>
          </a:p>
        </p:txBody>
      </p:sp>
      <p:sp>
        <p:nvSpPr>
          <p:cNvPr id="3" name="Text 1"/>
          <p:cNvSpPr/>
          <p:nvPr/>
        </p:nvSpPr>
        <p:spPr>
          <a:xfrm>
            <a:off x="274320" y="182880"/>
            <a:ext cx="1371600" cy="822960"/>
          </a:xfrm>
          <a:prstGeom prst="rect">
            <a:avLst/>
          </a:prstGeom>
          <a:noFill/>
          <a:ln/>
        </p:spPr>
        <p:txBody>
          <a:bodyPr wrap="square" rtlCol="0" anchor="ctr"/>
          <a:lstStyle/>
          <a:p>
            <a:pPr marL="0" indent="0">
              <a:buNone/>
            </a:pPr>
            <a:r>
              <a:rPr lang="en-US" sz="5200" b="1" dirty="0">
                <a:solidFill>
                  <a:srgbClr val="2A2A5E"/>
                </a:solidFill>
                <a:latin typeface="Times New Roman" pitchFamily="34" charset="0"/>
                <a:ea typeface="Times New Roman" pitchFamily="34" charset="-122"/>
                <a:cs typeface="Times New Roman" pitchFamily="34" charset="-120"/>
              </a:rPr>
              <a:t>01</a:t>
            </a:r>
            <a:endParaRPr lang="en-US" sz="5200" dirty="0"/>
          </a:p>
        </p:txBody>
      </p:sp>
      <p:sp>
        <p:nvSpPr>
          <p:cNvPr id="4" name="Text 2"/>
          <p:cNvSpPr/>
          <p:nvPr/>
        </p:nvSpPr>
        <p:spPr>
          <a:xfrm>
            <a:off x="274320" y="822960"/>
            <a:ext cx="6400800" cy="594360"/>
          </a:xfrm>
          <a:prstGeom prst="rect">
            <a:avLst/>
          </a:prstGeom>
          <a:noFill/>
          <a:ln/>
        </p:spPr>
        <p:txBody>
          <a:bodyPr wrap="square" rtlCol="0" anchor="ctr"/>
          <a:lstStyle/>
          <a:p>
            <a:pPr marL="0" indent="0">
              <a:buNone/>
            </a:pPr>
            <a:r>
              <a:rPr lang="en-US" sz="3400" b="1" dirty="0">
                <a:solidFill>
                  <a:srgbClr val="FFFFFF"/>
                </a:solidFill>
                <a:latin typeface="Georgia" pitchFamily="34" charset="0"/>
                <a:ea typeface="Georgia" pitchFamily="34" charset="-122"/>
                <a:cs typeface="Georgia" pitchFamily="34" charset="-120"/>
              </a:rPr>
              <a:t>Introduction</a:t>
            </a:r>
            <a:endParaRPr lang="en-US" sz="3400" dirty="0"/>
          </a:p>
        </p:txBody>
      </p:sp>
      <p:sp>
        <p:nvSpPr>
          <p:cNvPr id="5" name="Text 3"/>
          <p:cNvSpPr/>
          <p:nvPr/>
        </p:nvSpPr>
        <p:spPr>
          <a:xfrm>
            <a:off x="274320" y="1371600"/>
            <a:ext cx="6400800" cy="292608"/>
          </a:xfrm>
          <a:prstGeom prst="rect">
            <a:avLst/>
          </a:prstGeom>
          <a:noFill/>
          <a:ln/>
        </p:spPr>
        <p:txBody>
          <a:bodyPr wrap="square" rtlCol="0" anchor="ctr"/>
          <a:lstStyle/>
          <a:p>
            <a:pPr marL="0" indent="0">
              <a:buNone/>
            </a:pPr>
            <a:r>
              <a:rPr lang="en-US" sz="1300" i="1" dirty="0">
                <a:solidFill>
                  <a:srgbClr val="8888BB"/>
                </a:solidFill>
              </a:rPr>
              <a:t>Project background &amp; dataset overview</a:t>
            </a:r>
            <a:endParaRPr lang="en-US" sz="1300" dirty="0"/>
          </a:p>
        </p:txBody>
      </p:sp>
      <p:sp>
        <p:nvSpPr>
          <p:cNvPr id="6" name="Shape 4"/>
          <p:cNvSpPr/>
          <p:nvPr/>
        </p:nvSpPr>
        <p:spPr>
          <a:xfrm>
            <a:off x="6217920" y="228600"/>
            <a:ext cx="2651760" cy="4663440"/>
          </a:xfrm>
          <a:prstGeom prst="rect">
            <a:avLst/>
          </a:prstGeom>
          <a:solidFill>
            <a:srgbClr val="12122A"/>
          </a:solidFill>
          <a:ln w="12700">
            <a:solidFill>
              <a:srgbClr val="2D2D60"/>
            </a:solidFill>
            <a:prstDash val="solid"/>
          </a:ln>
        </p:spPr>
        <p:txBody>
          <a:bodyPr/>
          <a:lstStyle/>
          <a:p>
            <a:endParaRPr lang="en-IN" dirty="0"/>
          </a:p>
        </p:txBody>
      </p:sp>
      <p:sp>
        <p:nvSpPr>
          <p:cNvPr id="7" name="Text 5"/>
          <p:cNvSpPr/>
          <p:nvPr/>
        </p:nvSpPr>
        <p:spPr>
          <a:xfrm>
            <a:off x="6309360" y="411480"/>
            <a:ext cx="2468880" cy="548640"/>
          </a:xfrm>
          <a:prstGeom prst="rect">
            <a:avLst/>
          </a:prstGeom>
          <a:noFill/>
          <a:ln/>
        </p:spPr>
        <p:txBody>
          <a:bodyPr wrap="square" rtlCol="0" anchor="ctr"/>
          <a:lstStyle/>
          <a:p>
            <a:pPr marL="0" indent="0" algn="ctr">
              <a:buNone/>
            </a:pPr>
            <a:r>
              <a:rPr lang="en-US" sz="1100" b="1" kern="0" spc="100" dirty="0">
                <a:solidFill>
                  <a:srgbClr val="8888BB"/>
                </a:solidFill>
              </a:rPr>
              <a:t>Dataset</a:t>
            </a:r>
            <a:endParaRPr lang="en-US" sz="1100" dirty="0"/>
          </a:p>
          <a:p>
            <a:pPr marL="0" indent="0" algn="ctr">
              <a:buNone/>
            </a:pPr>
            <a:r>
              <a:rPr lang="en-US" sz="1100" b="1" kern="0" spc="100" dirty="0">
                <a:solidFill>
                  <a:srgbClr val="8888BB"/>
                </a:solidFill>
              </a:rPr>
              <a:t>Snapshot</a:t>
            </a:r>
            <a:endParaRPr lang="en-US" sz="1100" dirty="0"/>
          </a:p>
        </p:txBody>
      </p:sp>
      <p:sp>
        <p:nvSpPr>
          <p:cNvPr id="8" name="Text 6"/>
          <p:cNvSpPr/>
          <p:nvPr/>
        </p:nvSpPr>
        <p:spPr>
          <a:xfrm>
            <a:off x="6309360" y="1097280"/>
            <a:ext cx="2468880" cy="347472"/>
          </a:xfrm>
          <a:prstGeom prst="rect">
            <a:avLst/>
          </a:prstGeom>
          <a:noFill/>
          <a:ln/>
        </p:spPr>
        <p:txBody>
          <a:bodyPr wrap="square" rtlCol="0" anchor="ctr"/>
          <a:lstStyle/>
          <a:p>
            <a:pPr marL="0" indent="0" algn="ctr">
              <a:buNone/>
            </a:pPr>
            <a:r>
              <a:rPr lang="en-US" sz="2200" b="1" dirty="0">
                <a:solidFill>
                  <a:srgbClr val="6C63FF"/>
                </a:solidFill>
                <a:latin typeface="Times New Roman" pitchFamily="34" charset="0"/>
                <a:ea typeface="Times New Roman" pitchFamily="34" charset="-122"/>
                <a:cs typeface="Times New Roman" pitchFamily="34" charset="-120"/>
              </a:rPr>
              <a:t>15</a:t>
            </a:r>
            <a:endParaRPr lang="en-US" sz="2200" dirty="0"/>
          </a:p>
        </p:txBody>
      </p:sp>
      <p:sp>
        <p:nvSpPr>
          <p:cNvPr id="9" name="Text 7"/>
          <p:cNvSpPr/>
          <p:nvPr/>
        </p:nvSpPr>
        <p:spPr>
          <a:xfrm>
            <a:off x="6309360" y="1417320"/>
            <a:ext cx="2468880" cy="201168"/>
          </a:xfrm>
          <a:prstGeom prst="rect">
            <a:avLst/>
          </a:prstGeom>
          <a:noFill/>
          <a:ln/>
        </p:spPr>
        <p:txBody>
          <a:bodyPr wrap="square" rtlCol="0" anchor="ctr"/>
          <a:lstStyle/>
          <a:p>
            <a:pPr marL="0" indent="0" algn="ctr">
              <a:buNone/>
            </a:pPr>
            <a:r>
              <a:rPr lang="en-US" sz="950" dirty="0">
                <a:solidFill>
                  <a:srgbClr val="9999CC"/>
                </a:solidFill>
              </a:rPr>
              <a:t>Unique Products</a:t>
            </a:r>
            <a:endParaRPr lang="en-US" sz="950" dirty="0"/>
          </a:p>
        </p:txBody>
      </p:sp>
      <p:sp>
        <p:nvSpPr>
          <p:cNvPr id="10" name="Text 8"/>
          <p:cNvSpPr/>
          <p:nvPr/>
        </p:nvSpPr>
        <p:spPr>
          <a:xfrm>
            <a:off x="6309360" y="1719072"/>
            <a:ext cx="2468880" cy="347472"/>
          </a:xfrm>
          <a:prstGeom prst="rect">
            <a:avLst/>
          </a:prstGeom>
          <a:noFill/>
          <a:ln/>
        </p:spPr>
        <p:txBody>
          <a:bodyPr wrap="square" rtlCol="0" anchor="ctr"/>
          <a:lstStyle/>
          <a:p>
            <a:pPr marL="0" indent="0" algn="ctr">
              <a:buNone/>
            </a:pPr>
            <a:r>
              <a:rPr lang="en-US" sz="2200" b="1" dirty="0">
                <a:solidFill>
                  <a:srgbClr val="6C63FF"/>
                </a:solidFill>
                <a:latin typeface="Times New Roman" pitchFamily="34" charset="0"/>
                <a:ea typeface="Times New Roman" pitchFamily="34" charset="-122"/>
                <a:cs typeface="Times New Roman" pitchFamily="34" charset="-120"/>
              </a:rPr>
              <a:t>3</a:t>
            </a:r>
            <a:endParaRPr lang="en-US" sz="2200" dirty="0"/>
          </a:p>
        </p:txBody>
      </p:sp>
      <p:sp>
        <p:nvSpPr>
          <p:cNvPr id="11" name="Text 9"/>
          <p:cNvSpPr/>
          <p:nvPr/>
        </p:nvSpPr>
        <p:spPr>
          <a:xfrm>
            <a:off x="6309360" y="2039112"/>
            <a:ext cx="2468880" cy="201168"/>
          </a:xfrm>
          <a:prstGeom prst="rect">
            <a:avLst/>
          </a:prstGeom>
          <a:noFill/>
          <a:ln/>
        </p:spPr>
        <p:txBody>
          <a:bodyPr wrap="square" rtlCol="0" anchor="ctr"/>
          <a:lstStyle/>
          <a:p>
            <a:pPr marL="0" indent="0" algn="ctr">
              <a:buNone/>
            </a:pPr>
            <a:r>
              <a:rPr lang="en-US" sz="950" dirty="0">
                <a:solidFill>
                  <a:srgbClr val="9999CC"/>
                </a:solidFill>
              </a:rPr>
              <a:t>Product Divisions</a:t>
            </a:r>
            <a:endParaRPr lang="en-US" sz="950" dirty="0"/>
          </a:p>
        </p:txBody>
      </p:sp>
      <p:sp>
        <p:nvSpPr>
          <p:cNvPr id="12" name="Text 10"/>
          <p:cNvSpPr/>
          <p:nvPr/>
        </p:nvSpPr>
        <p:spPr>
          <a:xfrm>
            <a:off x="6309360" y="2340864"/>
            <a:ext cx="2468880" cy="347472"/>
          </a:xfrm>
          <a:prstGeom prst="rect">
            <a:avLst/>
          </a:prstGeom>
          <a:noFill/>
          <a:ln/>
        </p:spPr>
        <p:txBody>
          <a:bodyPr wrap="square" rtlCol="0" anchor="ctr"/>
          <a:lstStyle/>
          <a:p>
            <a:pPr marL="0" indent="0" algn="ctr">
              <a:buNone/>
            </a:pPr>
            <a:r>
              <a:rPr lang="en-US" sz="2200" b="1" dirty="0">
                <a:solidFill>
                  <a:srgbClr val="6C63FF"/>
                </a:solidFill>
                <a:latin typeface="Times New Roman" pitchFamily="34" charset="0"/>
                <a:ea typeface="Times New Roman" pitchFamily="34" charset="-122"/>
                <a:cs typeface="Times New Roman" pitchFamily="34" charset="-120"/>
              </a:rPr>
              <a:t>5</a:t>
            </a:r>
            <a:endParaRPr lang="en-US" sz="2200" dirty="0"/>
          </a:p>
        </p:txBody>
      </p:sp>
      <p:sp>
        <p:nvSpPr>
          <p:cNvPr id="13" name="Text 11"/>
          <p:cNvSpPr/>
          <p:nvPr/>
        </p:nvSpPr>
        <p:spPr>
          <a:xfrm>
            <a:off x="6309360" y="2660904"/>
            <a:ext cx="2468880" cy="201168"/>
          </a:xfrm>
          <a:prstGeom prst="rect">
            <a:avLst/>
          </a:prstGeom>
          <a:noFill/>
          <a:ln/>
        </p:spPr>
        <p:txBody>
          <a:bodyPr wrap="square" rtlCol="0" anchor="ctr"/>
          <a:lstStyle/>
          <a:p>
            <a:pPr marL="0" indent="0" algn="ctr">
              <a:buNone/>
            </a:pPr>
            <a:r>
              <a:rPr lang="en-US" sz="950" dirty="0">
                <a:solidFill>
                  <a:srgbClr val="9999CC"/>
                </a:solidFill>
              </a:rPr>
              <a:t>Factories</a:t>
            </a:r>
            <a:endParaRPr lang="en-US" sz="950" dirty="0"/>
          </a:p>
        </p:txBody>
      </p:sp>
      <p:sp>
        <p:nvSpPr>
          <p:cNvPr id="14" name="Text 12"/>
          <p:cNvSpPr/>
          <p:nvPr/>
        </p:nvSpPr>
        <p:spPr>
          <a:xfrm>
            <a:off x="6309360" y="2962656"/>
            <a:ext cx="2468880" cy="347472"/>
          </a:xfrm>
          <a:prstGeom prst="rect">
            <a:avLst/>
          </a:prstGeom>
          <a:noFill/>
          <a:ln/>
        </p:spPr>
        <p:txBody>
          <a:bodyPr wrap="square" rtlCol="0" anchor="ctr"/>
          <a:lstStyle/>
          <a:p>
            <a:pPr marL="0" indent="0" algn="ctr">
              <a:buNone/>
            </a:pPr>
            <a:r>
              <a:rPr lang="en-US" sz="2200" b="1" dirty="0">
                <a:solidFill>
                  <a:srgbClr val="6C63FF"/>
                </a:solidFill>
                <a:latin typeface="Times New Roman" pitchFamily="34" charset="0"/>
                <a:ea typeface="Times New Roman" pitchFamily="34" charset="-122"/>
                <a:cs typeface="Times New Roman" pitchFamily="34" charset="-120"/>
              </a:rPr>
              <a:t>4</a:t>
            </a:r>
            <a:endParaRPr lang="en-US" sz="2200" dirty="0"/>
          </a:p>
        </p:txBody>
      </p:sp>
      <p:sp>
        <p:nvSpPr>
          <p:cNvPr id="15" name="Text 13"/>
          <p:cNvSpPr/>
          <p:nvPr/>
        </p:nvSpPr>
        <p:spPr>
          <a:xfrm>
            <a:off x="6309360" y="3282696"/>
            <a:ext cx="2468880" cy="201168"/>
          </a:xfrm>
          <a:prstGeom prst="rect">
            <a:avLst/>
          </a:prstGeom>
          <a:noFill/>
          <a:ln/>
        </p:spPr>
        <p:txBody>
          <a:bodyPr wrap="square" rtlCol="0" anchor="ctr"/>
          <a:lstStyle/>
          <a:p>
            <a:pPr marL="0" indent="0" algn="ctr">
              <a:buNone/>
            </a:pPr>
            <a:r>
              <a:rPr lang="en-US" sz="950" dirty="0">
                <a:solidFill>
                  <a:srgbClr val="9999CC"/>
                </a:solidFill>
              </a:rPr>
              <a:t>Shipping Modes</a:t>
            </a:r>
            <a:endParaRPr lang="en-US" sz="950" dirty="0"/>
          </a:p>
        </p:txBody>
      </p:sp>
      <p:sp>
        <p:nvSpPr>
          <p:cNvPr id="16" name="Text 14"/>
          <p:cNvSpPr/>
          <p:nvPr/>
        </p:nvSpPr>
        <p:spPr>
          <a:xfrm>
            <a:off x="6309360" y="3584448"/>
            <a:ext cx="2468880" cy="347472"/>
          </a:xfrm>
          <a:prstGeom prst="rect">
            <a:avLst/>
          </a:prstGeom>
          <a:noFill/>
          <a:ln/>
        </p:spPr>
        <p:txBody>
          <a:bodyPr wrap="square" rtlCol="0" anchor="ctr"/>
          <a:lstStyle/>
          <a:p>
            <a:pPr marL="0" indent="0" algn="ctr">
              <a:buNone/>
            </a:pPr>
            <a:r>
              <a:rPr lang="en-US" sz="2200" b="1" dirty="0">
                <a:solidFill>
                  <a:srgbClr val="6C63FF"/>
                </a:solidFill>
                <a:latin typeface="Georgia" pitchFamily="34" charset="0"/>
                <a:ea typeface="Georgia" pitchFamily="34" charset="-122"/>
                <a:cs typeface="Georgia" pitchFamily="34" charset="-120"/>
              </a:rPr>
              <a:t>US &amp; CA</a:t>
            </a:r>
            <a:endParaRPr lang="en-US" sz="2200" dirty="0"/>
          </a:p>
        </p:txBody>
      </p:sp>
      <p:sp>
        <p:nvSpPr>
          <p:cNvPr id="17" name="Text 15"/>
          <p:cNvSpPr/>
          <p:nvPr/>
        </p:nvSpPr>
        <p:spPr>
          <a:xfrm>
            <a:off x="6309360" y="3904488"/>
            <a:ext cx="2468880" cy="201168"/>
          </a:xfrm>
          <a:prstGeom prst="rect">
            <a:avLst/>
          </a:prstGeom>
          <a:noFill/>
          <a:ln/>
        </p:spPr>
        <p:txBody>
          <a:bodyPr wrap="square" rtlCol="0" anchor="ctr"/>
          <a:lstStyle/>
          <a:p>
            <a:pPr marL="0" indent="0" algn="ctr">
              <a:buNone/>
            </a:pPr>
            <a:r>
              <a:rPr lang="en-US" sz="950" dirty="0">
                <a:solidFill>
                  <a:srgbClr val="9999CC"/>
                </a:solidFill>
              </a:rPr>
              <a:t>Market Coverage</a:t>
            </a:r>
            <a:endParaRPr lang="en-US" sz="950" dirty="0"/>
          </a:p>
        </p:txBody>
      </p:sp>
      <p:sp>
        <p:nvSpPr>
          <p:cNvPr id="18" name="Text 16"/>
          <p:cNvSpPr/>
          <p:nvPr/>
        </p:nvSpPr>
        <p:spPr>
          <a:xfrm>
            <a:off x="6309360" y="4206240"/>
            <a:ext cx="2468880" cy="347472"/>
          </a:xfrm>
          <a:prstGeom prst="rect">
            <a:avLst/>
          </a:prstGeom>
          <a:noFill/>
          <a:ln/>
        </p:spPr>
        <p:txBody>
          <a:bodyPr wrap="square" rtlCol="0" anchor="ctr"/>
          <a:lstStyle/>
          <a:p>
            <a:pPr marL="0" indent="0" algn="ctr">
              <a:buNone/>
            </a:pPr>
            <a:r>
              <a:rPr lang="en-US" sz="2200" b="1" dirty="0">
                <a:solidFill>
                  <a:srgbClr val="6C63FF"/>
                </a:solidFill>
                <a:latin typeface="Times New Roman" pitchFamily="34" charset="0"/>
                <a:ea typeface="Times New Roman" pitchFamily="34" charset="-122"/>
                <a:cs typeface="Times New Roman" pitchFamily="34" charset="-120"/>
              </a:rPr>
              <a:t>2 Years</a:t>
            </a:r>
            <a:endParaRPr lang="en-US" sz="2200" dirty="0"/>
          </a:p>
        </p:txBody>
      </p:sp>
      <p:sp>
        <p:nvSpPr>
          <p:cNvPr id="19" name="Text 17"/>
          <p:cNvSpPr/>
          <p:nvPr/>
        </p:nvSpPr>
        <p:spPr>
          <a:xfrm>
            <a:off x="6309360" y="4526280"/>
            <a:ext cx="2468880" cy="201168"/>
          </a:xfrm>
          <a:prstGeom prst="rect">
            <a:avLst/>
          </a:prstGeom>
          <a:noFill/>
          <a:ln/>
        </p:spPr>
        <p:txBody>
          <a:bodyPr wrap="square" rtlCol="0" anchor="ctr"/>
          <a:lstStyle/>
          <a:p>
            <a:pPr marL="0" indent="0" algn="ctr">
              <a:buNone/>
            </a:pPr>
            <a:r>
              <a:rPr lang="en-US" sz="950" dirty="0">
                <a:solidFill>
                  <a:srgbClr val="9999CC"/>
                </a:solidFill>
              </a:rPr>
              <a:t>Data Timespan</a:t>
            </a:r>
            <a:endParaRPr lang="en-US" sz="950" dirty="0"/>
          </a:p>
        </p:txBody>
      </p:sp>
      <p:sp>
        <p:nvSpPr>
          <p:cNvPr id="20" name="Text 18"/>
          <p:cNvSpPr/>
          <p:nvPr/>
        </p:nvSpPr>
        <p:spPr>
          <a:xfrm>
            <a:off x="274320" y="1737360"/>
            <a:ext cx="5577840" cy="292608"/>
          </a:xfrm>
          <a:prstGeom prst="rect">
            <a:avLst/>
          </a:prstGeom>
          <a:noFill/>
          <a:ln/>
        </p:spPr>
        <p:txBody>
          <a:bodyPr wrap="square" rtlCol="0" anchor="ctr"/>
          <a:lstStyle/>
          <a:p>
            <a:pPr marL="0" indent="0">
              <a:buNone/>
            </a:pPr>
            <a:r>
              <a:rPr lang="en-US" sz="1300" b="1" dirty="0">
                <a:solidFill>
                  <a:srgbClr val="6C63FF"/>
                </a:solidFill>
              </a:rPr>
              <a:t>🍬  Company</a:t>
            </a:r>
            <a:endParaRPr lang="en-US" sz="1300" dirty="0"/>
          </a:p>
        </p:txBody>
      </p:sp>
      <p:sp>
        <p:nvSpPr>
          <p:cNvPr id="21" name="Text 19"/>
          <p:cNvSpPr/>
          <p:nvPr/>
        </p:nvSpPr>
        <p:spPr>
          <a:xfrm>
            <a:off x="347472" y="2011680"/>
            <a:ext cx="5577840" cy="530352"/>
          </a:xfrm>
          <a:prstGeom prst="rect">
            <a:avLst/>
          </a:prstGeom>
          <a:noFill/>
          <a:ln/>
        </p:spPr>
        <p:txBody>
          <a:bodyPr wrap="square" rtlCol="0" anchor="ctr"/>
          <a:lstStyle/>
          <a:p>
            <a:pPr marL="0" indent="0">
              <a:lnSpc>
                <a:spcPct val="130000"/>
              </a:lnSpc>
              <a:buNone/>
            </a:pPr>
            <a:r>
              <a:rPr lang="en-US" sz="1100" dirty="0">
                <a:solidFill>
                  <a:srgbClr val="CCCCEE"/>
                </a:solidFill>
              </a:rPr>
              <a:t>Nassau Candy Distributor supplies confectionery products across the US and Canada through three product divisions: Chocolate, Sugar, and Other.</a:t>
            </a:r>
            <a:endParaRPr lang="en-US" sz="1100" dirty="0"/>
          </a:p>
        </p:txBody>
      </p:sp>
      <p:sp>
        <p:nvSpPr>
          <p:cNvPr id="22" name="Text 20"/>
          <p:cNvSpPr/>
          <p:nvPr/>
        </p:nvSpPr>
        <p:spPr>
          <a:xfrm>
            <a:off x="274320" y="2743200"/>
            <a:ext cx="5577840" cy="292608"/>
          </a:xfrm>
          <a:prstGeom prst="rect">
            <a:avLst/>
          </a:prstGeom>
          <a:noFill/>
          <a:ln/>
        </p:spPr>
        <p:txBody>
          <a:bodyPr wrap="square" rtlCol="0" anchor="ctr"/>
          <a:lstStyle/>
          <a:p>
            <a:pPr marL="0" indent="0">
              <a:buNone/>
            </a:pPr>
            <a:r>
              <a:rPr lang="en-US" sz="1300" b="1" dirty="0">
                <a:solidFill>
                  <a:srgbClr val="6C63FF"/>
                </a:solidFill>
              </a:rPr>
              <a:t>📦  Operations</a:t>
            </a:r>
            <a:endParaRPr lang="en-US" sz="1300" dirty="0"/>
          </a:p>
        </p:txBody>
      </p:sp>
      <p:sp>
        <p:nvSpPr>
          <p:cNvPr id="23" name="Text 21"/>
          <p:cNvSpPr/>
          <p:nvPr/>
        </p:nvSpPr>
        <p:spPr>
          <a:xfrm>
            <a:off x="347472" y="3017520"/>
            <a:ext cx="5577840" cy="530352"/>
          </a:xfrm>
          <a:prstGeom prst="rect">
            <a:avLst/>
          </a:prstGeom>
          <a:noFill/>
          <a:ln/>
        </p:spPr>
        <p:txBody>
          <a:bodyPr wrap="square" rtlCol="0" anchor="ctr"/>
          <a:lstStyle/>
          <a:p>
            <a:pPr marL="0" indent="0">
              <a:lnSpc>
                <a:spcPct val="130000"/>
              </a:lnSpc>
              <a:buNone/>
            </a:pPr>
            <a:r>
              <a:rPr lang="en-US" sz="1100" dirty="0">
                <a:solidFill>
                  <a:srgbClr val="CCCCEE"/>
                </a:solidFill>
              </a:rPr>
              <a:t>Orders span multiple ship modes and regions. Each transaction records sales, cost, gross profit, and units shipped.</a:t>
            </a:r>
            <a:endParaRPr lang="en-US" sz="1100" dirty="0"/>
          </a:p>
        </p:txBody>
      </p:sp>
      <p:sp>
        <p:nvSpPr>
          <p:cNvPr id="24" name="Text 22"/>
          <p:cNvSpPr/>
          <p:nvPr/>
        </p:nvSpPr>
        <p:spPr>
          <a:xfrm>
            <a:off x="274320" y="3749040"/>
            <a:ext cx="5577840" cy="292608"/>
          </a:xfrm>
          <a:prstGeom prst="rect">
            <a:avLst/>
          </a:prstGeom>
          <a:noFill/>
          <a:ln/>
        </p:spPr>
        <p:txBody>
          <a:bodyPr wrap="square" rtlCol="0" anchor="ctr"/>
          <a:lstStyle/>
          <a:p>
            <a:pPr marL="0" indent="0">
              <a:buNone/>
            </a:pPr>
            <a:r>
              <a:rPr lang="en-US" sz="1300" b="1" dirty="0">
                <a:solidFill>
                  <a:srgbClr val="6C63FF"/>
                </a:solidFill>
              </a:rPr>
              <a:t>🎯  Objective</a:t>
            </a:r>
            <a:endParaRPr lang="en-US" sz="1300" dirty="0"/>
          </a:p>
        </p:txBody>
      </p:sp>
      <p:sp>
        <p:nvSpPr>
          <p:cNvPr id="25" name="Text 23"/>
          <p:cNvSpPr/>
          <p:nvPr/>
        </p:nvSpPr>
        <p:spPr>
          <a:xfrm>
            <a:off x="347472" y="4023360"/>
            <a:ext cx="5577840" cy="530352"/>
          </a:xfrm>
          <a:prstGeom prst="rect">
            <a:avLst/>
          </a:prstGeom>
          <a:noFill/>
          <a:ln/>
        </p:spPr>
        <p:txBody>
          <a:bodyPr wrap="square" rtlCol="0" anchor="ctr"/>
          <a:lstStyle/>
          <a:p>
            <a:pPr marL="0" indent="0">
              <a:lnSpc>
                <a:spcPct val="130000"/>
              </a:lnSpc>
              <a:buNone/>
            </a:pPr>
            <a:r>
              <a:rPr lang="en-US" sz="1100" dirty="0">
                <a:solidFill>
                  <a:srgbClr val="CCCCEE"/>
                </a:solidFill>
              </a:rPr>
              <a:t>Identify which products and divisions truly drive profitability — moving beyond raw sales volume to margin-based intelligence.</a:t>
            </a:r>
            <a:endParaRPr lang="en-US" sz="1100" dirty="0"/>
          </a:p>
        </p:txBody>
      </p:sp>
      <p:sp>
        <p:nvSpPr>
          <p:cNvPr id="26" name="Text 24"/>
          <p:cNvSpPr/>
          <p:nvPr/>
        </p:nvSpPr>
        <p:spPr>
          <a:xfrm>
            <a:off x="8046720" y="4800600"/>
            <a:ext cx="914400" cy="228600"/>
          </a:xfrm>
          <a:prstGeom prst="rect">
            <a:avLst/>
          </a:prstGeom>
          <a:noFill/>
          <a:ln/>
        </p:spPr>
        <p:txBody>
          <a:bodyPr wrap="square" rtlCol="0" anchor="ctr"/>
          <a:lstStyle/>
          <a:p>
            <a:pPr marL="0" indent="0" algn="r">
              <a:buNone/>
            </a:pPr>
            <a:r>
              <a:rPr lang="en-US" sz="800" dirty="0">
                <a:solidFill>
                  <a:srgbClr val="999999"/>
                </a:solidFill>
              </a:rPr>
              <a:t>3 / 12</a:t>
            </a:r>
            <a:endParaRPr lang="en-US" sz="800" dirty="0"/>
          </a:p>
        </p:txBody>
      </p:sp>
      <p:sp>
        <p:nvSpPr>
          <p:cNvPr id="27" name="Text 25"/>
          <p:cNvSpPr/>
          <p:nvPr/>
        </p:nvSpPr>
        <p:spPr>
          <a:xfrm>
            <a:off x="457200" y="4800600"/>
            <a:ext cx="5486400" cy="228600"/>
          </a:xfrm>
          <a:prstGeom prst="rect">
            <a:avLst/>
          </a:prstGeom>
          <a:noFill/>
          <a:ln/>
        </p:spPr>
        <p:txBody>
          <a:bodyPr wrap="square" rtlCol="0" anchor="ctr"/>
          <a:lstStyle/>
          <a:p>
            <a:pPr marL="0" indent="0" algn="l">
              <a:buNone/>
            </a:pPr>
            <a:r>
              <a:rPr lang="en-US" sz="800" dirty="0">
                <a:solidFill>
                  <a:srgbClr val="999999"/>
                </a:solidFill>
              </a:rPr>
              <a:t>Nassau Candy Distributor · Profitability Analysis</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4FB"/>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6C63FF"/>
          </a:solidFill>
          <a:ln w="12700">
            <a:solidFill>
              <a:srgbClr val="6C63FF"/>
            </a:solidFill>
            <a:prstDash val="solid"/>
          </a:ln>
        </p:spPr>
        <p:txBody>
          <a:bodyPr/>
          <a:lstStyle/>
          <a:p>
            <a:endParaRPr lang="en-IN" dirty="0"/>
          </a:p>
        </p:txBody>
      </p:sp>
      <p:sp>
        <p:nvSpPr>
          <p:cNvPr id="3" name="Text 1"/>
          <p:cNvSpPr/>
          <p:nvPr/>
        </p:nvSpPr>
        <p:spPr>
          <a:xfrm>
            <a:off x="320040" y="201168"/>
            <a:ext cx="5486400" cy="457200"/>
          </a:xfrm>
          <a:prstGeom prst="rect">
            <a:avLst/>
          </a:prstGeom>
          <a:noFill/>
          <a:ln/>
        </p:spPr>
        <p:txBody>
          <a:bodyPr wrap="square" rtlCol="0" anchor="ctr"/>
          <a:lstStyle/>
          <a:p>
            <a:pPr marL="0" indent="0">
              <a:buNone/>
            </a:pPr>
            <a:r>
              <a:rPr lang="en-US" sz="2600" b="1" dirty="0">
                <a:solidFill>
                  <a:srgbClr val="1A1A2E"/>
                </a:solidFill>
                <a:latin typeface="Georgia" pitchFamily="34" charset="0"/>
                <a:ea typeface="Georgia" pitchFamily="34" charset="-122"/>
                <a:cs typeface="Georgia" pitchFamily="34" charset="-120"/>
              </a:rPr>
              <a:t>Dataset Fields</a:t>
            </a:r>
            <a:endParaRPr lang="en-US" sz="2600" dirty="0"/>
          </a:p>
        </p:txBody>
      </p:sp>
      <p:sp>
        <p:nvSpPr>
          <p:cNvPr id="4" name="Text 2"/>
          <p:cNvSpPr/>
          <p:nvPr/>
        </p:nvSpPr>
        <p:spPr>
          <a:xfrm>
            <a:off x="320040" y="640080"/>
            <a:ext cx="6400800" cy="256032"/>
          </a:xfrm>
          <a:prstGeom prst="rect">
            <a:avLst/>
          </a:prstGeom>
          <a:noFill/>
          <a:ln/>
        </p:spPr>
        <p:txBody>
          <a:bodyPr wrap="square" rtlCol="0" anchor="ctr"/>
          <a:lstStyle/>
          <a:p>
            <a:pPr marL="0" indent="0">
              <a:buNone/>
            </a:pPr>
            <a:r>
              <a:rPr lang="en-US" sz="1100" i="1" dirty="0">
                <a:solidFill>
                  <a:srgbClr val="666688"/>
                </a:solidFill>
              </a:rPr>
              <a:t>Core attributes used in the profitability analysis</a:t>
            </a:r>
            <a:endParaRPr lang="en-US" sz="1100" dirty="0"/>
          </a:p>
        </p:txBody>
      </p:sp>
      <p:sp>
        <p:nvSpPr>
          <p:cNvPr id="5" name="Shape 3"/>
          <p:cNvSpPr/>
          <p:nvPr/>
        </p:nvSpPr>
        <p:spPr>
          <a:xfrm>
            <a:off x="320040" y="1005840"/>
            <a:ext cx="4114800" cy="347472"/>
          </a:xfrm>
          <a:prstGeom prst="rect">
            <a:avLst/>
          </a:prstGeom>
          <a:solidFill>
            <a:srgbClr val="FFFFFF"/>
          </a:solidFill>
          <a:ln w="12700">
            <a:solidFill>
              <a:srgbClr val="E0E0EE"/>
            </a:solidFill>
            <a:prstDash val="solid"/>
          </a:ln>
        </p:spPr>
        <p:txBody>
          <a:bodyPr/>
          <a:lstStyle/>
          <a:p>
            <a:endParaRPr lang="en-IN" dirty="0"/>
          </a:p>
        </p:txBody>
      </p:sp>
      <p:sp>
        <p:nvSpPr>
          <p:cNvPr id="6" name="Shape 4"/>
          <p:cNvSpPr/>
          <p:nvPr/>
        </p:nvSpPr>
        <p:spPr>
          <a:xfrm>
            <a:off x="320040" y="1005840"/>
            <a:ext cx="45720" cy="347472"/>
          </a:xfrm>
          <a:prstGeom prst="rect">
            <a:avLst/>
          </a:prstGeom>
          <a:solidFill>
            <a:srgbClr val="6C63FF"/>
          </a:solidFill>
          <a:ln w="12700">
            <a:solidFill>
              <a:srgbClr val="6C63FF"/>
            </a:solidFill>
            <a:prstDash val="solid"/>
          </a:ln>
        </p:spPr>
        <p:txBody>
          <a:bodyPr/>
          <a:lstStyle/>
          <a:p>
            <a:endParaRPr lang="en-IN" dirty="0"/>
          </a:p>
        </p:txBody>
      </p:sp>
      <p:sp>
        <p:nvSpPr>
          <p:cNvPr id="7" name="Text 5"/>
          <p:cNvSpPr/>
          <p:nvPr/>
        </p:nvSpPr>
        <p:spPr>
          <a:xfrm>
            <a:off x="429768" y="1042416"/>
            <a:ext cx="1600200" cy="274320"/>
          </a:xfrm>
          <a:prstGeom prst="rect">
            <a:avLst/>
          </a:prstGeom>
          <a:noFill/>
          <a:ln/>
        </p:spPr>
        <p:txBody>
          <a:bodyPr wrap="square" rtlCol="0" anchor="ctr"/>
          <a:lstStyle/>
          <a:p>
            <a:pPr marL="0" indent="0">
              <a:buNone/>
            </a:pPr>
            <a:r>
              <a:rPr lang="en-US" sz="950" b="1" dirty="0">
                <a:solidFill>
                  <a:srgbClr val="1A1A2E"/>
                </a:solidFill>
              </a:rPr>
              <a:t>Order ID / Row ID</a:t>
            </a:r>
            <a:endParaRPr lang="en-US" sz="950" dirty="0"/>
          </a:p>
        </p:txBody>
      </p:sp>
      <p:sp>
        <p:nvSpPr>
          <p:cNvPr id="8" name="Text 6"/>
          <p:cNvSpPr/>
          <p:nvPr/>
        </p:nvSpPr>
        <p:spPr>
          <a:xfrm>
            <a:off x="2057400" y="1042416"/>
            <a:ext cx="2286000" cy="274320"/>
          </a:xfrm>
          <a:prstGeom prst="rect">
            <a:avLst/>
          </a:prstGeom>
          <a:noFill/>
          <a:ln/>
        </p:spPr>
        <p:txBody>
          <a:bodyPr wrap="square" rtlCol="0" anchor="ctr"/>
          <a:lstStyle/>
          <a:p>
            <a:pPr marL="0" indent="0">
              <a:buNone/>
            </a:pPr>
            <a:r>
              <a:rPr lang="en-US" sz="900" i="1" dirty="0">
                <a:solidFill>
                  <a:srgbClr val="666688"/>
                </a:solidFill>
              </a:rPr>
              <a:t>Unique identifiers for each transaction record</a:t>
            </a:r>
            <a:endParaRPr lang="en-US" sz="900" dirty="0"/>
          </a:p>
        </p:txBody>
      </p:sp>
      <p:sp>
        <p:nvSpPr>
          <p:cNvPr id="9" name="Shape 7"/>
          <p:cNvSpPr/>
          <p:nvPr/>
        </p:nvSpPr>
        <p:spPr>
          <a:xfrm>
            <a:off x="320040" y="1408176"/>
            <a:ext cx="4114800" cy="347472"/>
          </a:xfrm>
          <a:prstGeom prst="rect">
            <a:avLst/>
          </a:prstGeom>
          <a:solidFill>
            <a:srgbClr val="F0F0FA"/>
          </a:solidFill>
          <a:ln w="12700">
            <a:solidFill>
              <a:srgbClr val="E0E0EE"/>
            </a:solidFill>
            <a:prstDash val="solid"/>
          </a:ln>
        </p:spPr>
        <p:txBody>
          <a:bodyPr/>
          <a:lstStyle/>
          <a:p>
            <a:endParaRPr lang="en-IN" dirty="0"/>
          </a:p>
        </p:txBody>
      </p:sp>
      <p:sp>
        <p:nvSpPr>
          <p:cNvPr id="10" name="Shape 8"/>
          <p:cNvSpPr/>
          <p:nvPr/>
        </p:nvSpPr>
        <p:spPr>
          <a:xfrm>
            <a:off x="320040" y="1408176"/>
            <a:ext cx="45720" cy="347472"/>
          </a:xfrm>
          <a:prstGeom prst="rect">
            <a:avLst/>
          </a:prstGeom>
          <a:solidFill>
            <a:srgbClr val="6C63FF"/>
          </a:solidFill>
          <a:ln w="12700">
            <a:solidFill>
              <a:srgbClr val="6C63FF"/>
            </a:solidFill>
            <a:prstDash val="solid"/>
          </a:ln>
        </p:spPr>
        <p:txBody>
          <a:bodyPr/>
          <a:lstStyle/>
          <a:p>
            <a:endParaRPr lang="en-IN" dirty="0"/>
          </a:p>
        </p:txBody>
      </p:sp>
      <p:sp>
        <p:nvSpPr>
          <p:cNvPr id="11" name="Text 9"/>
          <p:cNvSpPr/>
          <p:nvPr/>
        </p:nvSpPr>
        <p:spPr>
          <a:xfrm>
            <a:off x="429768" y="1444752"/>
            <a:ext cx="1600200" cy="274320"/>
          </a:xfrm>
          <a:prstGeom prst="rect">
            <a:avLst/>
          </a:prstGeom>
          <a:noFill/>
          <a:ln/>
        </p:spPr>
        <p:txBody>
          <a:bodyPr wrap="square" rtlCol="0" anchor="ctr"/>
          <a:lstStyle/>
          <a:p>
            <a:pPr marL="0" indent="0">
              <a:buNone/>
            </a:pPr>
            <a:r>
              <a:rPr lang="en-US" sz="950" b="1" dirty="0">
                <a:solidFill>
                  <a:srgbClr val="1A1A2E"/>
                </a:solidFill>
              </a:rPr>
              <a:t>Order Date / Ship Date</a:t>
            </a:r>
            <a:endParaRPr lang="en-US" sz="950" dirty="0"/>
          </a:p>
        </p:txBody>
      </p:sp>
      <p:sp>
        <p:nvSpPr>
          <p:cNvPr id="12" name="Text 10"/>
          <p:cNvSpPr/>
          <p:nvPr/>
        </p:nvSpPr>
        <p:spPr>
          <a:xfrm>
            <a:off x="2057400" y="1444752"/>
            <a:ext cx="2286000" cy="274320"/>
          </a:xfrm>
          <a:prstGeom prst="rect">
            <a:avLst/>
          </a:prstGeom>
          <a:noFill/>
          <a:ln/>
        </p:spPr>
        <p:txBody>
          <a:bodyPr wrap="square" rtlCol="0" anchor="ctr"/>
          <a:lstStyle/>
          <a:p>
            <a:pPr marL="0" indent="0">
              <a:buNone/>
            </a:pPr>
            <a:r>
              <a:rPr lang="en-US" sz="900" i="1" dirty="0">
                <a:solidFill>
                  <a:srgbClr val="666688"/>
                </a:solidFill>
              </a:rPr>
              <a:t>Temporal anchors for trend and cycle analysis</a:t>
            </a:r>
            <a:endParaRPr lang="en-US" sz="900" dirty="0"/>
          </a:p>
        </p:txBody>
      </p:sp>
      <p:sp>
        <p:nvSpPr>
          <p:cNvPr id="13" name="Shape 11"/>
          <p:cNvSpPr/>
          <p:nvPr/>
        </p:nvSpPr>
        <p:spPr>
          <a:xfrm>
            <a:off x="320040" y="1810512"/>
            <a:ext cx="4114800" cy="347472"/>
          </a:xfrm>
          <a:prstGeom prst="rect">
            <a:avLst/>
          </a:prstGeom>
          <a:solidFill>
            <a:srgbClr val="FFFFFF"/>
          </a:solidFill>
          <a:ln w="12700">
            <a:solidFill>
              <a:srgbClr val="E0E0EE"/>
            </a:solidFill>
            <a:prstDash val="solid"/>
          </a:ln>
        </p:spPr>
        <p:txBody>
          <a:bodyPr/>
          <a:lstStyle/>
          <a:p>
            <a:endParaRPr lang="en-IN" dirty="0"/>
          </a:p>
        </p:txBody>
      </p:sp>
      <p:sp>
        <p:nvSpPr>
          <p:cNvPr id="14" name="Shape 12"/>
          <p:cNvSpPr/>
          <p:nvPr/>
        </p:nvSpPr>
        <p:spPr>
          <a:xfrm>
            <a:off x="320040" y="1810512"/>
            <a:ext cx="45720" cy="347472"/>
          </a:xfrm>
          <a:prstGeom prst="rect">
            <a:avLst/>
          </a:prstGeom>
          <a:solidFill>
            <a:srgbClr val="6C63FF"/>
          </a:solidFill>
          <a:ln w="12700">
            <a:solidFill>
              <a:srgbClr val="6C63FF"/>
            </a:solidFill>
            <a:prstDash val="solid"/>
          </a:ln>
        </p:spPr>
        <p:txBody>
          <a:bodyPr/>
          <a:lstStyle/>
          <a:p>
            <a:endParaRPr lang="en-IN" dirty="0"/>
          </a:p>
        </p:txBody>
      </p:sp>
      <p:sp>
        <p:nvSpPr>
          <p:cNvPr id="15" name="Text 13"/>
          <p:cNvSpPr/>
          <p:nvPr/>
        </p:nvSpPr>
        <p:spPr>
          <a:xfrm>
            <a:off x="429768" y="1847088"/>
            <a:ext cx="1600200" cy="274320"/>
          </a:xfrm>
          <a:prstGeom prst="rect">
            <a:avLst/>
          </a:prstGeom>
          <a:noFill/>
          <a:ln/>
        </p:spPr>
        <p:txBody>
          <a:bodyPr wrap="square" rtlCol="0" anchor="ctr"/>
          <a:lstStyle/>
          <a:p>
            <a:pPr marL="0" indent="0">
              <a:buNone/>
            </a:pPr>
            <a:r>
              <a:rPr lang="en-US" sz="950" b="1" dirty="0">
                <a:solidFill>
                  <a:srgbClr val="1A1A2E"/>
                </a:solidFill>
              </a:rPr>
              <a:t>Ship Mode</a:t>
            </a:r>
            <a:endParaRPr lang="en-US" sz="950" dirty="0"/>
          </a:p>
        </p:txBody>
      </p:sp>
      <p:sp>
        <p:nvSpPr>
          <p:cNvPr id="16" name="Text 14"/>
          <p:cNvSpPr/>
          <p:nvPr/>
        </p:nvSpPr>
        <p:spPr>
          <a:xfrm>
            <a:off x="2057400" y="1847088"/>
            <a:ext cx="2286000" cy="274320"/>
          </a:xfrm>
          <a:prstGeom prst="rect">
            <a:avLst/>
          </a:prstGeom>
          <a:noFill/>
          <a:ln/>
        </p:spPr>
        <p:txBody>
          <a:bodyPr wrap="square" rtlCol="0" anchor="ctr"/>
          <a:lstStyle/>
          <a:p>
            <a:pPr marL="0" indent="0">
              <a:buNone/>
            </a:pPr>
            <a:r>
              <a:rPr lang="en-US" sz="900" i="1" dirty="0">
                <a:solidFill>
                  <a:srgbClr val="666688"/>
                </a:solidFill>
              </a:rPr>
              <a:t>Delivery method — impacts logistics cost and margin</a:t>
            </a:r>
            <a:endParaRPr lang="en-US" sz="900" dirty="0"/>
          </a:p>
        </p:txBody>
      </p:sp>
      <p:sp>
        <p:nvSpPr>
          <p:cNvPr id="17" name="Shape 15"/>
          <p:cNvSpPr/>
          <p:nvPr/>
        </p:nvSpPr>
        <p:spPr>
          <a:xfrm>
            <a:off x="320040" y="2212848"/>
            <a:ext cx="4114800" cy="347472"/>
          </a:xfrm>
          <a:prstGeom prst="rect">
            <a:avLst/>
          </a:prstGeom>
          <a:solidFill>
            <a:srgbClr val="F0F0FA"/>
          </a:solidFill>
          <a:ln w="12700">
            <a:solidFill>
              <a:srgbClr val="E0E0EE"/>
            </a:solidFill>
            <a:prstDash val="solid"/>
          </a:ln>
        </p:spPr>
        <p:txBody>
          <a:bodyPr/>
          <a:lstStyle/>
          <a:p>
            <a:endParaRPr lang="en-IN" dirty="0"/>
          </a:p>
        </p:txBody>
      </p:sp>
      <p:sp>
        <p:nvSpPr>
          <p:cNvPr id="18" name="Shape 16"/>
          <p:cNvSpPr/>
          <p:nvPr/>
        </p:nvSpPr>
        <p:spPr>
          <a:xfrm>
            <a:off x="320040" y="2212848"/>
            <a:ext cx="45720" cy="347472"/>
          </a:xfrm>
          <a:prstGeom prst="rect">
            <a:avLst/>
          </a:prstGeom>
          <a:solidFill>
            <a:srgbClr val="6C63FF"/>
          </a:solidFill>
          <a:ln w="12700">
            <a:solidFill>
              <a:srgbClr val="6C63FF"/>
            </a:solidFill>
            <a:prstDash val="solid"/>
          </a:ln>
        </p:spPr>
        <p:txBody>
          <a:bodyPr/>
          <a:lstStyle/>
          <a:p>
            <a:endParaRPr lang="en-IN" dirty="0"/>
          </a:p>
        </p:txBody>
      </p:sp>
      <p:sp>
        <p:nvSpPr>
          <p:cNvPr id="19" name="Text 17"/>
          <p:cNvSpPr/>
          <p:nvPr/>
        </p:nvSpPr>
        <p:spPr>
          <a:xfrm>
            <a:off x="429768" y="2249424"/>
            <a:ext cx="1600200" cy="274320"/>
          </a:xfrm>
          <a:prstGeom prst="rect">
            <a:avLst/>
          </a:prstGeom>
          <a:noFill/>
          <a:ln/>
        </p:spPr>
        <p:txBody>
          <a:bodyPr wrap="square" rtlCol="0" anchor="ctr"/>
          <a:lstStyle/>
          <a:p>
            <a:pPr marL="0" indent="0">
              <a:buNone/>
            </a:pPr>
            <a:r>
              <a:rPr lang="en-US" sz="950" b="1" dirty="0">
                <a:solidFill>
                  <a:srgbClr val="1A1A2E"/>
                </a:solidFill>
              </a:rPr>
              <a:t>Division</a:t>
            </a:r>
            <a:endParaRPr lang="en-US" sz="950" dirty="0"/>
          </a:p>
        </p:txBody>
      </p:sp>
      <p:sp>
        <p:nvSpPr>
          <p:cNvPr id="20" name="Text 18"/>
          <p:cNvSpPr/>
          <p:nvPr/>
        </p:nvSpPr>
        <p:spPr>
          <a:xfrm>
            <a:off x="2057400" y="2249424"/>
            <a:ext cx="2286000" cy="274320"/>
          </a:xfrm>
          <a:prstGeom prst="rect">
            <a:avLst/>
          </a:prstGeom>
          <a:noFill/>
          <a:ln/>
        </p:spPr>
        <p:txBody>
          <a:bodyPr wrap="square" rtlCol="0" anchor="ctr"/>
          <a:lstStyle/>
          <a:p>
            <a:pPr marL="0" indent="0">
              <a:buNone/>
            </a:pPr>
            <a:r>
              <a:rPr lang="en-US" sz="900" i="1" dirty="0">
                <a:solidFill>
                  <a:srgbClr val="666688"/>
                </a:solidFill>
              </a:rPr>
              <a:t>Chocolate · Sugar · Other — primary grouping dimension</a:t>
            </a:r>
            <a:endParaRPr lang="en-US" sz="900" dirty="0"/>
          </a:p>
        </p:txBody>
      </p:sp>
      <p:sp>
        <p:nvSpPr>
          <p:cNvPr id="21" name="Shape 19"/>
          <p:cNvSpPr/>
          <p:nvPr/>
        </p:nvSpPr>
        <p:spPr>
          <a:xfrm>
            <a:off x="320040" y="2615184"/>
            <a:ext cx="4114800" cy="347472"/>
          </a:xfrm>
          <a:prstGeom prst="rect">
            <a:avLst/>
          </a:prstGeom>
          <a:solidFill>
            <a:srgbClr val="FFFFFF"/>
          </a:solidFill>
          <a:ln w="12700">
            <a:solidFill>
              <a:srgbClr val="E0E0EE"/>
            </a:solidFill>
            <a:prstDash val="solid"/>
          </a:ln>
        </p:spPr>
        <p:txBody>
          <a:bodyPr/>
          <a:lstStyle/>
          <a:p>
            <a:endParaRPr lang="en-IN" dirty="0"/>
          </a:p>
        </p:txBody>
      </p:sp>
      <p:sp>
        <p:nvSpPr>
          <p:cNvPr id="22" name="Shape 20"/>
          <p:cNvSpPr/>
          <p:nvPr/>
        </p:nvSpPr>
        <p:spPr>
          <a:xfrm>
            <a:off x="320040" y="2615184"/>
            <a:ext cx="45720" cy="347472"/>
          </a:xfrm>
          <a:prstGeom prst="rect">
            <a:avLst/>
          </a:prstGeom>
          <a:solidFill>
            <a:srgbClr val="6C63FF"/>
          </a:solidFill>
          <a:ln w="12700">
            <a:solidFill>
              <a:srgbClr val="6C63FF"/>
            </a:solidFill>
            <a:prstDash val="solid"/>
          </a:ln>
        </p:spPr>
        <p:txBody>
          <a:bodyPr/>
          <a:lstStyle/>
          <a:p>
            <a:endParaRPr lang="en-IN" dirty="0"/>
          </a:p>
        </p:txBody>
      </p:sp>
      <p:sp>
        <p:nvSpPr>
          <p:cNvPr id="23" name="Text 21"/>
          <p:cNvSpPr/>
          <p:nvPr/>
        </p:nvSpPr>
        <p:spPr>
          <a:xfrm>
            <a:off x="429768" y="2651760"/>
            <a:ext cx="1600200" cy="274320"/>
          </a:xfrm>
          <a:prstGeom prst="rect">
            <a:avLst/>
          </a:prstGeom>
          <a:noFill/>
          <a:ln/>
        </p:spPr>
        <p:txBody>
          <a:bodyPr wrap="square" rtlCol="0" anchor="ctr"/>
          <a:lstStyle/>
          <a:p>
            <a:pPr marL="0" indent="0">
              <a:buNone/>
            </a:pPr>
            <a:r>
              <a:rPr lang="en-US" sz="950" b="1" dirty="0">
                <a:solidFill>
                  <a:srgbClr val="1A1A2E"/>
                </a:solidFill>
              </a:rPr>
              <a:t>Region / State / City</a:t>
            </a:r>
            <a:endParaRPr lang="en-US" sz="950" dirty="0"/>
          </a:p>
        </p:txBody>
      </p:sp>
      <p:sp>
        <p:nvSpPr>
          <p:cNvPr id="24" name="Text 22"/>
          <p:cNvSpPr/>
          <p:nvPr/>
        </p:nvSpPr>
        <p:spPr>
          <a:xfrm>
            <a:off x="2057400" y="2651760"/>
            <a:ext cx="2286000" cy="274320"/>
          </a:xfrm>
          <a:prstGeom prst="rect">
            <a:avLst/>
          </a:prstGeom>
          <a:noFill/>
          <a:ln/>
        </p:spPr>
        <p:txBody>
          <a:bodyPr wrap="square" rtlCol="0" anchor="ctr"/>
          <a:lstStyle/>
          <a:p>
            <a:pPr marL="0" indent="0">
              <a:buNone/>
            </a:pPr>
            <a:r>
              <a:rPr lang="en-US" sz="900" i="1" dirty="0">
                <a:solidFill>
                  <a:srgbClr val="666688"/>
                </a:solidFill>
              </a:rPr>
              <a:t>Geographic breakdown for regional performance analysis</a:t>
            </a:r>
            <a:endParaRPr lang="en-US" sz="900" dirty="0"/>
          </a:p>
        </p:txBody>
      </p:sp>
      <p:sp>
        <p:nvSpPr>
          <p:cNvPr id="25" name="Shape 23"/>
          <p:cNvSpPr/>
          <p:nvPr/>
        </p:nvSpPr>
        <p:spPr>
          <a:xfrm>
            <a:off x="4754880" y="1005840"/>
            <a:ext cx="4114800" cy="347472"/>
          </a:xfrm>
          <a:prstGeom prst="rect">
            <a:avLst/>
          </a:prstGeom>
          <a:solidFill>
            <a:srgbClr val="FFFFFF"/>
          </a:solidFill>
          <a:ln w="12700">
            <a:solidFill>
              <a:srgbClr val="E0E0EE"/>
            </a:solidFill>
            <a:prstDash val="solid"/>
          </a:ln>
        </p:spPr>
        <p:txBody>
          <a:bodyPr/>
          <a:lstStyle/>
          <a:p>
            <a:endParaRPr lang="en-IN" dirty="0"/>
          </a:p>
        </p:txBody>
      </p:sp>
      <p:sp>
        <p:nvSpPr>
          <p:cNvPr id="26" name="Shape 24"/>
          <p:cNvSpPr/>
          <p:nvPr/>
        </p:nvSpPr>
        <p:spPr>
          <a:xfrm>
            <a:off x="4754880" y="1005840"/>
            <a:ext cx="45720" cy="347472"/>
          </a:xfrm>
          <a:prstGeom prst="rect">
            <a:avLst/>
          </a:prstGeom>
          <a:solidFill>
            <a:srgbClr val="6C63FF"/>
          </a:solidFill>
          <a:ln w="12700">
            <a:solidFill>
              <a:srgbClr val="6C63FF"/>
            </a:solidFill>
            <a:prstDash val="solid"/>
          </a:ln>
        </p:spPr>
        <p:txBody>
          <a:bodyPr/>
          <a:lstStyle/>
          <a:p>
            <a:endParaRPr lang="en-IN" dirty="0"/>
          </a:p>
        </p:txBody>
      </p:sp>
      <p:sp>
        <p:nvSpPr>
          <p:cNvPr id="27" name="Text 25"/>
          <p:cNvSpPr/>
          <p:nvPr/>
        </p:nvSpPr>
        <p:spPr>
          <a:xfrm>
            <a:off x="4864608" y="1042416"/>
            <a:ext cx="1600200" cy="274320"/>
          </a:xfrm>
          <a:prstGeom prst="rect">
            <a:avLst/>
          </a:prstGeom>
          <a:noFill/>
          <a:ln/>
        </p:spPr>
        <p:txBody>
          <a:bodyPr wrap="square" rtlCol="0" anchor="ctr"/>
          <a:lstStyle/>
          <a:p>
            <a:pPr marL="0" indent="0">
              <a:buNone/>
            </a:pPr>
            <a:r>
              <a:rPr lang="en-US" sz="950" b="1" dirty="0">
                <a:solidFill>
                  <a:srgbClr val="1A1A2E"/>
                </a:solidFill>
              </a:rPr>
              <a:t>Product ID / Name</a:t>
            </a:r>
            <a:endParaRPr lang="en-US" sz="950" dirty="0"/>
          </a:p>
        </p:txBody>
      </p:sp>
      <p:sp>
        <p:nvSpPr>
          <p:cNvPr id="28" name="Text 26"/>
          <p:cNvSpPr/>
          <p:nvPr/>
        </p:nvSpPr>
        <p:spPr>
          <a:xfrm>
            <a:off x="6492240" y="1042416"/>
            <a:ext cx="2286000" cy="274320"/>
          </a:xfrm>
          <a:prstGeom prst="rect">
            <a:avLst/>
          </a:prstGeom>
          <a:noFill/>
          <a:ln/>
        </p:spPr>
        <p:txBody>
          <a:bodyPr wrap="square" rtlCol="0" anchor="ctr"/>
          <a:lstStyle/>
          <a:p>
            <a:pPr marL="0" indent="0">
              <a:buNone/>
            </a:pPr>
            <a:r>
              <a:rPr lang="en-US" sz="900" i="1" dirty="0">
                <a:solidFill>
                  <a:srgbClr val="666688"/>
                </a:solidFill>
              </a:rPr>
              <a:t>Product-level granularity for individual product analysis</a:t>
            </a:r>
            <a:endParaRPr lang="en-US" sz="900" dirty="0"/>
          </a:p>
        </p:txBody>
      </p:sp>
      <p:sp>
        <p:nvSpPr>
          <p:cNvPr id="29" name="Shape 27"/>
          <p:cNvSpPr/>
          <p:nvPr/>
        </p:nvSpPr>
        <p:spPr>
          <a:xfrm>
            <a:off x="4754880" y="1408176"/>
            <a:ext cx="4114800" cy="347472"/>
          </a:xfrm>
          <a:prstGeom prst="rect">
            <a:avLst/>
          </a:prstGeom>
          <a:solidFill>
            <a:srgbClr val="F0F0FA"/>
          </a:solidFill>
          <a:ln w="12700">
            <a:solidFill>
              <a:srgbClr val="E0E0EE"/>
            </a:solidFill>
            <a:prstDash val="solid"/>
          </a:ln>
        </p:spPr>
        <p:txBody>
          <a:bodyPr/>
          <a:lstStyle/>
          <a:p>
            <a:endParaRPr lang="en-IN" dirty="0"/>
          </a:p>
        </p:txBody>
      </p:sp>
      <p:sp>
        <p:nvSpPr>
          <p:cNvPr id="30" name="Shape 28"/>
          <p:cNvSpPr/>
          <p:nvPr/>
        </p:nvSpPr>
        <p:spPr>
          <a:xfrm>
            <a:off x="4754880" y="1408176"/>
            <a:ext cx="45720" cy="347472"/>
          </a:xfrm>
          <a:prstGeom prst="rect">
            <a:avLst/>
          </a:prstGeom>
          <a:solidFill>
            <a:srgbClr val="6C63FF"/>
          </a:solidFill>
          <a:ln w="12700">
            <a:solidFill>
              <a:srgbClr val="6C63FF"/>
            </a:solidFill>
            <a:prstDash val="solid"/>
          </a:ln>
        </p:spPr>
        <p:txBody>
          <a:bodyPr/>
          <a:lstStyle/>
          <a:p>
            <a:endParaRPr lang="en-IN" dirty="0"/>
          </a:p>
        </p:txBody>
      </p:sp>
      <p:sp>
        <p:nvSpPr>
          <p:cNvPr id="31" name="Text 29"/>
          <p:cNvSpPr/>
          <p:nvPr/>
        </p:nvSpPr>
        <p:spPr>
          <a:xfrm>
            <a:off x="4864608" y="1444752"/>
            <a:ext cx="1600200" cy="274320"/>
          </a:xfrm>
          <a:prstGeom prst="rect">
            <a:avLst/>
          </a:prstGeom>
          <a:noFill/>
          <a:ln/>
        </p:spPr>
        <p:txBody>
          <a:bodyPr wrap="square" rtlCol="0" anchor="ctr"/>
          <a:lstStyle/>
          <a:p>
            <a:pPr marL="0" indent="0">
              <a:buNone/>
            </a:pPr>
            <a:r>
              <a:rPr lang="en-US" sz="950" b="1" dirty="0">
                <a:solidFill>
                  <a:srgbClr val="1A1A2E"/>
                </a:solidFill>
              </a:rPr>
              <a:t>Sales</a:t>
            </a:r>
            <a:endParaRPr lang="en-US" sz="950" dirty="0"/>
          </a:p>
        </p:txBody>
      </p:sp>
      <p:sp>
        <p:nvSpPr>
          <p:cNvPr id="32" name="Text 30"/>
          <p:cNvSpPr/>
          <p:nvPr/>
        </p:nvSpPr>
        <p:spPr>
          <a:xfrm>
            <a:off x="6492240" y="1444752"/>
            <a:ext cx="2286000" cy="274320"/>
          </a:xfrm>
          <a:prstGeom prst="rect">
            <a:avLst/>
          </a:prstGeom>
          <a:noFill/>
          <a:ln/>
        </p:spPr>
        <p:txBody>
          <a:bodyPr wrap="square" rtlCol="0" anchor="ctr"/>
          <a:lstStyle/>
          <a:p>
            <a:pPr marL="0" indent="0">
              <a:buNone/>
            </a:pPr>
            <a:r>
              <a:rPr lang="en-US" sz="900" i="1" dirty="0">
                <a:solidFill>
                  <a:srgbClr val="666688"/>
                </a:solidFill>
              </a:rPr>
              <a:t>Total revenue value of the order</a:t>
            </a:r>
            <a:endParaRPr lang="en-US" sz="900" dirty="0"/>
          </a:p>
        </p:txBody>
      </p:sp>
      <p:sp>
        <p:nvSpPr>
          <p:cNvPr id="33" name="Shape 31"/>
          <p:cNvSpPr/>
          <p:nvPr/>
        </p:nvSpPr>
        <p:spPr>
          <a:xfrm>
            <a:off x="4754880" y="1810512"/>
            <a:ext cx="4114800" cy="347472"/>
          </a:xfrm>
          <a:prstGeom prst="rect">
            <a:avLst/>
          </a:prstGeom>
          <a:solidFill>
            <a:srgbClr val="FFFFFF"/>
          </a:solidFill>
          <a:ln w="12700">
            <a:solidFill>
              <a:srgbClr val="E0E0EE"/>
            </a:solidFill>
            <a:prstDash val="solid"/>
          </a:ln>
        </p:spPr>
        <p:txBody>
          <a:bodyPr/>
          <a:lstStyle/>
          <a:p>
            <a:endParaRPr lang="en-IN" dirty="0"/>
          </a:p>
        </p:txBody>
      </p:sp>
      <p:sp>
        <p:nvSpPr>
          <p:cNvPr id="34" name="Shape 32"/>
          <p:cNvSpPr/>
          <p:nvPr/>
        </p:nvSpPr>
        <p:spPr>
          <a:xfrm>
            <a:off x="4754880" y="1810512"/>
            <a:ext cx="45720" cy="347472"/>
          </a:xfrm>
          <a:prstGeom prst="rect">
            <a:avLst/>
          </a:prstGeom>
          <a:solidFill>
            <a:srgbClr val="6C63FF"/>
          </a:solidFill>
          <a:ln w="12700">
            <a:solidFill>
              <a:srgbClr val="6C63FF"/>
            </a:solidFill>
            <a:prstDash val="solid"/>
          </a:ln>
        </p:spPr>
        <p:txBody>
          <a:bodyPr/>
          <a:lstStyle/>
          <a:p>
            <a:endParaRPr lang="en-IN" dirty="0"/>
          </a:p>
        </p:txBody>
      </p:sp>
      <p:sp>
        <p:nvSpPr>
          <p:cNvPr id="35" name="Text 33"/>
          <p:cNvSpPr/>
          <p:nvPr/>
        </p:nvSpPr>
        <p:spPr>
          <a:xfrm>
            <a:off x="4864608" y="1847088"/>
            <a:ext cx="1600200" cy="274320"/>
          </a:xfrm>
          <a:prstGeom prst="rect">
            <a:avLst/>
          </a:prstGeom>
          <a:noFill/>
          <a:ln/>
        </p:spPr>
        <p:txBody>
          <a:bodyPr wrap="square" rtlCol="0" anchor="ctr"/>
          <a:lstStyle/>
          <a:p>
            <a:pPr marL="0" indent="0">
              <a:buNone/>
            </a:pPr>
            <a:r>
              <a:rPr lang="en-US" sz="950" b="1" dirty="0">
                <a:solidFill>
                  <a:srgbClr val="1A1A2E"/>
                </a:solidFill>
              </a:rPr>
              <a:t>Cost</a:t>
            </a:r>
            <a:endParaRPr lang="en-US" sz="950" dirty="0"/>
          </a:p>
        </p:txBody>
      </p:sp>
      <p:sp>
        <p:nvSpPr>
          <p:cNvPr id="36" name="Text 34"/>
          <p:cNvSpPr/>
          <p:nvPr/>
        </p:nvSpPr>
        <p:spPr>
          <a:xfrm>
            <a:off x="6492240" y="1847088"/>
            <a:ext cx="2286000" cy="274320"/>
          </a:xfrm>
          <a:prstGeom prst="rect">
            <a:avLst/>
          </a:prstGeom>
          <a:noFill/>
          <a:ln/>
        </p:spPr>
        <p:txBody>
          <a:bodyPr wrap="square" rtlCol="0" anchor="ctr"/>
          <a:lstStyle/>
          <a:p>
            <a:pPr marL="0" indent="0">
              <a:buNone/>
            </a:pPr>
            <a:r>
              <a:rPr lang="en-US" sz="900" i="1" dirty="0">
                <a:solidFill>
                  <a:srgbClr val="666688"/>
                </a:solidFill>
              </a:rPr>
              <a:t>Manufacturing/sourcing cost — used to compute gross profit</a:t>
            </a:r>
            <a:endParaRPr lang="en-US" sz="900" dirty="0"/>
          </a:p>
        </p:txBody>
      </p:sp>
      <p:sp>
        <p:nvSpPr>
          <p:cNvPr id="37" name="Shape 35"/>
          <p:cNvSpPr/>
          <p:nvPr/>
        </p:nvSpPr>
        <p:spPr>
          <a:xfrm>
            <a:off x="4754880" y="2212848"/>
            <a:ext cx="4114800" cy="347472"/>
          </a:xfrm>
          <a:prstGeom prst="rect">
            <a:avLst/>
          </a:prstGeom>
          <a:solidFill>
            <a:srgbClr val="F0F0FA"/>
          </a:solidFill>
          <a:ln w="12700">
            <a:solidFill>
              <a:srgbClr val="E0E0EE"/>
            </a:solidFill>
            <a:prstDash val="solid"/>
          </a:ln>
        </p:spPr>
        <p:txBody>
          <a:bodyPr/>
          <a:lstStyle/>
          <a:p>
            <a:endParaRPr lang="en-IN" dirty="0"/>
          </a:p>
        </p:txBody>
      </p:sp>
      <p:sp>
        <p:nvSpPr>
          <p:cNvPr id="38" name="Shape 36"/>
          <p:cNvSpPr/>
          <p:nvPr/>
        </p:nvSpPr>
        <p:spPr>
          <a:xfrm>
            <a:off x="4754880" y="2212848"/>
            <a:ext cx="45720" cy="347472"/>
          </a:xfrm>
          <a:prstGeom prst="rect">
            <a:avLst/>
          </a:prstGeom>
          <a:solidFill>
            <a:srgbClr val="6C63FF"/>
          </a:solidFill>
          <a:ln w="12700">
            <a:solidFill>
              <a:srgbClr val="6C63FF"/>
            </a:solidFill>
            <a:prstDash val="solid"/>
          </a:ln>
        </p:spPr>
        <p:txBody>
          <a:bodyPr/>
          <a:lstStyle/>
          <a:p>
            <a:endParaRPr lang="en-IN" dirty="0"/>
          </a:p>
        </p:txBody>
      </p:sp>
      <p:sp>
        <p:nvSpPr>
          <p:cNvPr id="39" name="Text 37"/>
          <p:cNvSpPr/>
          <p:nvPr/>
        </p:nvSpPr>
        <p:spPr>
          <a:xfrm>
            <a:off x="4864608" y="2249424"/>
            <a:ext cx="1600200" cy="274320"/>
          </a:xfrm>
          <a:prstGeom prst="rect">
            <a:avLst/>
          </a:prstGeom>
          <a:noFill/>
          <a:ln/>
        </p:spPr>
        <p:txBody>
          <a:bodyPr wrap="square" rtlCol="0" anchor="ctr"/>
          <a:lstStyle/>
          <a:p>
            <a:pPr marL="0" indent="0">
              <a:buNone/>
            </a:pPr>
            <a:r>
              <a:rPr lang="en-US" sz="950" b="1" dirty="0">
                <a:solidFill>
                  <a:srgbClr val="1A1A2E"/>
                </a:solidFill>
              </a:rPr>
              <a:t>Gross Profit</a:t>
            </a:r>
            <a:endParaRPr lang="en-US" sz="950" dirty="0"/>
          </a:p>
        </p:txBody>
      </p:sp>
      <p:sp>
        <p:nvSpPr>
          <p:cNvPr id="40" name="Text 38"/>
          <p:cNvSpPr/>
          <p:nvPr/>
        </p:nvSpPr>
        <p:spPr>
          <a:xfrm>
            <a:off x="6492240" y="2249424"/>
            <a:ext cx="2286000" cy="274320"/>
          </a:xfrm>
          <a:prstGeom prst="rect">
            <a:avLst/>
          </a:prstGeom>
          <a:noFill/>
          <a:ln/>
        </p:spPr>
        <p:txBody>
          <a:bodyPr wrap="square" rtlCol="0" anchor="ctr"/>
          <a:lstStyle/>
          <a:p>
            <a:pPr marL="0" indent="0">
              <a:buNone/>
            </a:pPr>
            <a:r>
              <a:rPr lang="en-US" sz="900" i="1" dirty="0">
                <a:solidFill>
                  <a:srgbClr val="666688"/>
                </a:solidFill>
              </a:rPr>
              <a:t>Sales minus Cost — core profitability metric</a:t>
            </a:r>
            <a:endParaRPr lang="en-US" sz="900" dirty="0"/>
          </a:p>
        </p:txBody>
      </p:sp>
      <p:sp>
        <p:nvSpPr>
          <p:cNvPr id="41" name="Shape 39"/>
          <p:cNvSpPr/>
          <p:nvPr/>
        </p:nvSpPr>
        <p:spPr>
          <a:xfrm>
            <a:off x="4754880" y="2615184"/>
            <a:ext cx="4114800" cy="347472"/>
          </a:xfrm>
          <a:prstGeom prst="rect">
            <a:avLst/>
          </a:prstGeom>
          <a:solidFill>
            <a:srgbClr val="FFFFFF"/>
          </a:solidFill>
          <a:ln w="12700">
            <a:solidFill>
              <a:srgbClr val="E0E0EE"/>
            </a:solidFill>
            <a:prstDash val="solid"/>
          </a:ln>
        </p:spPr>
        <p:txBody>
          <a:bodyPr/>
          <a:lstStyle/>
          <a:p>
            <a:endParaRPr lang="en-IN" dirty="0"/>
          </a:p>
        </p:txBody>
      </p:sp>
      <p:sp>
        <p:nvSpPr>
          <p:cNvPr id="42" name="Shape 40"/>
          <p:cNvSpPr/>
          <p:nvPr/>
        </p:nvSpPr>
        <p:spPr>
          <a:xfrm>
            <a:off x="4754880" y="2615184"/>
            <a:ext cx="45720" cy="347472"/>
          </a:xfrm>
          <a:prstGeom prst="rect">
            <a:avLst/>
          </a:prstGeom>
          <a:solidFill>
            <a:srgbClr val="6C63FF"/>
          </a:solidFill>
          <a:ln w="12700">
            <a:solidFill>
              <a:srgbClr val="6C63FF"/>
            </a:solidFill>
            <a:prstDash val="solid"/>
          </a:ln>
        </p:spPr>
        <p:txBody>
          <a:bodyPr/>
          <a:lstStyle/>
          <a:p>
            <a:endParaRPr lang="en-IN" dirty="0"/>
          </a:p>
        </p:txBody>
      </p:sp>
      <p:sp>
        <p:nvSpPr>
          <p:cNvPr id="43" name="Text 41"/>
          <p:cNvSpPr/>
          <p:nvPr/>
        </p:nvSpPr>
        <p:spPr>
          <a:xfrm>
            <a:off x="4864608" y="2651760"/>
            <a:ext cx="1600200" cy="274320"/>
          </a:xfrm>
          <a:prstGeom prst="rect">
            <a:avLst/>
          </a:prstGeom>
          <a:noFill/>
          <a:ln/>
        </p:spPr>
        <p:txBody>
          <a:bodyPr wrap="square" rtlCol="0" anchor="ctr"/>
          <a:lstStyle/>
          <a:p>
            <a:pPr marL="0" indent="0">
              <a:buNone/>
            </a:pPr>
            <a:r>
              <a:rPr lang="en-US" sz="950" b="1" dirty="0">
                <a:solidFill>
                  <a:srgbClr val="1A1A2E"/>
                </a:solidFill>
              </a:rPr>
              <a:t>Units</a:t>
            </a:r>
            <a:endParaRPr lang="en-US" sz="950" dirty="0"/>
          </a:p>
        </p:txBody>
      </p:sp>
      <p:sp>
        <p:nvSpPr>
          <p:cNvPr id="44" name="Text 42"/>
          <p:cNvSpPr/>
          <p:nvPr/>
        </p:nvSpPr>
        <p:spPr>
          <a:xfrm>
            <a:off x="6492240" y="2651760"/>
            <a:ext cx="2286000" cy="274320"/>
          </a:xfrm>
          <a:prstGeom prst="rect">
            <a:avLst/>
          </a:prstGeom>
          <a:noFill/>
          <a:ln/>
        </p:spPr>
        <p:txBody>
          <a:bodyPr wrap="square" rtlCol="0" anchor="ctr"/>
          <a:lstStyle/>
          <a:p>
            <a:pPr marL="0" indent="0">
              <a:buNone/>
            </a:pPr>
            <a:r>
              <a:rPr lang="en-US" sz="900" i="1" dirty="0">
                <a:solidFill>
                  <a:srgbClr val="666688"/>
                </a:solidFill>
              </a:rPr>
              <a:t>Volume sold — used to compute profit-per-unit efficiency</a:t>
            </a:r>
            <a:endParaRPr lang="en-US" sz="900" dirty="0"/>
          </a:p>
        </p:txBody>
      </p:sp>
      <p:sp>
        <p:nvSpPr>
          <p:cNvPr id="45" name="Text 43"/>
          <p:cNvSpPr/>
          <p:nvPr/>
        </p:nvSpPr>
        <p:spPr>
          <a:xfrm>
            <a:off x="8046720" y="4800600"/>
            <a:ext cx="914400" cy="228600"/>
          </a:xfrm>
          <a:prstGeom prst="rect">
            <a:avLst/>
          </a:prstGeom>
          <a:noFill/>
          <a:ln/>
        </p:spPr>
        <p:txBody>
          <a:bodyPr wrap="square" rtlCol="0" anchor="ctr"/>
          <a:lstStyle/>
          <a:p>
            <a:pPr marL="0" indent="0" algn="r">
              <a:buNone/>
            </a:pPr>
            <a:r>
              <a:rPr lang="en-US" sz="800" dirty="0">
                <a:solidFill>
                  <a:srgbClr val="999999"/>
                </a:solidFill>
              </a:rPr>
              <a:t>4 / 12</a:t>
            </a:r>
            <a:endParaRPr lang="en-US" sz="800" dirty="0"/>
          </a:p>
        </p:txBody>
      </p:sp>
      <p:sp>
        <p:nvSpPr>
          <p:cNvPr id="46" name="Text 44"/>
          <p:cNvSpPr/>
          <p:nvPr/>
        </p:nvSpPr>
        <p:spPr>
          <a:xfrm>
            <a:off x="457200" y="4800600"/>
            <a:ext cx="5486400" cy="228600"/>
          </a:xfrm>
          <a:prstGeom prst="rect">
            <a:avLst/>
          </a:prstGeom>
          <a:noFill/>
          <a:ln/>
        </p:spPr>
        <p:txBody>
          <a:bodyPr wrap="square" rtlCol="0" anchor="ctr"/>
          <a:lstStyle/>
          <a:p>
            <a:pPr marL="0" indent="0" algn="l">
              <a:buNone/>
            </a:pPr>
            <a:r>
              <a:rPr lang="en-US" sz="800" dirty="0">
                <a:solidFill>
                  <a:srgbClr val="999999"/>
                </a:solidFill>
              </a:rPr>
              <a:t>Nassau Candy Distributor · Profitability Analysis</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4FB"/>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7B4F2E"/>
          </a:solidFill>
          <a:ln w="12700">
            <a:solidFill>
              <a:srgbClr val="7B4F2E"/>
            </a:solidFill>
            <a:prstDash val="solid"/>
          </a:ln>
        </p:spPr>
        <p:txBody>
          <a:bodyPr/>
          <a:lstStyle/>
          <a:p>
            <a:endParaRPr lang="en-IN" dirty="0"/>
          </a:p>
        </p:txBody>
      </p:sp>
      <p:sp>
        <p:nvSpPr>
          <p:cNvPr id="3" name="Text 1"/>
          <p:cNvSpPr/>
          <p:nvPr/>
        </p:nvSpPr>
        <p:spPr>
          <a:xfrm>
            <a:off x="7772400" y="137160"/>
            <a:ext cx="1280160" cy="822960"/>
          </a:xfrm>
          <a:prstGeom prst="rect">
            <a:avLst/>
          </a:prstGeom>
          <a:noFill/>
          <a:ln/>
        </p:spPr>
        <p:txBody>
          <a:bodyPr wrap="square" rtlCol="0" anchor="ctr"/>
          <a:lstStyle/>
          <a:p>
            <a:pPr marL="0" indent="0" algn="r">
              <a:buNone/>
            </a:pPr>
            <a:r>
              <a:rPr lang="en-US" sz="5200" b="1" dirty="0">
                <a:solidFill>
                  <a:srgbClr val="E8D8C8"/>
                </a:solidFill>
                <a:latin typeface="Times New Roman" pitchFamily="34" charset="0"/>
                <a:ea typeface="Times New Roman" pitchFamily="34" charset="-122"/>
                <a:cs typeface="Times New Roman" pitchFamily="34" charset="-120"/>
              </a:rPr>
              <a:t>02</a:t>
            </a:r>
            <a:endParaRPr lang="en-US" sz="5200" dirty="0"/>
          </a:p>
        </p:txBody>
      </p:sp>
      <p:sp>
        <p:nvSpPr>
          <p:cNvPr id="4" name="Text 2"/>
          <p:cNvSpPr/>
          <p:nvPr/>
        </p:nvSpPr>
        <p:spPr>
          <a:xfrm>
            <a:off x="320040" y="256032"/>
            <a:ext cx="7315200" cy="502920"/>
          </a:xfrm>
          <a:prstGeom prst="rect">
            <a:avLst/>
          </a:prstGeom>
          <a:noFill/>
          <a:ln/>
        </p:spPr>
        <p:txBody>
          <a:bodyPr wrap="square" rtlCol="0" anchor="ctr"/>
          <a:lstStyle/>
          <a:p>
            <a:pPr marL="0" indent="0">
              <a:buNone/>
            </a:pPr>
            <a:r>
              <a:rPr lang="en-US" sz="3000" b="1" dirty="0">
                <a:solidFill>
                  <a:srgbClr val="1A1A2E"/>
                </a:solidFill>
                <a:latin typeface="Georgia" pitchFamily="34" charset="0"/>
                <a:ea typeface="Georgia" pitchFamily="34" charset="-122"/>
                <a:cs typeface="Georgia" pitchFamily="34" charset="-120"/>
              </a:rPr>
              <a:t>Problem Statement</a:t>
            </a:r>
            <a:endParaRPr lang="en-US" sz="3000" dirty="0"/>
          </a:p>
        </p:txBody>
      </p:sp>
      <p:sp>
        <p:nvSpPr>
          <p:cNvPr id="5" name="Text 3"/>
          <p:cNvSpPr/>
          <p:nvPr/>
        </p:nvSpPr>
        <p:spPr>
          <a:xfrm>
            <a:off x="320040" y="731520"/>
            <a:ext cx="7315200" cy="274320"/>
          </a:xfrm>
          <a:prstGeom prst="rect">
            <a:avLst/>
          </a:prstGeom>
          <a:noFill/>
          <a:ln/>
        </p:spPr>
        <p:txBody>
          <a:bodyPr wrap="square" rtlCol="0" anchor="ctr"/>
          <a:lstStyle/>
          <a:p>
            <a:pPr marL="0" indent="0">
              <a:buNone/>
            </a:pPr>
            <a:r>
              <a:rPr lang="en-US" sz="1200" i="1" dirty="0">
                <a:solidFill>
                  <a:srgbClr val="666688"/>
                </a:solidFill>
              </a:rPr>
              <a:t>Why sales volume alone is a misleading success metric</a:t>
            </a:r>
            <a:endParaRPr lang="en-US" sz="1200" dirty="0"/>
          </a:p>
        </p:txBody>
      </p:sp>
      <p:sp>
        <p:nvSpPr>
          <p:cNvPr id="6" name="Shape 4"/>
          <p:cNvSpPr/>
          <p:nvPr/>
        </p:nvSpPr>
        <p:spPr>
          <a:xfrm>
            <a:off x="320040" y="1097280"/>
            <a:ext cx="8458200" cy="640080"/>
          </a:xfrm>
          <a:prstGeom prst="rect">
            <a:avLst/>
          </a:prstGeom>
          <a:solidFill>
            <a:srgbClr val="FFF3E0"/>
          </a:solidFill>
          <a:ln w="12700">
            <a:solidFill>
              <a:srgbClr val="E8963A"/>
            </a:solidFill>
            <a:prstDash val="solid"/>
          </a:ln>
          <a:effectLst>
            <a:outerShdw blurRad="101600" dist="38100" dir="8100000" algn="bl" rotWithShape="0">
              <a:srgbClr val="000000">
                <a:alpha val="12000"/>
              </a:srgbClr>
            </a:outerShdw>
          </a:effectLst>
        </p:spPr>
        <p:txBody>
          <a:bodyPr/>
          <a:lstStyle/>
          <a:p>
            <a:endParaRPr lang="en-IN" dirty="0"/>
          </a:p>
        </p:txBody>
      </p:sp>
      <p:sp>
        <p:nvSpPr>
          <p:cNvPr id="7" name="Shape 5"/>
          <p:cNvSpPr/>
          <p:nvPr/>
        </p:nvSpPr>
        <p:spPr>
          <a:xfrm>
            <a:off x="320040" y="1097280"/>
            <a:ext cx="54864" cy="640080"/>
          </a:xfrm>
          <a:prstGeom prst="rect">
            <a:avLst/>
          </a:prstGeom>
          <a:solidFill>
            <a:srgbClr val="E8963A"/>
          </a:solidFill>
          <a:ln w="12700">
            <a:solidFill>
              <a:srgbClr val="E8963A"/>
            </a:solidFill>
            <a:prstDash val="solid"/>
          </a:ln>
        </p:spPr>
        <p:txBody>
          <a:bodyPr/>
          <a:lstStyle/>
          <a:p>
            <a:endParaRPr lang="en-IN" dirty="0"/>
          </a:p>
        </p:txBody>
      </p:sp>
      <p:sp>
        <p:nvSpPr>
          <p:cNvPr id="8" name="Text 6"/>
          <p:cNvSpPr/>
          <p:nvPr/>
        </p:nvSpPr>
        <p:spPr>
          <a:xfrm>
            <a:off x="502920" y="1152144"/>
            <a:ext cx="2103120" cy="274320"/>
          </a:xfrm>
          <a:prstGeom prst="rect">
            <a:avLst/>
          </a:prstGeom>
          <a:noFill/>
          <a:ln/>
        </p:spPr>
        <p:txBody>
          <a:bodyPr wrap="square" rtlCol="0" anchor="ctr"/>
          <a:lstStyle/>
          <a:p>
            <a:pPr marL="0" indent="0">
              <a:buNone/>
            </a:pPr>
            <a:r>
              <a:rPr lang="en-US" sz="1100" b="1" dirty="0">
                <a:solidFill>
                  <a:srgbClr val="7B4F2E"/>
                </a:solidFill>
              </a:rPr>
              <a:t>⚠️  Core Challenge:</a:t>
            </a:r>
            <a:endParaRPr lang="en-US" sz="1100" dirty="0"/>
          </a:p>
        </p:txBody>
      </p:sp>
      <p:sp>
        <p:nvSpPr>
          <p:cNvPr id="9" name="Text 7"/>
          <p:cNvSpPr/>
          <p:nvPr/>
        </p:nvSpPr>
        <p:spPr>
          <a:xfrm>
            <a:off x="502920" y="1417320"/>
            <a:ext cx="8138160" cy="256032"/>
          </a:xfrm>
          <a:prstGeom prst="rect">
            <a:avLst/>
          </a:prstGeom>
          <a:noFill/>
          <a:ln/>
        </p:spPr>
        <p:txBody>
          <a:bodyPr wrap="square" rtlCol="0" anchor="ctr"/>
          <a:lstStyle/>
          <a:p>
            <a:pPr marL="0" indent="0">
              <a:buNone/>
            </a:pPr>
            <a:r>
              <a:rPr lang="en-US" sz="1100" dirty="0">
                <a:solidFill>
                  <a:srgbClr val="12122A"/>
                </a:solidFill>
              </a:rPr>
              <a:t>The organization currently lacks visibility into which product lines actually generate profit vs. which merely generate revenue.</a:t>
            </a:r>
            <a:endParaRPr lang="en-US" sz="1100" dirty="0"/>
          </a:p>
        </p:txBody>
      </p:sp>
      <p:sp>
        <p:nvSpPr>
          <p:cNvPr id="10" name="Shape 8"/>
          <p:cNvSpPr/>
          <p:nvPr/>
        </p:nvSpPr>
        <p:spPr>
          <a:xfrm>
            <a:off x="320040" y="1920240"/>
            <a:ext cx="2011680" cy="2834640"/>
          </a:xfrm>
          <a:prstGeom prst="rect">
            <a:avLst/>
          </a:prstGeom>
          <a:solidFill>
            <a:srgbClr val="FFFFFF"/>
          </a:solidFill>
          <a:ln w="12700">
            <a:solidFill>
              <a:srgbClr val="E0E0EE"/>
            </a:solidFill>
            <a:prstDash val="solid"/>
          </a:ln>
          <a:effectLst>
            <a:outerShdw blurRad="101600" dist="38100" dir="8100000" algn="bl" rotWithShape="0">
              <a:srgbClr val="000000">
                <a:alpha val="12000"/>
              </a:srgbClr>
            </a:outerShdw>
          </a:effectLst>
        </p:spPr>
        <p:txBody>
          <a:bodyPr/>
          <a:lstStyle/>
          <a:p>
            <a:endParaRPr lang="en-IN" dirty="0"/>
          </a:p>
        </p:txBody>
      </p:sp>
      <p:sp>
        <p:nvSpPr>
          <p:cNvPr id="11" name="Shape 9"/>
          <p:cNvSpPr/>
          <p:nvPr/>
        </p:nvSpPr>
        <p:spPr>
          <a:xfrm>
            <a:off x="320040" y="1920240"/>
            <a:ext cx="2011680" cy="54864"/>
          </a:xfrm>
          <a:prstGeom prst="rect">
            <a:avLst/>
          </a:prstGeom>
          <a:solidFill>
            <a:srgbClr val="7B4F2E"/>
          </a:solidFill>
          <a:ln w="12700">
            <a:solidFill>
              <a:srgbClr val="7B4F2E"/>
            </a:solidFill>
            <a:prstDash val="solid"/>
          </a:ln>
        </p:spPr>
        <p:txBody>
          <a:bodyPr/>
          <a:lstStyle/>
          <a:p>
            <a:endParaRPr lang="en-IN" dirty="0"/>
          </a:p>
        </p:txBody>
      </p:sp>
      <p:sp>
        <p:nvSpPr>
          <p:cNvPr id="12" name="Text 10"/>
          <p:cNvSpPr/>
          <p:nvPr/>
        </p:nvSpPr>
        <p:spPr>
          <a:xfrm>
            <a:off x="320040" y="2029968"/>
            <a:ext cx="2011680" cy="45720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13" name="Text 11"/>
          <p:cNvSpPr/>
          <p:nvPr/>
        </p:nvSpPr>
        <p:spPr>
          <a:xfrm>
            <a:off x="411480" y="2542032"/>
            <a:ext cx="1828800" cy="548640"/>
          </a:xfrm>
          <a:prstGeom prst="rect">
            <a:avLst/>
          </a:prstGeom>
          <a:noFill/>
          <a:ln/>
        </p:spPr>
        <p:txBody>
          <a:bodyPr wrap="square" rtlCol="0" anchor="ctr"/>
          <a:lstStyle/>
          <a:p>
            <a:pPr marL="0" indent="0" algn="ctr">
              <a:buNone/>
            </a:pPr>
            <a:r>
              <a:rPr lang="en-US" sz="1100" b="1" dirty="0">
                <a:solidFill>
                  <a:srgbClr val="1A1A2E"/>
                </a:solidFill>
              </a:rPr>
              <a:t>High-Volume,</a:t>
            </a:r>
            <a:endParaRPr lang="en-US" sz="1100" dirty="0"/>
          </a:p>
          <a:p>
            <a:pPr marL="0" indent="0" algn="ctr">
              <a:buNone/>
            </a:pPr>
            <a:r>
              <a:rPr lang="en-US" sz="1100" b="1" dirty="0">
                <a:solidFill>
                  <a:srgbClr val="1A1A2E"/>
                </a:solidFill>
              </a:rPr>
              <a:t>Low-Profit Products</a:t>
            </a:r>
            <a:endParaRPr lang="en-US" sz="1100" dirty="0"/>
          </a:p>
        </p:txBody>
      </p:sp>
      <p:sp>
        <p:nvSpPr>
          <p:cNvPr id="14" name="Text 12"/>
          <p:cNvSpPr/>
          <p:nvPr/>
        </p:nvSpPr>
        <p:spPr>
          <a:xfrm>
            <a:off x="411480" y="3154680"/>
            <a:ext cx="1828800" cy="1371600"/>
          </a:xfrm>
          <a:prstGeom prst="rect">
            <a:avLst/>
          </a:prstGeom>
          <a:noFill/>
          <a:ln/>
        </p:spPr>
        <p:txBody>
          <a:bodyPr wrap="square" rtlCol="0" anchor="ctr"/>
          <a:lstStyle/>
          <a:p>
            <a:pPr marL="0" indent="0" algn="ctr">
              <a:lnSpc>
                <a:spcPct val="130000"/>
              </a:lnSpc>
              <a:buNone/>
            </a:pPr>
            <a:r>
              <a:rPr lang="en-US" sz="950" dirty="0">
                <a:solidFill>
                  <a:srgbClr val="666688"/>
                </a:solidFill>
              </a:rPr>
              <a:t>A subset of high-volume products operate near break-even, distorting overall performance metrics.</a:t>
            </a:r>
            <a:endParaRPr lang="en-US" sz="950" dirty="0"/>
          </a:p>
        </p:txBody>
      </p:sp>
      <p:sp>
        <p:nvSpPr>
          <p:cNvPr id="15" name="Shape 13"/>
          <p:cNvSpPr/>
          <p:nvPr/>
        </p:nvSpPr>
        <p:spPr>
          <a:xfrm>
            <a:off x="2468880" y="1920240"/>
            <a:ext cx="2011680" cy="2834640"/>
          </a:xfrm>
          <a:prstGeom prst="rect">
            <a:avLst/>
          </a:prstGeom>
          <a:solidFill>
            <a:srgbClr val="FFFFFF"/>
          </a:solidFill>
          <a:ln w="12700">
            <a:solidFill>
              <a:srgbClr val="E0E0EE"/>
            </a:solidFill>
            <a:prstDash val="solid"/>
          </a:ln>
          <a:effectLst>
            <a:outerShdw blurRad="101600" dist="38100" dir="8100000" algn="bl" rotWithShape="0">
              <a:srgbClr val="000000">
                <a:alpha val="12000"/>
              </a:srgbClr>
            </a:outerShdw>
          </a:effectLst>
        </p:spPr>
        <p:txBody>
          <a:bodyPr/>
          <a:lstStyle/>
          <a:p>
            <a:endParaRPr lang="en-IN" dirty="0"/>
          </a:p>
        </p:txBody>
      </p:sp>
      <p:sp>
        <p:nvSpPr>
          <p:cNvPr id="16" name="Shape 14"/>
          <p:cNvSpPr/>
          <p:nvPr/>
        </p:nvSpPr>
        <p:spPr>
          <a:xfrm>
            <a:off x="2468880" y="1920240"/>
            <a:ext cx="2011680" cy="54864"/>
          </a:xfrm>
          <a:prstGeom prst="rect">
            <a:avLst/>
          </a:prstGeom>
          <a:solidFill>
            <a:srgbClr val="7B4F2E"/>
          </a:solidFill>
          <a:ln w="12700">
            <a:solidFill>
              <a:srgbClr val="7B4F2E"/>
            </a:solidFill>
            <a:prstDash val="solid"/>
          </a:ln>
        </p:spPr>
        <p:txBody>
          <a:bodyPr/>
          <a:lstStyle/>
          <a:p>
            <a:endParaRPr lang="en-IN" dirty="0"/>
          </a:p>
        </p:txBody>
      </p:sp>
      <p:sp>
        <p:nvSpPr>
          <p:cNvPr id="17" name="Text 15"/>
          <p:cNvSpPr/>
          <p:nvPr/>
        </p:nvSpPr>
        <p:spPr>
          <a:xfrm>
            <a:off x="2468880" y="2029968"/>
            <a:ext cx="2011680" cy="45720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18" name="Text 16"/>
          <p:cNvSpPr/>
          <p:nvPr/>
        </p:nvSpPr>
        <p:spPr>
          <a:xfrm>
            <a:off x="2560320" y="2542032"/>
            <a:ext cx="1828800" cy="548640"/>
          </a:xfrm>
          <a:prstGeom prst="rect">
            <a:avLst/>
          </a:prstGeom>
          <a:noFill/>
          <a:ln/>
        </p:spPr>
        <p:txBody>
          <a:bodyPr wrap="square" rtlCol="0" anchor="ctr"/>
          <a:lstStyle/>
          <a:p>
            <a:pPr marL="0" indent="0" algn="ctr">
              <a:buNone/>
            </a:pPr>
            <a:r>
              <a:rPr lang="en-US" sz="1100" b="1" dirty="0">
                <a:solidFill>
                  <a:srgbClr val="1A1A2E"/>
                </a:solidFill>
              </a:rPr>
              <a:t>No Margin</a:t>
            </a:r>
            <a:endParaRPr lang="en-US" sz="1100" dirty="0"/>
          </a:p>
          <a:p>
            <a:pPr marL="0" indent="0" algn="ctr">
              <a:buNone/>
            </a:pPr>
            <a:r>
              <a:rPr lang="en-US" sz="1100" b="1" dirty="0">
                <a:solidFill>
                  <a:srgbClr val="1A1A2E"/>
                </a:solidFill>
              </a:rPr>
              <a:t>Visibility</a:t>
            </a:r>
            <a:endParaRPr lang="en-US" sz="1100" dirty="0"/>
          </a:p>
        </p:txBody>
      </p:sp>
      <p:sp>
        <p:nvSpPr>
          <p:cNvPr id="19" name="Text 17"/>
          <p:cNvSpPr/>
          <p:nvPr/>
        </p:nvSpPr>
        <p:spPr>
          <a:xfrm>
            <a:off x="2560320" y="3154680"/>
            <a:ext cx="1828800" cy="1371600"/>
          </a:xfrm>
          <a:prstGeom prst="rect">
            <a:avLst/>
          </a:prstGeom>
          <a:noFill/>
          <a:ln/>
        </p:spPr>
        <p:txBody>
          <a:bodyPr wrap="square" rtlCol="0" anchor="ctr"/>
          <a:lstStyle/>
          <a:p>
            <a:pPr marL="0" indent="0" algn="ctr">
              <a:lnSpc>
                <a:spcPct val="130000"/>
              </a:lnSpc>
              <a:buNone/>
            </a:pPr>
            <a:r>
              <a:rPr lang="en-US" sz="950" dirty="0">
                <a:solidFill>
                  <a:srgbClr val="666688"/>
                </a:solidFill>
              </a:rPr>
              <a:t>Without product-level margin data, pricing and promotional decisions lack a reliable profitability signal.</a:t>
            </a:r>
            <a:endParaRPr lang="en-US" sz="950" dirty="0"/>
          </a:p>
        </p:txBody>
      </p:sp>
      <p:sp>
        <p:nvSpPr>
          <p:cNvPr id="20" name="Shape 18"/>
          <p:cNvSpPr/>
          <p:nvPr/>
        </p:nvSpPr>
        <p:spPr>
          <a:xfrm>
            <a:off x="4617720" y="1920240"/>
            <a:ext cx="2011680" cy="2834640"/>
          </a:xfrm>
          <a:prstGeom prst="rect">
            <a:avLst/>
          </a:prstGeom>
          <a:solidFill>
            <a:srgbClr val="FFFFFF"/>
          </a:solidFill>
          <a:ln w="12700">
            <a:solidFill>
              <a:srgbClr val="E0E0EE"/>
            </a:solidFill>
            <a:prstDash val="solid"/>
          </a:ln>
          <a:effectLst>
            <a:outerShdw blurRad="101600" dist="38100" dir="8100000" algn="bl" rotWithShape="0">
              <a:srgbClr val="000000">
                <a:alpha val="12000"/>
              </a:srgbClr>
            </a:outerShdw>
          </a:effectLst>
        </p:spPr>
        <p:txBody>
          <a:bodyPr/>
          <a:lstStyle/>
          <a:p>
            <a:endParaRPr lang="en-IN" dirty="0"/>
          </a:p>
        </p:txBody>
      </p:sp>
      <p:sp>
        <p:nvSpPr>
          <p:cNvPr id="21" name="Shape 19"/>
          <p:cNvSpPr/>
          <p:nvPr/>
        </p:nvSpPr>
        <p:spPr>
          <a:xfrm>
            <a:off x="4617720" y="1920240"/>
            <a:ext cx="2011680" cy="54864"/>
          </a:xfrm>
          <a:prstGeom prst="rect">
            <a:avLst/>
          </a:prstGeom>
          <a:solidFill>
            <a:srgbClr val="7B4F2E"/>
          </a:solidFill>
          <a:ln w="12700">
            <a:solidFill>
              <a:srgbClr val="7B4F2E"/>
            </a:solidFill>
            <a:prstDash val="solid"/>
          </a:ln>
        </p:spPr>
        <p:txBody>
          <a:bodyPr/>
          <a:lstStyle/>
          <a:p>
            <a:endParaRPr lang="en-IN" dirty="0"/>
          </a:p>
        </p:txBody>
      </p:sp>
      <p:sp>
        <p:nvSpPr>
          <p:cNvPr id="22" name="Text 20"/>
          <p:cNvSpPr/>
          <p:nvPr/>
        </p:nvSpPr>
        <p:spPr>
          <a:xfrm>
            <a:off x="4617720" y="2029968"/>
            <a:ext cx="2011680" cy="45720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23" name="Text 21"/>
          <p:cNvSpPr/>
          <p:nvPr/>
        </p:nvSpPr>
        <p:spPr>
          <a:xfrm>
            <a:off x="4709160" y="2542032"/>
            <a:ext cx="1828800" cy="548640"/>
          </a:xfrm>
          <a:prstGeom prst="rect">
            <a:avLst/>
          </a:prstGeom>
          <a:noFill/>
          <a:ln/>
        </p:spPr>
        <p:txBody>
          <a:bodyPr wrap="square" rtlCol="0" anchor="ctr"/>
          <a:lstStyle/>
          <a:p>
            <a:pPr marL="0" indent="0" algn="ctr">
              <a:buNone/>
            </a:pPr>
            <a:r>
              <a:rPr lang="en-US" sz="1100" b="1" dirty="0">
                <a:solidFill>
                  <a:srgbClr val="1A1A2E"/>
                </a:solidFill>
              </a:rPr>
              <a:t>Division</a:t>
            </a:r>
            <a:endParaRPr lang="en-US" sz="1100" dirty="0"/>
          </a:p>
          <a:p>
            <a:pPr marL="0" indent="0" algn="ctr">
              <a:buNone/>
            </a:pPr>
            <a:r>
              <a:rPr lang="en-US" sz="1100" b="1" dirty="0">
                <a:solidFill>
                  <a:srgbClr val="1A1A2E"/>
                </a:solidFill>
              </a:rPr>
              <a:t>Imbalance</a:t>
            </a:r>
            <a:endParaRPr lang="en-US" sz="1100" dirty="0"/>
          </a:p>
        </p:txBody>
      </p:sp>
      <p:sp>
        <p:nvSpPr>
          <p:cNvPr id="24" name="Text 22"/>
          <p:cNvSpPr/>
          <p:nvPr/>
        </p:nvSpPr>
        <p:spPr>
          <a:xfrm>
            <a:off x="4709160" y="3154680"/>
            <a:ext cx="1828800" cy="1371600"/>
          </a:xfrm>
          <a:prstGeom prst="rect">
            <a:avLst/>
          </a:prstGeom>
          <a:noFill/>
          <a:ln/>
        </p:spPr>
        <p:txBody>
          <a:bodyPr wrap="square" rtlCol="0" anchor="ctr"/>
          <a:lstStyle/>
          <a:p>
            <a:pPr marL="0" indent="0" algn="ctr">
              <a:lnSpc>
                <a:spcPct val="130000"/>
              </a:lnSpc>
              <a:buNone/>
            </a:pPr>
            <a:r>
              <a:rPr lang="en-US" sz="950" dirty="0">
                <a:solidFill>
                  <a:srgbClr val="666688"/>
                </a:solidFill>
              </a:rPr>
              <a:t>Profitability varies sharply across Chocolate, Sugar, and Other — no structured view exists.</a:t>
            </a:r>
            <a:endParaRPr lang="en-US" sz="950" dirty="0"/>
          </a:p>
        </p:txBody>
      </p:sp>
      <p:sp>
        <p:nvSpPr>
          <p:cNvPr id="25" name="Shape 23"/>
          <p:cNvSpPr/>
          <p:nvPr/>
        </p:nvSpPr>
        <p:spPr>
          <a:xfrm>
            <a:off x="6766560" y="1920240"/>
            <a:ext cx="2011680" cy="2834640"/>
          </a:xfrm>
          <a:prstGeom prst="rect">
            <a:avLst/>
          </a:prstGeom>
          <a:solidFill>
            <a:srgbClr val="FFFFFF"/>
          </a:solidFill>
          <a:ln w="12700">
            <a:solidFill>
              <a:srgbClr val="E0E0EE"/>
            </a:solidFill>
            <a:prstDash val="solid"/>
          </a:ln>
          <a:effectLst>
            <a:outerShdw blurRad="101600" dist="38100" dir="8100000" algn="bl" rotWithShape="0">
              <a:srgbClr val="000000">
                <a:alpha val="12000"/>
              </a:srgbClr>
            </a:outerShdw>
          </a:effectLst>
        </p:spPr>
        <p:txBody>
          <a:bodyPr/>
          <a:lstStyle/>
          <a:p>
            <a:endParaRPr lang="en-IN" dirty="0"/>
          </a:p>
        </p:txBody>
      </p:sp>
      <p:sp>
        <p:nvSpPr>
          <p:cNvPr id="26" name="Shape 24"/>
          <p:cNvSpPr/>
          <p:nvPr/>
        </p:nvSpPr>
        <p:spPr>
          <a:xfrm>
            <a:off x="6766560" y="1920240"/>
            <a:ext cx="2011680" cy="54864"/>
          </a:xfrm>
          <a:prstGeom prst="rect">
            <a:avLst/>
          </a:prstGeom>
          <a:solidFill>
            <a:srgbClr val="7B4F2E"/>
          </a:solidFill>
          <a:ln w="12700">
            <a:solidFill>
              <a:srgbClr val="7B4F2E"/>
            </a:solidFill>
            <a:prstDash val="solid"/>
          </a:ln>
        </p:spPr>
        <p:txBody>
          <a:bodyPr/>
          <a:lstStyle/>
          <a:p>
            <a:endParaRPr lang="en-IN" dirty="0"/>
          </a:p>
        </p:txBody>
      </p:sp>
      <p:sp>
        <p:nvSpPr>
          <p:cNvPr id="27" name="Text 25"/>
          <p:cNvSpPr/>
          <p:nvPr/>
        </p:nvSpPr>
        <p:spPr>
          <a:xfrm>
            <a:off x="6766560" y="2029968"/>
            <a:ext cx="2011680" cy="45720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28" name="Text 26"/>
          <p:cNvSpPr/>
          <p:nvPr/>
        </p:nvSpPr>
        <p:spPr>
          <a:xfrm>
            <a:off x="6858000" y="2542032"/>
            <a:ext cx="1828800" cy="548640"/>
          </a:xfrm>
          <a:prstGeom prst="rect">
            <a:avLst/>
          </a:prstGeom>
          <a:noFill/>
          <a:ln/>
        </p:spPr>
        <p:txBody>
          <a:bodyPr wrap="square" rtlCol="0" anchor="ctr"/>
          <a:lstStyle/>
          <a:p>
            <a:pPr marL="0" indent="0" algn="ctr">
              <a:buNone/>
            </a:pPr>
            <a:r>
              <a:rPr lang="en-US" sz="1100" b="1" dirty="0">
                <a:solidFill>
                  <a:srgbClr val="1A1A2E"/>
                </a:solidFill>
              </a:rPr>
              <a:t>Cost Structure</a:t>
            </a:r>
            <a:endParaRPr lang="en-US" sz="1100" dirty="0"/>
          </a:p>
          <a:p>
            <a:pPr marL="0" indent="0" algn="ctr">
              <a:buNone/>
            </a:pPr>
            <a:r>
              <a:rPr lang="en-US" sz="1100" b="1" dirty="0">
                <a:solidFill>
                  <a:srgbClr val="1A1A2E"/>
                </a:solidFill>
              </a:rPr>
              <a:t>Gaps</a:t>
            </a:r>
            <a:endParaRPr lang="en-US" sz="1100" dirty="0"/>
          </a:p>
        </p:txBody>
      </p:sp>
      <p:sp>
        <p:nvSpPr>
          <p:cNvPr id="29" name="Text 27"/>
          <p:cNvSpPr/>
          <p:nvPr/>
        </p:nvSpPr>
        <p:spPr>
          <a:xfrm>
            <a:off x="6858000" y="3154680"/>
            <a:ext cx="1828800" cy="1371600"/>
          </a:xfrm>
          <a:prstGeom prst="rect">
            <a:avLst/>
          </a:prstGeom>
          <a:noFill/>
          <a:ln/>
        </p:spPr>
        <p:txBody>
          <a:bodyPr wrap="square" rtlCol="0" anchor="ctr"/>
          <a:lstStyle/>
          <a:p>
            <a:pPr marL="0" indent="0" algn="ctr">
              <a:lnSpc>
                <a:spcPct val="130000"/>
              </a:lnSpc>
              <a:buNone/>
            </a:pPr>
            <a:r>
              <a:rPr lang="en-US" sz="950" dirty="0">
                <a:solidFill>
                  <a:srgbClr val="666688"/>
                </a:solidFill>
              </a:rPr>
              <a:t>Some products carry high-cost ratios (&gt;80%) that quietly erode overall portfolio margins.</a:t>
            </a:r>
            <a:endParaRPr lang="en-US" sz="950" dirty="0"/>
          </a:p>
        </p:txBody>
      </p:sp>
      <p:sp>
        <p:nvSpPr>
          <p:cNvPr id="30" name="Text 28"/>
          <p:cNvSpPr/>
          <p:nvPr/>
        </p:nvSpPr>
        <p:spPr>
          <a:xfrm>
            <a:off x="8046720" y="4800600"/>
            <a:ext cx="914400" cy="228600"/>
          </a:xfrm>
          <a:prstGeom prst="rect">
            <a:avLst/>
          </a:prstGeom>
          <a:noFill/>
          <a:ln/>
        </p:spPr>
        <p:txBody>
          <a:bodyPr wrap="square" rtlCol="0" anchor="ctr"/>
          <a:lstStyle/>
          <a:p>
            <a:pPr marL="0" indent="0" algn="r">
              <a:buNone/>
            </a:pPr>
            <a:r>
              <a:rPr lang="en-US" sz="800" dirty="0">
                <a:solidFill>
                  <a:srgbClr val="999999"/>
                </a:solidFill>
              </a:rPr>
              <a:t>5 / 12</a:t>
            </a:r>
            <a:endParaRPr lang="en-US" sz="800" dirty="0"/>
          </a:p>
        </p:txBody>
      </p:sp>
      <p:sp>
        <p:nvSpPr>
          <p:cNvPr id="31" name="Text 29"/>
          <p:cNvSpPr/>
          <p:nvPr/>
        </p:nvSpPr>
        <p:spPr>
          <a:xfrm>
            <a:off x="457200" y="4800600"/>
            <a:ext cx="5486400" cy="228600"/>
          </a:xfrm>
          <a:prstGeom prst="rect">
            <a:avLst/>
          </a:prstGeom>
          <a:noFill/>
          <a:ln/>
        </p:spPr>
        <p:txBody>
          <a:bodyPr wrap="square" rtlCol="0" anchor="ctr"/>
          <a:lstStyle/>
          <a:p>
            <a:pPr marL="0" indent="0" algn="l">
              <a:buNone/>
            </a:pPr>
            <a:r>
              <a:rPr lang="en-US" sz="800" dirty="0">
                <a:solidFill>
                  <a:srgbClr val="999999"/>
                </a:solidFill>
              </a:rPr>
              <a:t>Nassau Candy Distributor · Profitability Analysis</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28090"/>
          </a:solidFill>
          <a:ln w="12700">
            <a:solidFill>
              <a:srgbClr val="028090"/>
            </a:solidFill>
            <a:prstDash val="solid"/>
          </a:ln>
        </p:spPr>
        <p:txBody>
          <a:bodyPr/>
          <a:lstStyle/>
          <a:p>
            <a:endParaRPr lang="en-IN" dirty="0"/>
          </a:p>
        </p:txBody>
      </p:sp>
      <p:sp>
        <p:nvSpPr>
          <p:cNvPr id="3" name="Text 1"/>
          <p:cNvSpPr/>
          <p:nvPr/>
        </p:nvSpPr>
        <p:spPr>
          <a:xfrm>
            <a:off x="7772400" y="137160"/>
            <a:ext cx="1280160" cy="822960"/>
          </a:xfrm>
          <a:prstGeom prst="rect">
            <a:avLst/>
          </a:prstGeom>
          <a:noFill/>
          <a:ln/>
        </p:spPr>
        <p:txBody>
          <a:bodyPr wrap="square" rtlCol="0" anchor="ctr"/>
          <a:lstStyle/>
          <a:p>
            <a:pPr marL="0" indent="0" algn="r">
              <a:buNone/>
            </a:pPr>
            <a:r>
              <a:rPr lang="en-US" sz="5200" b="1" dirty="0">
                <a:solidFill>
                  <a:srgbClr val="1A3A3E"/>
                </a:solidFill>
                <a:latin typeface="Times New Roman" pitchFamily="34" charset="0"/>
                <a:ea typeface="Times New Roman" pitchFamily="34" charset="-122"/>
                <a:cs typeface="Times New Roman" pitchFamily="34" charset="-120"/>
              </a:rPr>
              <a:t>03</a:t>
            </a:r>
            <a:endParaRPr lang="en-US" sz="5200" dirty="0"/>
          </a:p>
        </p:txBody>
      </p:sp>
      <p:sp>
        <p:nvSpPr>
          <p:cNvPr id="4" name="Text 2"/>
          <p:cNvSpPr/>
          <p:nvPr/>
        </p:nvSpPr>
        <p:spPr>
          <a:xfrm>
            <a:off x="320040" y="274320"/>
            <a:ext cx="7315200" cy="502920"/>
          </a:xfrm>
          <a:prstGeom prst="rect">
            <a:avLst/>
          </a:prstGeom>
          <a:noFill/>
          <a:ln/>
        </p:spPr>
        <p:txBody>
          <a:bodyPr wrap="square"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Tools &amp; Technology</a:t>
            </a:r>
            <a:endParaRPr lang="en-US" sz="3000" dirty="0"/>
          </a:p>
        </p:txBody>
      </p:sp>
      <p:sp>
        <p:nvSpPr>
          <p:cNvPr id="5" name="Text 3"/>
          <p:cNvSpPr/>
          <p:nvPr/>
        </p:nvSpPr>
        <p:spPr>
          <a:xfrm>
            <a:off x="320040" y="777240"/>
            <a:ext cx="7315200" cy="274320"/>
          </a:xfrm>
          <a:prstGeom prst="rect">
            <a:avLst/>
          </a:prstGeom>
          <a:noFill/>
          <a:ln/>
        </p:spPr>
        <p:txBody>
          <a:bodyPr wrap="square" rtlCol="0" anchor="ctr"/>
          <a:lstStyle/>
          <a:p>
            <a:pPr marL="0" indent="0">
              <a:buNone/>
            </a:pPr>
            <a:r>
              <a:rPr lang="en-US" sz="1200" i="1" dirty="0">
                <a:solidFill>
                  <a:srgbClr val="8888BB"/>
                </a:solidFill>
              </a:rPr>
              <a:t>The analytical and engineering stack powering this project</a:t>
            </a:r>
            <a:endParaRPr lang="en-US" sz="1200" dirty="0"/>
          </a:p>
        </p:txBody>
      </p:sp>
      <p:sp>
        <p:nvSpPr>
          <p:cNvPr id="6" name="Shape 4"/>
          <p:cNvSpPr/>
          <p:nvPr/>
        </p:nvSpPr>
        <p:spPr>
          <a:xfrm>
            <a:off x="320040" y="1234440"/>
            <a:ext cx="4023360" cy="1115568"/>
          </a:xfrm>
          <a:prstGeom prst="rect">
            <a:avLst/>
          </a:prstGeom>
          <a:solidFill>
            <a:srgbClr val="12122A"/>
          </a:solidFill>
          <a:ln w="12700">
            <a:solidFill>
              <a:srgbClr val="2D2D60"/>
            </a:solidFill>
            <a:prstDash val="solid"/>
          </a:ln>
          <a:effectLst>
            <a:outerShdw blurRad="101600" dist="38100" dir="8100000" algn="bl" rotWithShape="0">
              <a:srgbClr val="000000">
                <a:alpha val="12000"/>
              </a:srgbClr>
            </a:outerShdw>
          </a:effectLst>
        </p:spPr>
        <p:txBody>
          <a:bodyPr/>
          <a:lstStyle/>
          <a:p>
            <a:endParaRPr lang="en-IN" dirty="0"/>
          </a:p>
        </p:txBody>
      </p:sp>
      <p:sp>
        <p:nvSpPr>
          <p:cNvPr id="7" name="Shape 5"/>
          <p:cNvSpPr/>
          <p:nvPr/>
        </p:nvSpPr>
        <p:spPr>
          <a:xfrm>
            <a:off x="320040" y="1234440"/>
            <a:ext cx="54864" cy="1115568"/>
          </a:xfrm>
          <a:prstGeom prst="rect">
            <a:avLst/>
          </a:prstGeom>
          <a:solidFill>
            <a:srgbClr val="E8963A"/>
          </a:solidFill>
          <a:ln w="12700">
            <a:solidFill>
              <a:srgbClr val="E8963A"/>
            </a:solidFill>
            <a:prstDash val="solid"/>
          </a:ln>
        </p:spPr>
        <p:txBody>
          <a:bodyPr/>
          <a:lstStyle/>
          <a:p>
            <a:endParaRPr lang="en-IN" dirty="0"/>
          </a:p>
        </p:txBody>
      </p:sp>
      <p:sp>
        <p:nvSpPr>
          <p:cNvPr id="8" name="Shape 6"/>
          <p:cNvSpPr/>
          <p:nvPr/>
        </p:nvSpPr>
        <p:spPr>
          <a:xfrm>
            <a:off x="448056" y="1344168"/>
            <a:ext cx="1280160" cy="237744"/>
          </a:xfrm>
          <a:prstGeom prst="rect">
            <a:avLst/>
          </a:prstGeom>
          <a:solidFill>
            <a:srgbClr val="E8963A">
              <a:alpha val="18000"/>
            </a:srgbClr>
          </a:solidFill>
          <a:ln w="12700">
            <a:solidFill>
              <a:srgbClr val="E8963A">
                <a:alpha val="50000"/>
              </a:srgbClr>
            </a:solidFill>
            <a:prstDash val="solid"/>
          </a:ln>
        </p:spPr>
        <p:txBody>
          <a:bodyPr/>
          <a:lstStyle/>
          <a:p>
            <a:endParaRPr lang="en-IN" dirty="0"/>
          </a:p>
        </p:txBody>
      </p:sp>
      <p:sp>
        <p:nvSpPr>
          <p:cNvPr id="9" name="Text 7"/>
          <p:cNvSpPr/>
          <p:nvPr/>
        </p:nvSpPr>
        <p:spPr>
          <a:xfrm>
            <a:off x="448056" y="1344168"/>
            <a:ext cx="1280160" cy="237744"/>
          </a:xfrm>
          <a:prstGeom prst="rect">
            <a:avLst/>
          </a:prstGeom>
          <a:noFill/>
          <a:ln/>
        </p:spPr>
        <p:txBody>
          <a:bodyPr wrap="square" lIns="0" tIns="0" rIns="0" bIns="0" rtlCol="0" anchor="ctr"/>
          <a:lstStyle/>
          <a:p>
            <a:pPr marL="0" indent="0" algn="ctr">
              <a:buNone/>
            </a:pPr>
            <a:r>
              <a:rPr lang="en-US" sz="800" b="1" dirty="0">
                <a:solidFill>
                  <a:srgbClr val="E8963A"/>
                </a:solidFill>
              </a:rPr>
              <a:t>Core Language</a:t>
            </a:r>
            <a:endParaRPr lang="en-US" sz="800" dirty="0"/>
          </a:p>
        </p:txBody>
      </p:sp>
      <p:sp>
        <p:nvSpPr>
          <p:cNvPr id="10" name="Text 8"/>
          <p:cNvSpPr/>
          <p:nvPr/>
        </p:nvSpPr>
        <p:spPr>
          <a:xfrm>
            <a:off x="484632" y="1636776"/>
            <a:ext cx="3383280" cy="274320"/>
          </a:xfrm>
          <a:prstGeom prst="rect">
            <a:avLst/>
          </a:prstGeom>
          <a:noFill/>
          <a:ln/>
        </p:spPr>
        <p:txBody>
          <a:bodyPr wrap="square" rtlCol="0" anchor="ctr"/>
          <a:lstStyle/>
          <a:p>
            <a:pPr marL="0" indent="0">
              <a:buNone/>
            </a:pPr>
            <a:r>
              <a:rPr lang="en-US" sz="1500" b="1" dirty="0">
                <a:solidFill>
                  <a:srgbClr val="FFFFFF"/>
                </a:solidFill>
                <a:latin typeface="Times New Roman" pitchFamily="34" charset="0"/>
                <a:ea typeface="Times New Roman" pitchFamily="34" charset="-122"/>
                <a:cs typeface="Times New Roman" pitchFamily="34" charset="-120"/>
              </a:rPr>
              <a:t>Python 3.x</a:t>
            </a:r>
            <a:endParaRPr lang="en-US" sz="1500" dirty="0"/>
          </a:p>
        </p:txBody>
      </p:sp>
      <p:sp>
        <p:nvSpPr>
          <p:cNvPr id="11" name="Text 9"/>
          <p:cNvSpPr/>
          <p:nvPr/>
        </p:nvSpPr>
        <p:spPr>
          <a:xfrm>
            <a:off x="484632" y="1911096"/>
            <a:ext cx="3474720" cy="365760"/>
          </a:xfrm>
          <a:prstGeom prst="rect">
            <a:avLst/>
          </a:prstGeom>
          <a:noFill/>
          <a:ln/>
        </p:spPr>
        <p:txBody>
          <a:bodyPr wrap="square" rtlCol="0" anchor="ctr"/>
          <a:lstStyle/>
          <a:p>
            <a:pPr marL="0" indent="0">
              <a:lnSpc>
                <a:spcPct val="125000"/>
              </a:lnSpc>
              <a:buNone/>
            </a:pPr>
            <a:r>
              <a:rPr lang="en-US" sz="950" dirty="0">
                <a:solidFill>
                  <a:srgbClr val="AAAACC"/>
                </a:solidFill>
              </a:rPr>
              <a:t>Primary language for all data processing, analysis, and application logic.</a:t>
            </a:r>
            <a:endParaRPr lang="en-US" sz="950" dirty="0"/>
          </a:p>
        </p:txBody>
      </p:sp>
      <p:sp>
        <p:nvSpPr>
          <p:cNvPr id="12" name="Shape 10"/>
          <p:cNvSpPr/>
          <p:nvPr/>
        </p:nvSpPr>
        <p:spPr>
          <a:xfrm>
            <a:off x="320040" y="2496312"/>
            <a:ext cx="4023360" cy="1115568"/>
          </a:xfrm>
          <a:prstGeom prst="rect">
            <a:avLst/>
          </a:prstGeom>
          <a:solidFill>
            <a:srgbClr val="12122A"/>
          </a:solidFill>
          <a:ln w="12700">
            <a:solidFill>
              <a:srgbClr val="2D2D60"/>
            </a:solidFill>
            <a:prstDash val="solid"/>
          </a:ln>
          <a:effectLst>
            <a:outerShdw blurRad="101600" dist="38100" dir="8100000" algn="bl" rotWithShape="0">
              <a:srgbClr val="000000">
                <a:alpha val="12000"/>
              </a:srgbClr>
            </a:outerShdw>
          </a:effectLst>
        </p:spPr>
        <p:txBody>
          <a:bodyPr/>
          <a:lstStyle/>
          <a:p>
            <a:endParaRPr lang="en-IN" dirty="0"/>
          </a:p>
        </p:txBody>
      </p:sp>
      <p:sp>
        <p:nvSpPr>
          <p:cNvPr id="13" name="Shape 11"/>
          <p:cNvSpPr/>
          <p:nvPr/>
        </p:nvSpPr>
        <p:spPr>
          <a:xfrm>
            <a:off x="320040" y="2496312"/>
            <a:ext cx="54864" cy="1115568"/>
          </a:xfrm>
          <a:prstGeom prst="rect">
            <a:avLst/>
          </a:prstGeom>
          <a:solidFill>
            <a:srgbClr val="6C63FF"/>
          </a:solidFill>
          <a:ln w="12700">
            <a:solidFill>
              <a:srgbClr val="6C63FF"/>
            </a:solidFill>
            <a:prstDash val="solid"/>
          </a:ln>
        </p:spPr>
        <p:txBody>
          <a:bodyPr/>
          <a:lstStyle/>
          <a:p>
            <a:endParaRPr lang="en-IN" dirty="0"/>
          </a:p>
        </p:txBody>
      </p:sp>
      <p:sp>
        <p:nvSpPr>
          <p:cNvPr id="14" name="Shape 12"/>
          <p:cNvSpPr/>
          <p:nvPr/>
        </p:nvSpPr>
        <p:spPr>
          <a:xfrm>
            <a:off x="448056" y="2606040"/>
            <a:ext cx="1280160" cy="237744"/>
          </a:xfrm>
          <a:prstGeom prst="rect">
            <a:avLst/>
          </a:prstGeom>
          <a:solidFill>
            <a:srgbClr val="6C63FF">
              <a:alpha val="18000"/>
            </a:srgbClr>
          </a:solidFill>
          <a:ln w="12700">
            <a:solidFill>
              <a:srgbClr val="6C63FF">
                <a:alpha val="50000"/>
              </a:srgbClr>
            </a:solidFill>
            <a:prstDash val="solid"/>
          </a:ln>
        </p:spPr>
        <p:txBody>
          <a:bodyPr/>
          <a:lstStyle/>
          <a:p>
            <a:endParaRPr lang="en-IN" dirty="0"/>
          </a:p>
        </p:txBody>
      </p:sp>
      <p:sp>
        <p:nvSpPr>
          <p:cNvPr id="15" name="Text 13"/>
          <p:cNvSpPr/>
          <p:nvPr/>
        </p:nvSpPr>
        <p:spPr>
          <a:xfrm>
            <a:off x="448056" y="2606040"/>
            <a:ext cx="1280160" cy="237744"/>
          </a:xfrm>
          <a:prstGeom prst="rect">
            <a:avLst/>
          </a:prstGeom>
          <a:noFill/>
          <a:ln/>
        </p:spPr>
        <p:txBody>
          <a:bodyPr wrap="square" lIns="0" tIns="0" rIns="0" bIns="0" rtlCol="0" anchor="ctr"/>
          <a:lstStyle/>
          <a:p>
            <a:pPr marL="0" indent="0" algn="ctr">
              <a:buNone/>
            </a:pPr>
            <a:r>
              <a:rPr lang="en-US" sz="800" b="1" dirty="0">
                <a:solidFill>
                  <a:srgbClr val="6C63FF"/>
                </a:solidFill>
              </a:rPr>
              <a:t>Data Wrangling</a:t>
            </a:r>
            <a:endParaRPr lang="en-US" sz="800" dirty="0"/>
          </a:p>
        </p:txBody>
      </p:sp>
      <p:sp>
        <p:nvSpPr>
          <p:cNvPr id="16" name="Text 14"/>
          <p:cNvSpPr/>
          <p:nvPr/>
        </p:nvSpPr>
        <p:spPr>
          <a:xfrm>
            <a:off x="484632" y="2898648"/>
            <a:ext cx="3383280" cy="274320"/>
          </a:xfrm>
          <a:prstGeom prst="rect">
            <a:avLst/>
          </a:prstGeom>
          <a:noFill/>
          <a:ln/>
        </p:spPr>
        <p:txBody>
          <a:bodyPr wrap="square"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Pandas</a:t>
            </a:r>
            <a:endParaRPr lang="en-US" sz="1500" dirty="0"/>
          </a:p>
        </p:txBody>
      </p:sp>
      <p:sp>
        <p:nvSpPr>
          <p:cNvPr id="17" name="Text 15"/>
          <p:cNvSpPr/>
          <p:nvPr/>
        </p:nvSpPr>
        <p:spPr>
          <a:xfrm>
            <a:off x="484632" y="3172968"/>
            <a:ext cx="3474720" cy="365760"/>
          </a:xfrm>
          <a:prstGeom prst="rect">
            <a:avLst/>
          </a:prstGeom>
          <a:noFill/>
          <a:ln/>
        </p:spPr>
        <p:txBody>
          <a:bodyPr wrap="square" rtlCol="0" anchor="ctr"/>
          <a:lstStyle/>
          <a:p>
            <a:pPr marL="0" indent="0">
              <a:lnSpc>
                <a:spcPct val="125000"/>
              </a:lnSpc>
              <a:buNone/>
            </a:pPr>
            <a:r>
              <a:rPr lang="en-US" sz="950" dirty="0">
                <a:solidFill>
                  <a:srgbClr val="AAAACC"/>
                </a:solidFill>
              </a:rPr>
              <a:t>Cleaning, transformation, groupby aggregations, and derived metric computation.</a:t>
            </a:r>
            <a:endParaRPr lang="en-US" sz="950" dirty="0"/>
          </a:p>
        </p:txBody>
      </p:sp>
      <p:sp>
        <p:nvSpPr>
          <p:cNvPr id="18" name="Shape 16"/>
          <p:cNvSpPr/>
          <p:nvPr/>
        </p:nvSpPr>
        <p:spPr>
          <a:xfrm>
            <a:off x="320040" y="3758184"/>
            <a:ext cx="4023360" cy="1115568"/>
          </a:xfrm>
          <a:prstGeom prst="rect">
            <a:avLst/>
          </a:prstGeom>
          <a:solidFill>
            <a:srgbClr val="12122A"/>
          </a:solidFill>
          <a:ln w="12700">
            <a:solidFill>
              <a:srgbClr val="2D2D60"/>
            </a:solidFill>
            <a:prstDash val="solid"/>
          </a:ln>
          <a:effectLst>
            <a:outerShdw blurRad="101600" dist="38100" dir="8100000" algn="bl" rotWithShape="0">
              <a:srgbClr val="000000">
                <a:alpha val="12000"/>
              </a:srgbClr>
            </a:outerShdw>
          </a:effectLst>
        </p:spPr>
        <p:txBody>
          <a:bodyPr/>
          <a:lstStyle/>
          <a:p>
            <a:endParaRPr lang="en-IN" dirty="0"/>
          </a:p>
        </p:txBody>
      </p:sp>
      <p:sp>
        <p:nvSpPr>
          <p:cNvPr id="19" name="Shape 17"/>
          <p:cNvSpPr/>
          <p:nvPr/>
        </p:nvSpPr>
        <p:spPr>
          <a:xfrm>
            <a:off x="320040" y="3758184"/>
            <a:ext cx="54864" cy="1115568"/>
          </a:xfrm>
          <a:prstGeom prst="rect">
            <a:avLst/>
          </a:prstGeom>
          <a:solidFill>
            <a:srgbClr val="028090"/>
          </a:solidFill>
          <a:ln w="12700">
            <a:solidFill>
              <a:srgbClr val="028090"/>
            </a:solidFill>
            <a:prstDash val="solid"/>
          </a:ln>
        </p:spPr>
        <p:txBody>
          <a:bodyPr/>
          <a:lstStyle/>
          <a:p>
            <a:endParaRPr lang="en-IN" dirty="0"/>
          </a:p>
        </p:txBody>
      </p:sp>
      <p:sp>
        <p:nvSpPr>
          <p:cNvPr id="20" name="Shape 18"/>
          <p:cNvSpPr/>
          <p:nvPr/>
        </p:nvSpPr>
        <p:spPr>
          <a:xfrm>
            <a:off x="448056" y="3867912"/>
            <a:ext cx="1280160" cy="237744"/>
          </a:xfrm>
          <a:prstGeom prst="rect">
            <a:avLst/>
          </a:prstGeom>
          <a:solidFill>
            <a:srgbClr val="028090">
              <a:alpha val="18000"/>
            </a:srgbClr>
          </a:solidFill>
          <a:ln w="12700">
            <a:solidFill>
              <a:srgbClr val="028090">
                <a:alpha val="50000"/>
              </a:srgbClr>
            </a:solidFill>
            <a:prstDash val="solid"/>
          </a:ln>
        </p:spPr>
        <p:txBody>
          <a:bodyPr/>
          <a:lstStyle/>
          <a:p>
            <a:endParaRPr lang="en-IN" dirty="0"/>
          </a:p>
        </p:txBody>
      </p:sp>
      <p:sp>
        <p:nvSpPr>
          <p:cNvPr id="21" name="Text 19"/>
          <p:cNvSpPr/>
          <p:nvPr/>
        </p:nvSpPr>
        <p:spPr>
          <a:xfrm>
            <a:off x="448056" y="3867912"/>
            <a:ext cx="1280160" cy="237744"/>
          </a:xfrm>
          <a:prstGeom prst="rect">
            <a:avLst/>
          </a:prstGeom>
          <a:noFill/>
          <a:ln/>
        </p:spPr>
        <p:txBody>
          <a:bodyPr wrap="square" lIns="0" tIns="0" rIns="0" bIns="0" rtlCol="0" anchor="ctr"/>
          <a:lstStyle/>
          <a:p>
            <a:pPr marL="0" indent="0" algn="ctr">
              <a:buNone/>
            </a:pPr>
            <a:r>
              <a:rPr lang="en-US" sz="800" b="1" dirty="0">
                <a:solidFill>
                  <a:srgbClr val="028090"/>
                </a:solidFill>
              </a:rPr>
              <a:t>Numerical Computing</a:t>
            </a:r>
            <a:endParaRPr lang="en-US" sz="800" dirty="0"/>
          </a:p>
        </p:txBody>
      </p:sp>
      <p:sp>
        <p:nvSpPr>
          <p:cNvPr id="22" name="Text 20"/>
          <p:cNvSpPr/>
          <p:nvPr/>
        </p:nvSpPr>
        <p:spPr>
          <a:xfrm>
            <a:off x="484632" y="4160520"/>
            <a:ext cx="3383280" cy="274320"/>
          </a:xfrm>
          <a:prstGeom prst="rect">
            <a:avLst/>
          </a:prstGeom>
          <a:noFill/>
          <a:ln/>
        </p:spPr>
        <p:txBody>
          <a:bodyPr wrap="square"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NumPy · SciPy</a:t>
            </a:r>
            <a:endParaRPr lang="en-US" sz="1500" dirty="0"/>
          </a:p>
        </p:txBody>
      </p:sp>
      <p:sp>
        <p:nvSpPr>
          <p:cNvPr id="23" name="Text 21"/>
          <p:cNvSpPr/>
          <p:nvPr/>
        </p:nvSpPr>
        <p:spPr>
          <a:xfrm>
            <a:off x="484632" y="4434840"/>
            <a:ext cx="3474720" cy="365760"/>
          </a:xfrm>
          <a:prstGeom prst="rect">
            <a:avLst/>
          </a:prstGeom>
          <a:noFill/>
          <a:ln/>
        </p:spPr>
        <p:txBody>
          <a:bodyPr wrap="square" rtlCol="0" anchor="ctr"/>
          <a:lstStyle/>
          <a:p>
            <a:pPr marL="0" indent="0">
              <a:lnSpc>
                <a:spcPct val="125000"/>
              </a:lnSpc>
              <a:buNone/>
            </a:pPr>
            <a:r>
              <a:rPr lang="en-US" sz="950" dirty="0">
                <a:solidFill>
                  <a:srgbClr val="AAAACC"/>
                </a:solidFill>
              </a:rPr>
              <a:t>Array operations, threshold calculations, and margin variance analysis; SciPy for statistical functions and distribution testing.</a:t>
            </a:r>
            <a:endParaRPr lang="en-US" sz="950" dirty="0"/>
          </a:p>
        </p:txBody>
      </p:sp>
      <p:sp>
        <p:nvSpPr>
          <p:cNvPr id="24" name="Shape 22"/>
          <p:cNvSpPr/>
          <p:nvPr/>
        </p:nvSpPr>
        <p:spPr>
          <a:xfrm>
            <a:off x="4663440" y="1234440"/>
            <a:ext cx="4023360" cy="1115568"/>
          </a:xfrm>
          <a:prstGeom prst="rect">
            <a:avLst/>
          </a:prstGeom>
          <a:solidFill>
            <a:srgbClr val="12122A"/>
          </a:solidFill>
          <a:ln w="12700">
            <a:solidFill>
              <a:srgbClr val="2D2D60"/>
            </a:solidFill>
            <a:prstDash val="solid"/>
          </a:ln>
          <a:effectLst>
            <a:outerShdw blurRad="101600" dist="38100" dir="8100000" algn="bl" rotWithShape="0">
              <a:srgbClr val="000000">
                <a:alpha val="12000"/>
              </a:srgbClr>
            </a:outerShdw>
          </a:effectLst>
        </p:spPr>
        <p:txBody>
          <a:bodyPr/>
          <a:lstStyle/>
          <a:p>
            <a:endParaRPr lang="en-IN" dirty="0"/>
          </a:p>
        </p:txBody>
      </p:sp>
      <p:sp>
        <p:nvSpPr>
          <p:cNvPr id="25" name="Shape 23"/>
          <p:cNvSpPr/>
          <p:nvPr/>
        </p:nvSpPr>
        <p:spPr>
          <a:xfrm>
            <a:off x="4663440" y="1234440"/>
            <a:ext cx="54864" cy="1115568"/>
          </a:xfrm>
          <a:prstGeom prst="rect">
            <a:avLst/>
          </a:prstGeom>
          <a:solidFill>
            <a:srgbClr val="1FA66A"/>
          </a:solidFill>
          <a:ln w="12700">
            <a:solidFill>
              <a:srgbClr val="1FA66A"/>
            </a:solidFill>
            <a:prstDash val="solid"/>
          </a:ln>
        </p:spPr>
        <p:txBody>
          <a:bodyPr/>
          <a:lstStyle/>
          <a:p>
            <a:endParaRPr lang="en-IN" dirty="0"/>
          </a:p>
        </p:txBody>
      </p:sp>
      <p:sp>
        <p:nvSpPr>
          <p:cNvPr id="26" name="Shape 24"/>
          <p:cNvSpPr/>
          <p:nvPr/>
        </p:nvSpPr>
        <p:spPr>
          <a:xfrm>
            <a:off x="4791456" y="1344168"/>
            <a:ext cx="1280160" cy="237744"/>
          </a:xfrm>
          <a:prstGeom prst="rect">
            <a:avLst/>
          </a:prstGeom>
          <a:solidFill>
            <a:srgbClr val="1FA66A">
              <a:alpha val="18000"/>
            </a:srgbClr>
          </a:solidFill>
          <a:ln w="12700">
            <a:solidFill>
              <a:srgbClr val="1FA66A">
                <a:alpha val="50000"/>
              </a:srgbClr>
            </a:solidFill>
            <a:prstDash val="solid"/>
          </a:ln>
        </p:spPr>
        <p:txBody>
          <a:bodyPr/>
          <a:lstStyle/>
          <a:p>
            <a:endParaRPr lang="en-IN" dirty="0"/>
          </a:p>
        </p:txBody>
      </p:sp>
      <p:sp>
        <p:nvSpPr>
          <p:cNvPr id="27" name="Text 25"/>
          <p:cNvSpPr/>
          <p:nvPr/>
        </p:nvSpPr>
        <p:spPr>
          <a:xfrm>
            <a:off x="4791456" y="1344168"/>
            <a:ext cx="1280160" cy="237744"/>
          </a:xfrm>
          <a:prstGeom prst="rect">
            <a:avLst/>
          </a:prstGeom>
          <a:noFill/>
          <a:ln/>
        </p:spPr>
        <p:txBody>
          <a:bodyPr wrap="square" lIns="0" tIns="0" rIns="0" bIns="0" rtlCol="0" anchor="ctr"/>
          <a:lstStyle/>
          <a:p>
            <a:pPr marL="0" indent="0" algn="ctr">
              <a:buNone/>
            </a:pPr>
            <a:r>
              <a:rPr lang="en-US" sz="800" b="1" dirty="0">
                <a:solidFill>
                  <a:srgbClr val="1FA66A"/>
                </a:solidFill>
              </a:rPr>
              <a:t>Interactive Charts</a:t>
            </a:r>
            <a:endParaRPr lang="en-US" sz="800" dirty="0"/>
          </a:p>
        </p:txBody>
      </p:sp>
      <p:sp>
        <p:nvSpPr>
          <p:cNvPr id="28" name="Text 26"/>
          <p:cNvSpPr/>
          <p:nvPr/>
        </p:nvSpPr>
        <p:spPr>
          <a:xfrm>
            <a:off x="4828032" y="1636776"/>
            <a:ext cx="3383280" cy="274320"/>
          </a:xfrm>
          <a:prstGeom prst="rect">
            <a:avLst/>
          </a:prstGeom>
          <a:noFill/>
          <a:ln/>
        </p:spPr>
        <p:txBody>
          <a:bodyPr wrap="square"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Plotly · Matplotlib</a:t>
            </a:r>
            <a:endParaRPr lang="en-US" sz="1500" dirty="0"/>
          </a:p>
        </p:txBody>
      </p:sp>
      <p:sp>
        <p:nvSpPr>
          <p:cNvPr id="29" name="Text 27"/>
          <p:cNvSpPr/>
          <p:nvPr/>
        </p:nvSpPr>
        <p:spPr>
          <a:xfrm>
            <a:off x="4828032" y="1911096"/>
            <a:ext cx="3474720" cy="365760"/>
          </a:xfrm>
          <a:prstGeom prst="rect">
            <a:avLst/>
          </a:prstGeom>
          <a:noFill/>
          <a:ln/>
        </p:spPr>
        <p:txBody>
          <a:bodyPr wrap="square" rtlCol="0" anchor="ctr"/>
          <a:lstStyle/>
          <a:p>
            <a:pPr marL="0" indent="0">
              <a:lnSpc>
                <a:spcPct val="125000"/>
              </a:lnSpc>
              <a:buNone/>
            </a:pPr>
            <a:r>
              <a:rPr lang="en-US" sz="950" dirty="0">
                <a:solidFill>
                  <a:srgbClr val="AAAACC"/>
                </a:solidFill>
              </a:rPr>
              <a:t>Scatter plots, bar charts, Pareto curves, and margin distribution plots; Matplotlib for static exports and EDA visuals.</a:t>
            </a:r>
            <a:endParaRPr lang="en-US" sz="950" dirty="0"/>
          </a:p>
        </p:txBody>
      </p:sp>
      <p:sp>
        <p:nvSpPr>
          <p:cNvPr id="30" name="Shape 28"/>
          <p:cNvSpPr/>
          <p:nvPr/>
        </p:nvSpPr>
        <p:spPr>
          <a:xfrm>
            <a:off x="4663440" y="2496312"/>
            <a:ext cx="4023360" cy="1115568"/>
          </a:xfrm>
          <a:prstGeom prst="rect">
            <a:avLst/>
          </a:prstGeom>
          <a:solidFill>
            <a:srgbClr val="12122A"/>
          </a:solidFill>
          <a:ln w="12700">
            <a:solidFill>
              <a:srgbClr val="2D2D60"/>
            </a:solidFill>
            <a:prstDash val="solid"/>
          </a:ln>
          <a:effectLst>
            <a:outerShdw blurRad="101600" dist="38100" dir="8100000" algn="bl" rotWithShape="0">
              <a:srgbClr val="000000">
                <a:alpha val="12000"/>
              </a:srgbClr>
            </a:outerShdw>
          </a:effectLst>
        </p:spPr>
        <p:txBody>
          <a:bodyPr/>
          <a:lstStyle/>
          <a:p>
            <a:endParaRPr lang="en-IN" dirty="0"/>
          </a:p>
        </p:txBody>
      </p:sp>
      <p:sp>
        <p:nvSpPr>
          <p:cNvPr id="31" name="Shape 29"/>
          <p:cNvSpPr/>
          <p:nvPr/>
        </p:nvSpPr>
        <p:spPr>
          <a:xfrm>
            <a:off x="4663440" y="2496312"/>
            <a:ext cx="54864" cy="1115568"/>
          </a:xfrm>
          <a:prstGeom prst="rect">
            <a:avLst/>
          </a:prstGeom>
          <a:solidFill>
            <a:srgbClr val="E84393"/>
          </a:solidFill>
          <a:ln w="12700">
            <a:solidFill>
              <a:srgbClr val="E84393"/>
            </a:solidFill>
            <a:prstDash val="solid"/>
          </a:ln>
        </p:spPr>
        <p:txBody>
          <a:bodyPr/>
          <a:lstStyle/>
          <a:p>
            <a:endParaRPr lang="en-IN" dirty="0"/>
          </a:p>
        </p:txBody>
      </p:sp>
      <p:sp>
        <p:nvSpPr>
          <p:cNvPr id="32" name="Shape 30"/>
          <p:cNvSpPr/>
          <p:nvPr/>
        </p:nvSpPr>
        <p:spPr>
          <a:xfrm>
            <a:off x="4791456" y="2606040"/>
            <a:ext cx="1280160" cy="237744"/>
          </a:xfrm>
          <a:prstGeom prst="rect">
            <a:avLst/>
          </a:prstGeom>
          <a:solidFill>
            <a:srgbClr val="E84393">
              <a:alpha val="18000"/>
            </a:srgbClr>
          </a:solidFill>
          <a:ln w="12700">
            <a:solidFill>
              <a:srgbClr val="E84393">
                <a:alpha val="50000"/>
              </a:srgbClr>
            </a:solidFill>
            <a:prstDash val="solid"/>
          </a:ln>
        </p:spPr>
        <p:txBody>
          <a:bodyPr/>
          <a:lstStyle/>
          <a:p>
            <a:endParaRPr lang="en-IN" dirty="0"/>
          </a:p>
        </p:txBody>
      </p:sp>
      <p:sp>
        <p:nvSpPr>
          <p:cNvPr id="33" name="Text 31"/>
          <p:cNvSpPr/>
          <p:nvPr/>
        </p:nvSpPr>
        <p:spPr>
          <a:xfrm>
            <a:off x="4791456" y="2606040"/>
            <a:ext cx="1280160" cy="237744"/>
          </a:xfrm>
          <a:prstGeom prst="rect">
            <a:avLst/>
          </a:prstGeom>
          <a:noFill/>
          <a:ln/>
        </p:spPr>
        <p:txBody>
          <a:bodyPr wrap="square" lIns="0" tIns="0" rIns="0" bIns="0" rtlCol="0" anchor="ctr"/>
          <a:lstStyle/>
          <a:p>
            <a:pPr marL="0" indent="0" algn="ctr">
              <a:buNone/>
            </a:pPr>
            <a:r>
              <a:rPr lang="en-US" sz="800" b="1" dirty="0">
                <a:solidFill>
                  <a:srgbClr val="E84393"/>
                </a:solidFill>
              </a:rPr>
              <a:t>Dashboard Framework</a:t>
            </a:r>
            <a:endParaRPr lang="en-US" sz="800" dirty="0"/>
          </a:p>
        </p:txBody>
      </p:sp>
      <p:sp>
        <p:nvSpPr>
          <p:cNvPr id="34" name="Text 32"/>
          <p:cNvSpPr/>
          <p:nvPr/>
        </p:nvSpPr>
        <p:spPr>
          <a:xfrm>
            <a:off x="4828032" y="2898648"/>
            <a:ext cx="3383280" cy="274320"/>
          </a:xfrm>
          <a:prstGeom prst="rect">
            <a:avLst/>
          </a:prstGeom>
          <a:noFill/>
          <a:ln/>
        </p:spPr>
        <p:txBody>
          <a:bodyPr wrap="square"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Streamlit</a:t>
            </a:r>
            <a:endParaRPr lang="en-US" sz="1500" dirty="0"/>
          </a:p>
        </p:txBody>
      </p:sp>
      <p:sp>
        <p:nvSpPr>
          <p:cNvPr id="35" name="Text 33"/>
          <p:cNvSpPr/>
          <p:nvPr/>
        </p:nvSpPr>
        <p:spPr>
          <a:xfrm>
            <a:off x="4828032" y="3172968"/>
            <a:ext cx="3474720" cy="365760"/>
          </a:xfrm>
          <a:prstGeom prst="rect">
            <a:avLst/>
          </a:prstGeom>
          <a:noFill/>
          <a:ln/>
        </p:spPr>
        <p:txBody>
          <a:bodyPr wrap="square" rtlCol="0" anchor="ctr"/>
          <a:lstStyle/>
          <a:p>
            <a:pPr marL="0" indent="0">
              <a:lnSpc>
                <a:spcPct val="125000"/>
              </a:lnSpc>
              <a:buNone/>
            </a:pPr>
            <a:r>
              <a:rPr lang="en-US" sz="950" dirty="0">
                <a:solidFill>
                  <a:srgbClr val="AAAACC"/>
                </a:solidFill>
              </a:rPr>
              <a:t>Multi-page analytics app with sidebar filters, KPI cards, and live charts.</a:t>
            </a:r>
            <a:endParaRPr lang="en-US" sz="950" dirty="0"/>
          </a:p>
        </p:txBody>
      </p:sp>
      <p:sp>
        <p:nvSpPr>
          <p:cNvPr id="36" name="Shape 34"/>
          <p:cNvSpPr/>
          <p:nvPr/>
        </p:nvSpPr>
        <p:spPr>
          <a:xfrm>
            <a:off x="4663440" y="3758184"/>
            <a:ext cx="4023360" cy="1115568"/>
          </a:xfrm>
          <a:prstGeom prst="rect">
            <a:avLst/>
          </a:prstGeom>
          <a:solidFill>
            <a:srgbClr val="12122A"/>
          </a:solidFill>
          <a:ln w="12700">
            <a:solidFill>
              <a:srgbClr val="2D2D60"/>
            </a:solidFill>
            <a:prstDash val="solid"/>
          </a:ln>
          <a:effectLst>
            <a:outerShdw blurRad="101600" dist="38100" dir="8100000" algn="bl" rotWithShape="0">
              <a:srgbClr val="000000">
                <a:alpha val="12000"/>
              </a:srgbClr>
            </a:outerShdw>
          </a:effectLst>
        </p:spPr>
        <p:txBody>
          <a:bodyPr/>
          <a:lstStyle/>
          <a:p>
            <a:endParaRPr lang="en-IN" dirty="0"/>
          </a:p>
        </p:txBody>
      </p:sp>
      <p:sp>
        <p:nvSpPr>
          <p:cNvPr id="37" name="Shape 35"/>
          <p:cNvSpPr/>
          <p:nvPr/>
        </p:nvSpPr>
        <p:spPr>
          <a:xfrm>
            <a:off x="4663440" y="3758184"/>
            <a:ext cx="54864" cy="1115568"/>
          </a:xfrm>
          <a:prstGeom prst="rect">
            <a:avLst/>
          </a:prstGeom>
          <a:solidFill>
            <a:srgbClr val="7B4F2E"/>
          </a:solidFill>
          <a:ln w="12700">
            <a:solidFill>
              <a:srgbClr val="7B4F2E"/>
            </a:solidFill>
            <a:prstDash val="solid"/>
          </a:ln>
        </p:spPr>
        <p:txBody>
          <a:bodyPr/>
          <a:lstStyle/>
          <a:p>
            <a:endParaRPr lang="en-IN" dirty="0"/>
          </a:p>
        </p:txBody>
      </p:sp>
      <p:sp>
        <p:nvSpPr>
          <p:cNvPr id="38" name="Shape 36"/>
          <p:cNvSpPr/>
          <p:nvPr/>
        </p:nvSpPr>
        <p:spPr>
          <a:xfrm>
            <a:off x="4791456" y="3867912"/>
            <a:ext cx="1280160" cy="237744"/>
          </a:xfrm>
          <a:prstGeom prst="rect">
            <a:avLst/>
          </a:prstGeom>
          <a:solidFill>
            <a:srgbClr val="7B4F2E">
              <a:alpha val="18000"/>
            </a:srgbClr>
          </a:solidFill>
          <a:ln w="12700">
            <a:solidFill>
              <a:srgbClr val="7B4F2E">
                <a:alpha val="50000"/>
              </a:srgbClr>
            </a:solidFill>
            <a:prstDash val="solid"/>
          </a:ln>
        </p:spPr>
        <p:txBody>
          <a:bodyPr/>
          <a:lstStyle/>
          <a:p>
            <a:endParaRPr lang="en-IN" dirty="0"/>
          </a:p>
        </p:txBody>
      </p:sp>
      <p:sp>
        <p:nvSpPr>
          <p:cNvPr id="39" name="Text 37"/>
          <p:cNvSpPr/>
          <p:nvPr/>
        </p:nvSpPr>
        <p:spPr>
          <a:xfrm>
            <a:off x="4791456" y="3867912"/>
            <a:ext cx="1280160" cy="237744"/>
          </a:xfrm>
          <a:prstGeom prst="rect">
            <a:avLst/>
          </a:prstGeom>
          <a:noFill/>
          <a:ln/>
        </p:spPr>
        <p:txBody>
          <a:bodyPr wrap="square" lIns="0" tIns="0" rIns="0" bIns="0" rtlCol="0" anchor="ctr"/>
          <a:lstStyle/>
          <a:p>
            <a:pPr marL="0" indent="0" algn="ctr">
              <a:buNone/>
            </a:pPr>
            <a:r>
              <a:rPr lang="en-US" sz="800" b="1" dirty="0">
                <a:solidFill>
                  <a:srgbClr val="7B4F2E"/>
                </a:solidFill>
              </a:rPr>
              <a:t>Exploratory Analysis</a:t>
            </a:r>
            <a:endParaRPr lang="en-US" sz="800" dirty="0"/>
          </a:p>
        </p:txBody>
      </p:sp>
      <p:sp>
        <p:nvSpPr>
          <p:cNvPr id="40" name="Text 38"/>
          <p:cNvSpPr/>
          <p:nvPr/>
        </p:nvSpPr>
        <p:spPr>
          <a:xfrm>
            <a:off x="4828032" y="4160520"/>
            <a:ext cx="3383280" cy="274320"/>
          </a:xfrm>
          <a:prstGeom prst="rect">
            <a:avLst/>
          </a:prstGeom>
          <a:noFill/>
          <a:ln/>
        </p:spPr>
        <p:txBody>
          <a:bodyPr wrap="square"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Jupyter / EDA</a:t>
            </a:r>
            <a:endParaRPr lang="en-US" sz="1500" dirty="0"/>
          </a:p>
        </p:txBody>
      </p:sp>
      <p:sp>
        <p:nvSpPr>
          <p:cNvPr id="41" name="Text 39"/>
          <p:cNvSpPr/>
          <p:nvPr/>
        </p:nvSpPr>
        <p:spPr>
          <a:xfrm>
            <a:off x="4828032" y="4434840"/>
            <a:ext cx="3474720" cy="365760"/>
          </a:xfrm>
          <a:prstGeom prst="rect">
            <a:avLst/>
          </a:prstGeom>
          <a:noFill/>
          <a:ln/>
        </p:spPr>
        <p:txBody>
          <a:bodyPr wrap="square" rtlCol="0" anchor="ctr"/>
          <a:lstStyle/>
          <a:p>
            <a:pPr marL="0" indent="0">
              <a:lnSpc>
                <a:spcPct val="125000"/>
              </a:lnSpc>
              <a:buNone/>
            </a:pPr>
            <a:r>
              <a:rPr lang="en-US" sz="950" dirty="0">
                <a:solidFill>
                  <a:srgbClr val="AAAACC"/>
                </a:solidFill>
              </a:rPr>
              <a:t>Initial profiling, outlier detection, correlation and distribution analysis.</a:t>
            </a:r>
            <a:endParaRPr lang="en-US" sz="950" dirty="0"/>
          </a:p>
        </p:txBody>
      </p:sp>
      <p:sp>
        <p:nvSpPr>
          <p:cNvPr id="42" name="Text 40"/>
          <p:cNvSpPr/>
          <p:nvPr/>
        </p:nvSpPr>
        <p:spPr>
          <a:xfrm>
            <a:off x="8046720" y="4800600"/>
            <a:ext cx="914400" cy="228600"/>
          </a:xfrm>
          <a:prstGeom prst="rect">
            <a:avLst/>
          </a:prstGeom>
          <a:noFill/>
          <a:ln/>
        </p:spPr>
        <p:txBody>
          <a:bodyPr wrap="square" rtlCol="0" anchor="ctr"/>
          <a:lstStyle/>
          <a:p>
            <a:pPr marL="0" indent="0" algn="r">
              <a:buNone/>
            </a:pPr>
            <a:r>
              <a:rPr lang="en-US" sz="800" dirty="0">
                <a:solidFill>
                  <a:srgbClr val="999999"/>
                </a:solidFill>
              </a:rPr>
              <a:t>6 / 12</a:t>
            </a:r>
            <a:endParaRPr lang="en-US" sz="800" dirty="0"/>
          </a:p>
        </p:txBody>
      </p:sp>
      <p:sp>
        <p:nvSpPr>
          <p:cNvPr id="43" name="Text 41"/>
          <p:cNvSpPr/>
          <p:nvPr/>
        </p:nvSpPr>
        <p:spPr>
          <a:xfrm>
            <a:off x="457200" y="4800600"/>
            <a:ext cx="5486400" cy="228600"/>
          </a:xfrm>
          <a:prstGeom prst="rect">
            <a:avLst/>
          </a:prstGeom>
          <a:noFill/>
          <a:ln/>
        </p:spPr>
        <p:txBody>
          <a:bodyPr wrap="square" rtlCol="0" anchor="ctr"/>
          <a:lstStyle/>
          <a:p>
            <a:pPr marL="0" indent="0" algn="l">
              <a:buNone/>
            </a:pPr>
            <a:r>
              <a:rPr lang="en-US" sz="800" dirty="0">
                <a:solidFill>
                  <a:srgbClr val="999999"/>
                </a:solidFill>
              </a:rPr>
              <a:t>Nassau Candy Distributor · Profitability Analysis</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4FB"/>
        </a:solidFill>
        <a:effectLst/>
      </p:bgPr>
    </p:bg>
    <p:spTree>
      <p:nvGrpSpPr>
        <p:cNvPr id="1" name=""/>
        <p:cNvGrpSpPr/>
        <p:nvPr/>
      </p:nvGrpSpPr>
      <p:grpSpPr>
        <a:xfrm>
          <a:off x="0" y="0"/>
          <a:ext cx="0" cy="0"/>
          <a:chOff x="0" y="0"/>
          <a:chExt cx="0" cy="0"/>
        </a:xfrm>
      </p:grpSpPr>
      <p:sp>
        <p:nvSpPr>
          <p:cNvPr id="2" name="AccentBar"/>
          <p:cNvSpPr/>
          <p:nvPr/>
        </p:nvSpPr>
        <p:spPr>
          <a:xfrm>
            <a:off x="0" y="0"/>
            <a:ext cx="109728" cy="5143500"/>
          </a:xfrm>
          <a:prstGeom prst="rect">
            <a:avLst/>
          </a:prstGeom>
          <a:solidFill>
            <a:srgbClr val="E8963A"/>
          </a:solidFill>
          <a:ln w="12700">
            <a:solidFill>
              <a:srgbClr val="E8963A"/>
            </a:solidFill>
          </a:ln>
        </p:spPr>
        <p:txBody>
          <a:bodyPr/>
          <a:lstStyle/>
          <a:p>
            <a:endParaRPr lang="en-IN" dirty="0"/>
          </a:p>
        </p:txBody>
      </p:sp>
      <p:sp>
        <p:nvSpPr>
          <p:cNvPr id="3" name="SlideNum"/>
          <p:cNvSpPr/>
          <p:nvPr/>
        </p:nvSpPr>
        <p:spPr>
          <a:xfrm>
            <a:off x="7772400" y="137160"/>
            <a:ext cx="1280160" cy="822960"/>
          </a:xfrm>
          <a:prstGeom prst="rect">
            <a:avLst/>
          </a:prstGeom>
          <a:noFill/>
          <a:ln/>
        </p:spPr>
        <p:txBody>
          <a:bodyPr wrap="square" rtlCol="0" anchor="ctr"/>
          <a:lstStyle/>
          <a:p>
            <a:pPr marL="0" indent="0" algn="r">
              <a:buNone/>
            </a:pPr>
            <a:r>
              <a:rPr lang="en-US" sz="5200" b="1" dirty="0">
                <a:solidFill>
                  <a:srgbClr val="F0E0C0"/>
                </a:solidFill>
                <a:latin typeface="Times New Roman" pitchFamily="34" charset="0"/>
              </a:rPr>
              <a:t>04</a:t>
            </a:r>
          </a:p>
        </p:txBody>
      </p:sp>
      <p:sp>
        <p:nvSpPr>
          <p:cNvPr id="4" name="Title"/>
          <p:cNvSpPr/>
          <p:nvPr/>
        </p:nvSpPr>
        <p:spPr>
          <a:xfrm>
            <a:off x="320040" y="274320"/>
            <a:ext cx="6400800" cy="502920"/>
          </a:xfrm>
          <a:prstGeom prst="rect">
            <a:avLst/>
          </a:prstGeom>
          <a:noFill/>
          <a:ln/>
        </p:spPr>
        <p:txBody>
          <a:bodyPr wrap="square" rtlCol="0" anchor="ctr"/>
          <a:lstStyle/>
          <a:p>
            <a:pPr marL="0" indent="0">
              <a:buNone/>
            </a:pPr>
            <a:r>
              <a:rPr lang="en-US" sz="3000" b="1" dirty="0">
                <a:solidFill>
                  <a:srgbClr val="1A1A2E"/>
                </a:solidFill>
                <a:latin typeface="Georgia" pitchFamily="34" charset="0"/>
              </a:rPr>
              <a:t>Methodology</a:t>
            </a:r>
          </a:p>
        </p:txBody>
      </p:sp>
      <p:sp>
        <p:nvSpPr>
          <p:cNvPr id="5" name="Subtitle"/>
          <p:cNvSpPr/>
          <p:nvPr/>
        </p:nvSpPr>
        <p:spPr>
          <a:xfrm>
            <a:off x="320040" y="777240"/>
            <a:ext cx="7315200" cy="256032"/>
          </a:xfrm>
          <a:prstGeom prst="rect">
            <a:avLst/>
          </a:prstGeom>
          <a:noFill/>
          <a:ln/>
        </p:spPr>
        <p:txBody>
          <a:bodyPr wrap="square" rtlCol="0" anchor="ctr"/>
          <a:lstStyle/>
          <a:p>
            <a:pPr marL="0" indent="0">
              <a:buNone/>
            </a:pPr>
            <a:r>
              <a:rPr lang="en-US" sz="1200" i="1" dirty="0">
                <a:solidFill>
                  <a:srgbClr val="666688"/>
                </a:solidFill>
              </a:rPr>
              <a:t>Analytical pipeline: from raw data to decision intelligence</a:t>
            </a:r>
          </a:p>
        </p:txBody>
      </p:sp>
      <p:sp>
        <p:nvSpPr>
          <p:cNvPr id="10" name="Card1"/>
          <p:cNvSpPr/>
          <p:nvPr/>
        </p:nvSpPr>
        <p:spPr>
          <a:xfrm>
            <a:off x="320040" y="1090000"/>
            <a:ext cx="8406360" cy="730000"/>
          </a:xfrm>
          <a:prstGeom prst="rect">
            <a:avLst/>
          </a:prstGeom>
          <a:solidFill>
            <a:srgbClr val="FFFFFF"/>
          </a:solidFill>
          <a:ln w="12700">
            <a:solidFill>
              <a:srgbClr val="E0E0EE"/>
            </a:solidFill>
            <a:prstDash val="solid"/>
          </a:ln>
          <a:effectLst>
            <a:outerShdw blurRad="76200" dist="25400" dir="5400000" algn="ctr" rotWithShape="0">
              <a:srgbClr val="000000">
                <a:alpha val="8000"/>
              </a:srgbClr>
            </a:outerShdw>
          </a:effectLst>
        </p:spPr>
        <p:txBody>
          <a:bodyPr/>
          <a:lstStyle/>
          <a:p>
            <a:endParaRPr lang="en-IN" dirty="0"/>
          </a:p>
        </p:txBody>
      </p:sp>
      <p:sp>
        <p:nvSpPr>
          <p:cNvPr id="11" name="Bar1"/>
          <p:cNvSpPr/>
          <p:nvPr/>
        </p:nvSpPr>
        <p:spPr>
          <a:xfrm>
            <a:off x="320040" y="1090000"/>
            <a:ext cx="54864" cy="730000"/>
          </a:xfrm>
          <a:prstGeom prst="rect">
            <a:avLst/>
          </a:prstGeom>
          <a:solidFill>
            <a:srgbClr val="6C63FF"/>
          </a:solidFill>
          <a:ln w="0">
            <a:noFill/>
          </a:ln>
        </p:spPr>
        <p:txBody>
          <a:bodyPr/>
          <a:lstStyle/>
          <a:p>
            <a:endParaRPr lang="en-IN" dirty="0"/>
          </a:p>
        </p:txBody>
      </p:sp>
      <p:sp>
        <p:nvSpPr>
          <p:cNvPr id="12" name="Circle1"/>
          <p:cNvSpPr/>
          <p:nvPr/>
        </p:nvSpPr>
        <p:spPr>
          <a:xfrm>
            <a:off x="445000" y="1225000"/>
            <a:ext cx="460000" cy="460000"/>
          </a:xfrm>
          <a:prstGeom prst="ellipse">
            <a:avLst/>
          </a:prstGeom>
          <a:solidFill>
            <a:srgbClr val="6C63FF"/>
          </a:solidFill>
          <a:ln w="0">
            <a:noFill/>
          </a:ln>
        </p:spPr>
        <p:txBody>
          <a:bodyPr/>
          <a:lstStyle/>
          <a:p>
            <a:endParaRPr lang="en-IN" dirty="0"/>
          </a:p>
        </p:txBody>
      </p:sp>
      <p:sp>
        <p:nvSpPr>
          <p:cNvPr id="13" name="Num1"/>
          <p:cNvSpPr/>
          <p:nvPr/>
        </p:nvSpPr>
        <p:spPr>
          <a:xfrm>
            <a:off x="445000" y="1225000"/>
            <a:ext cx="460000" cy="460000"/>
          </a:xfrm>
          <a:prstGeom prst="rect">
            <a:avLst/>
          </a:prstGeom>
          <a:noFill/>
          <a:ln/>
        </p:spPr>
        <p:txBody>
          <a:bodyPr wrap="square" lIns="0" tIns="0" rIns="0" bIns="0" rtlCol="0" anchor="ctr"/>
          <a:lstStyle/>
          <a:p>
            <a:pPr marL="0" indent="0" algn="ctr">
              <a:buNone/>
            </a:pPr>
            <a:r>
              <a:rPr lang="en-US" sz="1600" b="1" dirty="0">
                <a:solidFill>
                  <a:srgbClr val="FFFFFF"/>
                </a:solidFill>
                <a:latin typeface="Times New Roman" pitchFamily="34" charset="0"/>
              </a:rPr>
              <a:t>1</a:t>
            </a:r>
          </a:p>
        </p:txBody>
      </p:sp>
      <p:sp>
        <p:nvSpPr>
          <p:cNvPr id="14" name="Title1"/>
          <p:cNvSpPr/>
          <p:nvPr/>
        </p:nvSpPr>
        <p:spPr>
          <a:xfrm>
            <a:off x="970000" y="1090000"/>
            <a:ext cx="2100000" cy="730000"/>
          </a:xfrm>
          <a:prstGeom prst="rect">
            <a:avLst/>
          </a:prstGeom>
          <a:noFill/>
          <a:ln/>
        </p:spPr>
        <p:txBody>
          <a:bodyPr wrap="square" lIns="91440" tIns="91440" rIns="91440" bIns="45720" rtlCol="0" anchor="t"/>
          <a:lstStyle/>
          <a:p>
            <a:pPr marL="0" indent="0">
              <a:lnSpc>
                <a:spcPct val="115000"/>
              </a:lnSpc>
              <a:buNone/>
            </a:pPr>
            <a:r>
              <a:rPr lang="en-US" sz="1100" b="1" dirty="0">
                <a:solidFill>
                  <a:srgbClr val="1A1A2E"/>
                </a:solidFill>
              </a:rPr>
              <a:t>Data Cleaning &amp; Validation</a:t>
            </a:r>
          </a:p>
        </p:txBody>
      </p:sp>
      <p:sp>
        <p:nvSpPr>
          <p:cNvPr id="15" name="Bullets1"/>
          <p:cNvSpPr/>
          <p:nvPr/>
        </p:nvSpPr>
        <p:spPr>
          <a:xfrm>
            <a:off x="3170000" y="1090000"/>
            <a:ext cx="5556400" cy="730000"/>
          </a:xfrm>
          <a:prstGeom prst="rect">
            <a:avLst/>
          </a:prstGeom>
          <a:noFill/>
          <a:ln/>
        </p:spPr>
        <p:txBody>
          <a:bodyPr wrap="square" lIns="91440" tIns="91440" rIns="91440" bIns="45720" rtlCol="0" anchor="ctr"/>
          <a:lstStyle/>
          <a:p>
            <a:pPr marL="0" indent="0">
              <a:lnSpc>
                <a:spcPct val="120000"/>
              </a:lnSpc>
              <a:buNone/>
            </a:pPr>
            <a:r>
              <a:rPr lang="en-US" sz="880" dirty="0">
                <a:solidFill>
                  <a:srgbClr val="444466"/>
                </a:solidFill>
              </a:rPr>
              <a:t>Raw transaction data was cleaned by removing rows where sales, cost, or profit were null or zero, and missing unit counts were imputed to one to prevent division errors. Product labels, divisions, regions, and shipping modes were standardised to title case for consistent grouping. Dates were parsed into a uniform datetime format, with year, month, and quarter fields derived for trend analysis.</a:t>
            </a:r>
          </a:p>
        </p:txBody>
      </p:sp>
      <p:sp>
        <p:nvSpPr>
          <p:cNvPr id="20" name="Card2"/>
          <p:cNvSpPr/>
          <p:nvPr/>
        </p:nvSpPr>
        <p:spPr>
          <a:xfrm>
            <a:off x="320040" y="1835000"/>
            <a:ext cx="8406360" cy="730000"/>
          </a:xfrm>
          <a:prstGeom prst="rect">
            <a:avLst/>
          </a:prstGeom>
          <a:solidFill>
            <a:srgbClr val="FFFFFF"/>
          </a:solidFill>
          <a:ln w="12700">
            <a:solidFill>
              <a:srgbClr val="E0E0EE"/>
            </a:solidFill>
            <a:prstDash val="solid"/>
          </a:ln>
          <a:effectLst>
            <a:outerShdw blurRad="76200" dist="25400" dir="5400000" algn="ctr" rotWithShape="0">
              <a:srgbClr val="000000">
                <a:alpha val="8000"/>
              </a:srgbClr>
            </a:outerShdw>
          </a:effectLst>
        </p:spPr>
        <p:txBody>
          <a:bodyPr/>
          <a:lstStyle/>
          <a:p>
            <a:endParaRPr lang="en-IN" dirty="0"/>
          </a:p>
        </p:txBody>
      </p:sp>
      <p:sp>
        <p:nvSpPr>
          <p:cNvPr id="21" name="Bar2"/>
          <p:cNvSpPr/>
          <p:nvPr/>
        </p:nvSpPr>
        <p:spPr>
          <a:xfrm>
            <a:off x="320040" y="1835000"/>
            <a:ext cx="54864" cy="730000"/>
          </a:xfrm>
          <a:prstGeom prst="rect">
            <a:avLst/>
          </a:prstGeom>
          <a:solidFill>
            <a:srgbClr val="028090"/>
          </a:solidFill>
          <a:ln w="0">
            <a:noFill/>
          </a:ln>
        </p:spPr>
        <p:txBody>
          <a:bodyPr/>
          <a:lstStyle/>
          <a:p>
            <a:endParaRPr lang="en-IN" dirty="0"/>
          </a:p>
        </p:txBody>
      </p:sp>
      <p:sp>
        <p:nvSpPr>
          <p:cNvPr id="22" name="Circle2"/>
          <p:cNvSpPr/>
          <p:nvPr/>
        </p:nvSpPr>
        <p:spPr>
          <a:xfrm>
            <a:off x="445000" y="1970000"/>
            <a:ext cx="460000" cy="460000"/>
          </a:xfrm>
          <a:prstGeom prst="ellipse">
            <a:avLst/>
          </a:prstGeom>
          <a:solidFill>
            <a:srgbClr val="028090"/>
          </a:solidFill>
          <a:ln w="0">
            <a:noFill/>
          </a:ln>
        </p:spPr>
        <p:txBody>
          <a:bodyPr/>
          <a:lstStyle/>
          <a:p>
            <a:endParaRPr lang="en-IN" dirty="0"/>
          </a:p>
        </p:txBody>
      </p:sp>
      <p:sp>
        <p:nvSpPr>
          <p:cNvPr id="23" name="Num2"/>
          <p:cNvSpPr/>
          <p:nvPr/>
        </p:nvSpPr>
        <p:spPr>
          <a:xfrm>
            <a:off x="445000" y="1970000"/>
            <a:ext cx="460000" cy="460000"/>
          </a:xfrm>
          <a:prstGeom prst="rect">
            <a:avLst/>
          </a:prstGeom>
          <a:noFill/>
          <a:ln/>
        </p:spPr>
        <p:txBody>
          <a:bodyPr wrap="square" lIns="0" tIns="0" rIns="0" bIns="0" rtlCol="0" anchor="ctr"/>
          <a:lstStyle/>
          <a:p>
            <a:pPr marL="0" indent="0" algn="ctr">
              <a:buNone/>
            </a:pPr>
            <a:r>
              <a:rPr lang="en-US" sz="1600" b="1" dirty="0">
                <a:solidFill>
                  <a:srgbClr val="FFFFFF"/>
                </a:solidFill>
                <a:latin typeface="Times New Roman" pitchFamily="34" charset="0"/>
              </a:rPr>
              <a:t>2</a:t>
            </a:r>
          </a:p>
        </p:txBody>
      </p:sp>
      <p:sp>
        <p:nvSpPr>
          <p:cNvPr id="24" name="Title2"/>
          <p:cNvSpPr/>
          <p:nvPr/>
        </p:nvSpPr>
        <p:spPr>
          <a:xfrm>
            <a:off x="970000" y="1835000"/>
            <a:ext cx="2100000" cy="730000"/>
          </a:xfrm>
          <a:prstGeom prst="rect">
            <a:avLst/>
          </a:prstGeom>
          <a:noFill/>
          <a:ln/>
        </p:spPr>
        <p:txBody>
          <a:bodyPr wrap="square" lIns="91440" tIns="91440" rIns="91440" bIns="45720" rtlCol="0" anchor="t"/>
          <a:lstStyle/>
          <a:p>
            <a:pPr marL="0" indent="0">
              <a:lnSpc>
                <a:spcPct val="115000"/>
              </a:lnSpc>
              <a:buNone/>
            </a:pPr>
            <a:r>
              <a:rPr lang="en-US" sz="1100" b="1" dirty="0">
                <a:solidFill>
                  <a:srgbClr val="1A1A2E"/>
                </a:solidFill>
              </a:rPr>
              <a:t>Profitability Metric Design</a:t>
            </a:r>
          </a:p>
        </p:txBody>
      </p:sp>
      <p:sp>
        <p:nvSpPr>
          <p:cNvPr id="25" name="Bullets2"/>
          <p:cNvSpPr/>
          <p:nvPr/>
        </p:nvSpPr>
        <p:spPr>
          <a:xfrm>
            <a:off x="3170000" y="1835000"/>
            <a:ext cx="5556400" cy="730000"/>
          </a:xfrm>
          <a:prstGeom prst="rect">
            <a:avLst/>
          </a:prstGeom>
          <a:noFill/>
          <a:ln/>
        </p:spPr>
        <p:txBody>
          <a:bodyPr wrap="square" lIns="91440" tIns="91440" rIns="91440" bIns="45720" rtlCol="0" anchor="ctr"/>
          <a:lstStyle/>
          <a:p>
            <a:pPr marL="0" indent="0">
              <a:lnSpc>
                <a:spcPct val="120000"/>
              </a:lnSpc>
              <a:buNone/>
            </a:pPr>
            <a:r>
              <a:rPr lang="en-US" sz="880" dirty="0">
                <a:solidFill>
                  <a:srgbClr val="444466"/>
                </a:solidFill>
              </a:rPr>
              <a:t>Four metrics were engineered from the cleaned data: gross margin percentage as the primary health indicator; profit per unit to surface thin-margin, high-volume products; the cost ratio to flag products where sourcing consumes more than 80% of sales; and revenue and profit share percentages to reveal each product's position within the broader portfolio.</a:t>
            </a:r>
          </a:p>
        </p:txBody>
      </p:sp>
      <p:sp>
        <p:nvSpPr>
          <p:cNvPr id="30" name="Card3"/>
          <p:cNvSpPr/>
          <p:nvPr/>
        </p:nvSpPr>
        <p:spPr>
          <a:xfrm>
            <a:off x="320040" y="2580000"/>
            <a:ext cx="8406360" cy="730000"/>
          </a:xfrm>
          <a:prstGeom prst="rect">
            <a:avLst/>
          </a:prstGeom>
          <a:solidFill>
            <a:srgbClr val="FFFFFF"/>
          </a:solidFill>
          <a:ln w="12700">
            <a:solidFill>
              <a:srgbClr val="E0E0EE"/>
            </a:solidFill>
            <a:prstDash val="solid"/>
          </a:ln>
          <a:effectLst>
            <a:outerShdw blurRad="76200" dist="25400" dir="5400000" algn="ctr" rotWithShape="0">
              <a:srgbClr val="000000">
                <a:alpha val="8000"/>
              </a:srgbClr>
            </a:outerShdw>
          </a:effectLst>
        </p:spPr>
        <p:txBody>
          <a:bodyPr/>
          <a:lstStyle/>
          <a:p>
            <a:endParaRPr lang="en-IN" dirty="0"/>
          </a:p>
        </p:txBody>
      </p:sp>
      <p:sp>
        <p:nvSpPr>
          <p:cNvPr id="31" name="Bar3"/>
          <p:cNvSpPr/>
          <p:nvPr/>
        </p:nvSpPr>
        <p:spPr>
          <a:xfrm>
            <a:off x="320040" y="2580000"/>
            <a:ext cx="54864" cy="730000"/>
          </a:xfrm>
          <a:prstGeom prst="rect">
            <a:avLst/>
          </a:prstGeom>
          <a:solidFill>
            <a:srgbClr val="7B4F2E"/>
          </a:solidFill>
          <a:ln w="0">
            <a:noFill/>
          </a:ln>
        </p:spPr>
        <p:txBody>
          <a:bodyPr/>
          <a:lstStyle/>
          <a:p>
            <a:endParaRPr lang="en-IN" dirty="0"/>
          </a:p>
        </p:txBody>
      </p:sp>
      <p:sp>
        <p:nvSpPr>
          <p:cNvPr id="32" name="Circle3"/>
          <p:cNvSpPr/>
          <p:nvPr/>
        </p:nvSpPr>
        <p:spPr>
          <a:xfrm>
            <a:off x="445000" y="2715000"/>
            <a:ext cx="460000" cy="460000"/>
          </a:xfrm>
          <a:prstGeom prst="ellipse">
            <a:avLst/>
          </a:prstGeom>
          <a:solidFill>
            <a:srgbClr val="7B4F2E"/>
          </a:solidFill>
          <a:ln w="0">
            <a:noFill/>
          </a:ln>
        </p:spPr>
        <p:txBody>
          <a:bodyPr/>
          <a:lstStyle/>
          <a:p>
            <a:endParaRPr lang="en-IN" dirty="0"/>
          </a:p>
        </p:txBody>
      </p:sp>
      <p:sp>
        <p:nvSpPr>
          <p:cNvPr id="33" name="Num3"/>
          <p:cNvSpPr/>
          <p:nvPr/>
        </p:nvSpPr>
        <p:spPr>
          <a:xfrm>
            <a:off x="445000" y="2715000"/>
            <a:ext cx="460000" cy="460000"/>
          </a:xfrm>
          <a:prstGeom prst="rect">
            <a:avLst/>
          </a:prstGeom>
          <a:noFill/>
          <a:ln/>
        </p:spPr>
        <p:txBody>
          <a:bodyPr wrap="square" lIns="0" tIns="0" rIns="0" bIns="0" rtlCol="0" anchor="ctr"/>
          <a:lstStyle/>
          <a:p>
            <a:pPr marL="0" indent="0" algn="ctr">
              <a:buNone/>
            </a:pPr>
            <a:r>
              <a:rPr lang="en-US" sz="1600" b="1" dirty="0">
                <a:solidFill>
                  <a:srgbClr val="FFFFFF"/>
                </a:solidFill>
                <a:latin typeface="Times New Roman" pitchFamily="34" charset="0"/>
              </a:rPr>
              <a:t>3</a:t>
            </a:r>
          </a:p>
        </p:txBody>
      </p:sp>
      <p:sp>
        <p:nvSpPr>
          <p:cNvPr id="34" name="Title3"/>
          <p:cNvSpPr/>
          <p:nvPr/>
        </p:nvSpPr>
        <p:spPr>
          <a:xfrm>
            <a:off x="970000" y="2580000"/>
            <a:ext cx="2100000" cy="730000"/>
          </a:xfrm>
          <a:prstGeom prst="rect">
            <a:avLst/>
          </a:prstGeom>
          <a:noFill/>
          <a:ln/>
        </p:spPr>
        <p:txBody>
          <a:bodyPr wrap="square" lIns="91440" tIns="91440" rIns="91440" bIns="45720" rtlCol="0" anchor="t"/>
          <a:lstStyle/>
          <a:p>
            <a:pPr marL="0" indent="0">
              <a:lnSpc>
                <a:spcPct val="115000"/>
              </a:lnSpc>
              <a:buNone/>
            </a:pPr>
            <a:r>
              <a:rPr lang="en-US" sz="1100" b="1" dirty="0">
                <a:solidFill>
                  <a:srgbClr val="1A1A2E"/>
                </a:solidFill>
              </a:rPr>
              <a:t>Product-Level Analysis</a:t>
            </a:r>
          </a:p>
        </p:txBody>
      </p:sp>
      <p:sp>
        <p:nvSpPr>
          <p:cNvPr id="35" name="Bullets3"/>
          <p:cNvSpPr/>
          <p:nvPr/>
        </p:nvSpPr>
        <p:spPr>
          <a:xfrm>
            <a:off x="3170000" y="2580000"/>
            <a:ext cx="5556400" cy="730000"/>
          </a:xfrm>
          <a:prstGeom prst="rect">
            <a:avLst/>
          </a:prstGeom>
          <a:noFill/>
          <a:ln/>
        </p:spPr>
        <p:txBody>
          <a:bodyPr wrap="square" lIns="91440" tIns="91440" rIns="91440" bIns="45720" rtlCol="0" anchor="ctr"/>
          <a:lstStyle/>
          <a:p>
            <a:pPr marL="0" indent="0">
              <a:lnSpc>
                <a:spcPct val="120000"/>
              </a:lnSpc>
              <a:buNone/>
            </a:pPr>
            <a:r>
              <a:rPr lang="en-US" sz="880" dirty="0">
                <a:solidFill>
                  <a:srgbClr val="444466"/>
                </a:solidFill>
              </a:rPr>
              <a:t>Every product was ranked by average gross margin and total profit contribution, then assigned one of six action flags — Maintain, Promote, Monitor, Reprice, Renegotiate Cost, or Discontinue — based on its position in a margin-by-volume matrix. Products were also classified into four strategic quadrants using sales, margin, and portfolio median thresholds, with statistical health bands set at one and two standard deviations below the mean.</a:t>
            </a:r>
          </a:p>
        </p:txBody>
      </p:sp>
      <p:sp>
        <p:nvSpPr>
          <p:cNvPr id="40" name="Card4"/>
          <p:cNvSpPr/>
          <p:nvPr/>
        </p:nvSpPr>
        <p:spPr>
          <a:xfrm>
            <a:off x="320040" y="3325000"/>
            <a:ext cx="8406360" cy="730000"/>
          </a:xfrm>
          <a:prstGeom prst="rect">
            <a:avLst/>
          </a:prstGeom>
          <a:solidFill>
            <a:srgbClr val="FFFFFF"/>
          </a:solidFill>
          <a:ln w="12700">
            <a:solidFill>
              <a:srgbClr val="E0E0EE"/>
            </a:solidFill>
            <a:prstDash val="solid"/>
          </a:ln>
          <a:effectLst>
            <a:outerShdw blurRad="76200" dist="25400" dir="5400000" algn="ctr" rotWithShape="0">
              <a:srgbClr val="000000">
                <a:alpha val="8000"/>
              </a:srgbClr>
            </a:outerShdw>
          </a:effectLst>
        </p:spPr>
        <p:txBody>
          <a:bodyPr/>
          <a:lstStyle/>
          <a:p>
            <a:endParaRPr lang="en-IN" dirty="0"/>
          </a:p>
        </p:txBody>
      </p:sp>
      <p:sp>
        <p:nvSpPr>
          <p:cNvPr id="41" name="Bar4"/>
          <p:cNvSpPr/>
          <p:nvPr/>
        </p:nvSpPr>
        <p:spPr>
          <a:xfrm>
            <a:off x="320040" y="3325000"/>
            <a:ext cx="54864" cy="730000"/>
          </a:xfrm>
          <a:prstGeom prst="rect">
            <a:avLst/>
          </a:prstGeom>
          <a:solidFill>
            <a:srgbClr val="E8963A"/>
          </a:solidFill>
          <a:ln w="0">
            <a:noFill/>
          </a:ln>
        </p:spPr>
        <p:txBody>
          <a:bodyPr/>
          <a:lstStyle/>
          <a:p>
            <a:endParaRPr lang="en-IN" dirty="0"/>
          </a:p>
        </p:txBody>
      </p:sp>
      <p:sp>
        <p:nvSpPr>
          <p:cNvPr id="42" name="Circle4"/>
          <p:cNvSpPr/>
          <p:nvPr/>
        </p:nvSpPr>
        <p:spPr>
          <a:xfrm>
            <a:off x="445000" y="3460000"/>
            <a:ext cx="460000" cy="460000"/>
          </a:xfrm>
          <a:prstGeom prst="ellipse">
            <a:avLst/>
          </a:prstGeom>
          <a:solidFill>
            <a:srgbClr val="E8963A"/>
          </a:solidFill>
          <a:ln w="0">
            <a:noFill/>
          </a:ln>
        </p:spPr>
        <p:txBody>
          <a:bodyPr/>
          <a:lstStyle/>
          <a:p>
            <a:endParaRPr lang="en-IN" dirty="0"/>
          </a:p>
        </p:txBody>
      </p:sp>
      <p:sp>
        <p:nvSpPr>
          <p:cNvPr id="43" name="Num4"/>
          <p:cNvSpPr/>
          <p:nvPr/>
        </p:nvSpPr>
        <p:spPr>
          <a:xfrm>
            <a:off x="445000" y="3460000"/>
            <a:ext cx="460000" cy="460000"/>
          </a:xfrm>
          <a:prstGeom prst="rect">
            <a:avLst/>
          </a:prstGeom>
          <a:noFill/>
          <a:ln/>
        </p:spPr>
        <p:txBody>
          <a:bodyPr wrap="square" lIns="0" tIns="0" rIns="0" bIns="0" rtlCol="0" anchor="ctr"/>
          <a:lstStyle/>
          <a:p>
            <a:pPr marL="0" indent="0" algn="ctr">
              <a:buNone/>
            </a:pPr>
            <a:r>
              <a:rPr lang="en-US" sz="1600" b="1" dirty="0">
                <a:solidFill>
                  <a:srgbClr val="FFFFFF"/>
                </a:solidFill>
                <a:latin typeface="Times New Roman" pitchFamily="34" charset="0"/>
              </a:rPr>
              <a:t>4</a:t>
            </a:r>
          </a:p>
        </p:txBody>
      </p:sp>
      <p:sp>
        <p:nvSpPr>
          <p:cNvPr id="44" name="Title4"/>
          <p:cNvSpPr/>
          <p:nvPr/>
        </p:nvSpPr>
        <p:spPr>
          <a:xfrm>
            <a:off x="970000" y="3325000"/>
            <a:ext cx="2100000" cy="730000"/>
          </a:xfrm>
          <a:prstGeom prst="rect">
            <a:avLst/>
          </a:prstGeom>
          <a:noFill/>
          <a:ln/>
        </p:spPr>
        <p:txBody>
          <a:bodyPr wrap="square" lIns="91440" tIns="91440" rIns="91440" bIns="45720" rtlCol="0" anchor="t"/>
          <a:lstStyle/>
          <a:p>
            <a:pPr marL="0" indent="0">
              <a:lnSpc>
                <a:spcPct val="115000"/>
              </a:lnSpc>
              <a:buNone/>
            </a:pPr>
            <a:r>
              <a:rPr lang="en-US" sz="1100" b="1" dirty="0">
                <a:solidFill>
                  <a:srgbClr val="1A1A2E"/>
                </a:solidFill>
              </a:rPr>
              <a:t>Division &amp; Pareto Analysis</a:t>
            </a:r>
          </a:p>
        </p:txBody>
      </p:sp>
      <p:sp>
        <p:nvSpPr>
          <p:cNvPr id="45" name="Bullets4"/>
          <p:cNvSpPr/>
          <p:nvPr/>
        </p:nvSpPr>
        <p:spPr>
          <a:xfrm>
            <a:off x="3170000" y="3325000"/>
            <a:ext cx="5556400" cy="730000"/>
          </a:xfrm>
          <a:prstGeom prst="rect">
            <a:avLst/>
          </a:prstGeom>
          <a:noFill/>
          <a:ln/>
        </p:spPr>
        <p:txBody>
          <a:bodyPr wrap="square" lIns="91440" tIns="91440" rIns="91440" bIns="45720" rtlCol="0" anchor="ctr"/>
          <a:lstStyle/>
          <a:p>
            <a:pPr marL="0" indent="0">
              <a:lnSpc>
                <a:spcPct val="120000"/>
              </a:lnSpc>
              <a:buNone/>
            </a:pPr>
            <a:r>
              <a:rPr lang="en-US" sz="880" dirty="0">
                <a:solidFill>
                  <a:srgbClr val="444466"/>
                </a:solidFill>
              </a:rPr>
              <a:t>Performance was aggregated across divisions using eight KPIs — margin, revenue, profit, cost, units, orders, and per-unit economics. A grouped bar chart with a margin overlay exposes divisions that generate strong revenue without proportional profit. Pareto curves show how many products drive 80% of total performance, and a concentration flag is raised when any single product exceeds 20% of divisional or portfolio profit.</a:t>
            </a:r>
          </a:p>
        </p:txBody>
      </p:sp>
      <p:sp>
        <p:nvSpPr>
          <p:cNvPr id="50" name="Card5"/>
          <p:cNvSpPr/>
          <p:nvPr/>
        </p:nvSpPr>
        <p:spPr>
          <a:xfrm>
            <a:off x="320040" y="4070000"/>
            <a:ext cx="8406360" cy="730000"/>
          </a:xfrm>
          <a:prstGeom prst="rect">
            <a:avLst/>
          </a:prstGeom>
          <a:solidFill>
            <a:srgbClr val="FFFFFF"/>
          </a:solidFill>
          <a:ln w="12700">
            <a:solidFill>
              <a:srgbClr val="E0E0EE"/>
            </a:solidFill>
            <a:prstDash val="solid"/>
          </a:ln>
          <a:effectLst>
            <a:outerShdw blurRad="76200" dist="25400" dir="5400000" algn="ctr" rotWithShape="0">
              <a:srgbClr val="000000">
                <a:alpha val="8000"/>
              </a:srgbClr>
            </a:outerShdw>
          </a:effectLst>
        </p:spPr>
        <p:txBody>
          <a:bodyPr/>
          <a:lstStyle/>
          <a:p>
            <a:endParaRPr lang="en-IN" dirty="0"/>
          </a:p>
        </p:txBody>
      </p:sp>
      <p:sp>
        <p:nvSpPr>
          <p:cNvPr id="51" name="Bar5"/>
          <p:cNvSpPr/>
          <p:nvPr/>
        </p:nvSpPr>
        <p:spPr>
          <a:xfrm>
            <a:off x="320040" y="4070000"/>
            <a:ext cx="54864" cy="730000"/>
          </a:xfrm>
          <a:prstGeom prst="rect">
            <a:avLst/>
          </a:prstGeom>
          <a:solidFill>
            <a:srgbClr val="1FA66A"/>
          </a:solidFill>
          <a:ln w="0">
            <a:noFill/>
          </a:ln>
        </p:spPr>
        <p:txBody>
          <a:bodyPr/>
          <a:lstStyle/>
          <a:p>
            <a:endParaRPr lang="en-IN" dirty="0"/>
          </a:p>
        </p:txBody>
      </p:sp>
      <p:sp>
        <p:nvSpPr>
          <p:cNvPr id="52" name="Circle5"/>
          <p:cNvSpPr/>
          <p:nvPr/>
        </p:nvSpPr>
        <p:spPr>
          <a:xfrm>
            <a:off x="445000" y="4205000"/>
            <a:ext cx="460000" cy="460000"/>
          </a:xfrm>
          <a:prstGeom prst="ellipse">
            <a:avLst/>
          </a:prstGeom>
          <a:solidFill>
            <a:srgbClr val="1FA66A"/>
          </a:solidFill>
          <a:ln w="0">
            <a:noFill/>
          </a:ln>
        </p:spPr>
        <p:txBody>
          <a:bodyPr/>
          <a:lstStyle/>
          <a:p>
            <a:endParaRPr lang="en-IN" dirty="0"/>
          </a:p>
        </p:txBody>
      </p:sp>
      <p:sp>
        <p:nvSpPr>
          <p:cNvPr id="53" name="Num5"/>
          <p:cNvSpPr/>
          <p:nvPr/>
        </p:nvSpPr>
        <p:spPr>
          <a:xfrm>
            <a:off x="445000" y="4205000"/>
            <a:ext cx="460000" cy="460000"/>
          </a:xfrm>
          <a:prstGeom prst="rect">
            <a:avLst/>
          </a:prstGeom>
          <a:noFill/>
          <a:ln/>
        </p:spPr>
        <p:txBody>
          <a:bodyPr wrap="square" lIns="0" tIns="0" rIns="0" bIns="0" rtlCol="0" anchor="ctr"/>
          <a:lstStyle/>
          <a:p>
            <a:pPr marL="0" indent="0" algn="ctr">
              <a:buNone/>
            </a:pPr>
            <a:r>
              <a:rPr lang="en-US" sz="1600" b="1" dirty="0">
                <a:solidFill>
                  <a:srgbClr val="FFFFFF"/>
                </a:solidFill>
                <a:latin typeface="Times New Roman" pitchFamily="34" charset="0"/>
              </a:rPr>
              <a:t>5</a:t>
            </a:r>
          </a:p>
        </p:txBody>
      </p:sp>
      <p:sp>
        <p:nvSpPr>
          <p:cNvPr id="54" name="Title5"/>
          <p:cNvSpPr/>
          <p:nvPr/>
        </p:nvSpPr>
        <p:spPr>
          <a:xfrm>
            <a:off x="970000" y="4070000"/>
            <a:ext cx="2100000" cy="730000"/>
          </a:xfrm>
          <a:prstGeom prst="rect">
            <a:avLst/>
          </a:prstGeom>
          <a:noFill/>
          <a:ln/>
        </p:spPr>
        <p:txBody>
          <a:bodyPr wrap="square" lIns="91440" tIns="91440" rIns="91440" bIns="45720" rtlCol="0" anchor="t"/>
          <a:lstStyle/>
          <a:p>
            <a:pPr marL="0" indent="0">
              <a:lnSpc>
                <a:spcPct val="115000"/>
              </a:lnSpc>
              <a:buNone/>
            </a:pPr>
            <a:r>
              <a:rPr lang="en-US" sz="1100" b="1" dirty="0">
                <a:solidFill>
                  <a:srgbClr val="1A1A2E"/>
                </a:solidFill>
              </a:rPr>
              <a:t>Cost Diagnostics &amp; Dashboard</a:t>
            </a:r>
          </a:p>
        </p:txBody>
      </p:sp>
      <p:sp>
        <p:nvSpPr>
          <p:cNvPr id="55" name="Bullets5"/>
          <p:cNvSpPr/>
          <p:nvPr/>
        </p:nvSpPr>
        <p:spPr>
          <a:xfrm>
            <a:off x="3170000" y="4070000"/>
            <a:ext cx="5556400" cy="730000"/>
          </a:xfrm>
          <a:prstGeom prst="rect">
            <a:avLst/>
          </a:prstGeom>
          <a:noFill/>
          <a:ln/>
        </p:spPr>
        <p:txBody>
          <a:bodyPr wrap="square" lIns="91440" tIns="91440" rIns="91440" bIns="45720" rtlCol="0" anchor="ctr"/>
          <a:lstStyle/>
          <a:p>
            <a:pPr marL="0" indent="0">
              <a:lnSpc>
                <a:spcPct val="120000"/>
              </a:lnSpc>
              <a:buNone/>
            </a:pPr>
            <a:r>
              <a:rPr lang="en-US" sz="880" dirty="0">
                <a:solidFill>
                  <a:srgbClr val="444466"/>
                </a:solidFill>
              </a:rPr>
              <a:t>A cost-vs-sales scatter plot — with bubble size scaled to order volume — maps every product into colour-coded margin zones and auto-assigns a cost action: Renegotiate, Monitor, Promote, Discontinue or Maintain. The five-page interactive dashboard covers Executive Overview, Product Profitability, Division Performance, Pareto, and Cost Diagnostics, with live-refreshing sidebar filters for division, date range, margin floor, and product selection.</a:t>
            </a:r>
          </a:p>
        </p:txBody>
      </p:sp>
      <p:sp>
        <p:nvSpPr>
          <p:cNvPr id="60" name="Divider"/>
          <p:cNvSpPr/>
          <p:nvPr/>
        </p:nvSpPr>
        <p:spPr>
          <a:xfrm>
            <a:off x="3115000" y="1105000"/>
            <a:ext cx="18000" cy="3325000"/>
          </a:xfrm>
          <a:prstGeom prst="rect">
            <a:avLst/>
          </a:prstGeom>
          <a:solidFill>
            <a:srgbClr val="D8D8EC"/>
          </a:solidFill>
          <a:ln w="0">
            <a:noFill/>
          </a:ln>
        </p:spPr>
        <p:txBody>
          <a:bodyPr/>
          <a:lstStyle/>
          <a:p>
            <a:endParaRPr lang="en-IN" dirty="0"/>
          </a:p>
        </p:txBody>
      </p:sp>
      <p:sp>
        <p:nvSpPr>
          <p:cNvPr id="70" name="FooterLeft"/>
          <p:cNvSpPr/>
          <p:nvPr/>
        </p:nvSpPr>
        <p:spPr>
          <a:xfrm>
            <a:off x="457200" y="4800600"/>
            <a:ext cx="5486400" cy="228600"/>
          </a:xfrm>
          <a:prstGeom prst="rect">
            <a:avLst/>
          </a:prstGeom>
          <a:noFill/>
          <a:ln/>
        </p:spPr>
        <p:txBody>
          <a:bodyPr wrap="square" rtlCol="0" anchor="ctr"/>
          <a:lstStyle/>
          <a:p>
            <a:pPr marL="0" indent="0" algn="l">
              <a:buNone/>
            </a:pPr>
            <a:r>
              <a:rPr lang="en-US" sz="800" dirty="0">
                <a:solidFill>
                  <a:srgbClr val="999999"/>
                </a:solidFill>
              </a:rPr>
              <a:t>Nassau Candy Distributor · Profitability Analysis</a:t>
            </a:r>
          </a:p>
        </p:txBody>
      </p:sp>
      <p:sp>
        <p:nvSpPr>
          <p:cNvPr id="71" name="FooterRight"/>
          <p:cNvSpPr/>
          <p:nvPr/>
        </p:nvSpPr>
        <p:spPr>
          <a:xfrm>
            <a:off x="8046720" y="4800600"/>
            <a:ext cx="914400" cy="228600"/>
          </a:xfrm>
          <a:prstGeom prst="rect">
            <a:avLst/>
          </a:prstGeom>
          <a:noFill/>
          <a:ln/>
        </p:spPr>
        <p:txBody>
          <a:bodyPr wrap="square" rtlCol="0" anchor="ctr"/>
          <a:lstStyle/>
          <a:p>
            <a:pPr marL="0" indent="0" algn="r">
              <a:buNone/>
            </a:pPr>
            <a:r>
              <a:rPr lang="en-US" sz="800" dirty="0">
                <a:solidFill>
                  <a:srgbClr val="999999"/>
                </a:solidFill>
              </a:rPr>
              <a:t>7 / 12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8963A"/>
          </a:solidFill>
          <a:ln w="12700">
            <a:solidFill>
              <a:srgbClr val="E8963A"/>
            </a:solidFill>
            <a:prstDash val="solid"/>
          </a:ln>
        </p:spPr>
        <p:txBody>
          <a:bodyPr/>
          <a:lstStyle/>
          <a:p>
            <a:endParaRPr lang="en-IN" dirty="0"/>
          </a:p>
        </p:txBody>
      </p:sp>
      <p:sp>
        <p:nvSpPr>
          <p:cNvPr id="3" name="Text 1"/>
          <p:cNvSpPr/>
          <p:nvPr/>
        </p:nvSpPr>
        <p:spPr>
          <a:xfrm>
            <a:off x="320040" y="256032"/>
            <a:ext cx="7315200" cy="502920"/>
          </a:xfrm>
          <a:prstGeom prst="rect">
            <a:avLst/>
          </a:prstGeom>
          <a:noFill/>
          <a:ln/>
        </p:spPr>
        <p:txBody>
          <a:bodyPr wrap="square"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KPI Framework</a:t>
            </a:r>
            <a:endParaRPr lang="en-US" sz="2800" dirty="0"/>
          </a:p>
        </p:txBody>
      </p:sp>
      <p:sp>
        <p:nvSpPr>
          <p:cNvPr id="4" name="Text 2"/>
          <p:cNvSpPr/>
          <p:nvPr/>
        </p:nvSpPr>
        <p:spPr>
          <a:xfrm>
            <a:off x="320040" y="758952"/>
            <a:ext cx="7772400" cy="274320"/>
          </a:xfrm>
          <a:prstGeom prst="rect">
            <a:avLst/>
          </a:prstGeom>
          <a:noFill/>
          <a:ln/>
        </p:spPr>
        <p:txBody>
          <a:bodyPr wrap="square" rtlCol="0" anchor="ctr"/>
          <a:lstStyle/>
          <a:p>
            <a:pPr marL="0" indent="0">
              <a:buNone/>
            </a:pPr>
            <a:r>
              <a:rPr lang="en-US" sz="1200" i="1" dirty="0">
                <a:solidFill>
                  <a:srgbClr val="8888BB"/>
                </a:solidFill>
              </a:rPr>
              <a:t>Key Performance Indicators designed for product profitability intelligence</a:t>
            </a:r>
            <a:endParaRPr lang="en-US" sz="1200" dirty="0"/>
          </a:p>
        </p:txBody>
      </p:sp>
      <p:sp>
        <p:nvSpPr>
          <p:cNvPr id="5" name="Shape 3"/>
          <p:cNvSpPr/>
          <p:nvPr/>
        </p:nvSpPr>
        <p:spPr>
          <a:xfrm>
            <a:off x="320040" y="1188720"/>
            <a:ext cx="2743200" cy="1627632"/>
          </a:xfrm>
          <a:prstGeom prst="rect">
            <a:avLst/>
          </a:prstGeom>
          <a:solidFill>
            <a:srgbClr val="12122A"/>
          </a:solidFill>
          <a:ln w="12700">
            <a:solidFill>
              <a:srgbClr val="2D2D60"/>
            </a:solidFill>
            <a:prstDash val="solid"/>
          </a:ln>
          <a:effectLst>
            <a:outerShdw blurRad="101600" dist="38100" dir="8100000" algn="bl" rotWithShape="0">
              <a:srgbClr val="000000">
                <a:alpha val="12000"/>
              </a:srgbClr>
            </a:outerShdw>
          </a:effectLst>
        </p:spPr>
        <p:txBody>
          <a:bodyPr/>
          <a:lstStyle/>
          <a:p>
            <a:endParaRPr lang="en-IN" dirty="0"/>
          </a:p>
        </p:txBody>
      </p:sp>
      <p:sp>
        <p:nvSpPr>
          <p:cNvPr id="6" name="Shape 4"/>
          <p:cNvSpPr/>
          <p:nvPr/>
        </p:nvSpPr>
        <p:spPr>
          <a:xfrm>
            <a:off x="320040" y="1188720"/>
            <a:ext cx="2743200" cy="54864"/>
          </a:xfrm>
          <a:prstGeom prst="rect">
            <a:avLst/>
          </a:prstGeom>
          <a:solidFill>
            <a:srgbClr val="6C63FF"/>
          </a:solidFill>
          <a:ln w="12700">
            <a:solidFill>
              <a:srgbClr val="6C63FF"/>
            </a:solidFill>
            <a:prstDash val="solid"/>
          </a:ln>
        </p:spPr>
        <p:txBody>
          <a:bodyPr/>
          <a:lstStyle/>
          <a:p>
            <a:endParaRPr lang="en-IN" dirty="0"/>
          </a:p>
        </p:txBody>
      </p:sp>
      <p:sp>
        <p:nvSpPr>
          <p:cNvPr id="7" name="Text 5"/>
          <p:cNvSpPr/>
          <p:nvPr/>
        </p:nvSpPr>
        <p:spPr>
          <a:xfrm>
            <a:off x="457200" y="1325880"/>
            <a:ext cx="2468880" cy="329184"/>
          </a:xfrm>
          <a:prstGeom prst="rect">
            <a:avLst/>
          </a:prstGeom>
          <a:noFill/>
          <a:ln/>
        </p:spPr>
        <p:txBody>
          <a:bodyPr wrap="square"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Gross Margin %</a:t>
            </a:r>
            <a:endParaRPr lang="en-US" sz="1300" dirty="0"/>
          </a:p>
        </p:txBody>
      </p:sp>
      <p:sp>
        <p:nvSpPr>
          <p:cNvPr id="8" name="Text 6"/>
          <p:cNvSpPr/>
          <p:nvPr/>
        </p:nvSpPr>
        <p:spPr>
          <a:xfrm>
            <a:off x="457200" y="1691640"/>
            <a:ext cx="2514600" cy="274320"/>
          </a:xfrm>
          <a:prstGeom prst="rect">
            <a:avLst/>
          </a:prstGeom>
          <a:noFill/>
          <a:ln/>
        </p:spPr>
        <p:txBody>
          <a:bodyPr wrap="square" rtlCol="0" anchor="ctr"/>
          <a:lstStyle/>
          <a:p>
            <a:pPr marL="0" indent="0">
              <a:buNone/>
            </a:pPr>
            <a:r>
              <a:rPr lang="en-US" sz="900" i="1" dirty="0">
                <a:solidFill>
                  <a:srgbClr val="6C63FF"/>
                </a:solidFill>
              </a:rPr>
              <a:t>Formula: Gross Profit ÷ Sales × 100</a:t>
            </a:r>
            <a:endParaRPr lang="en-US" sz="900" dirty="0"/>
          </a:p>
        </p:txBody>
      </p:sp>
      <p:sp>
        <p:nvSpPr>
          <p:cNvPr id="9" name="Shape 7"/>
          <p:cNvSpPr/>
          <p:nvPr/>
        </p:nvSpPr>
        <p:spPr>
          <a:xfrm>
            <a:off x="457200" y="1993392"/>
            <a:ext cx="2468880" cy="0"/>
          </a:xfrm>
          <a:prstGeom prst="line">
            <a:avLst/>
          </a:prstGeom>
          <a:noFill/>
          <a:ln w="6350">
            <a:solidFill>
              <a:srgbClr val="2D2D60"/>
            </a:solidFill>
            <a:prstDash val="solid"/>
          </a:ln>
        </p:spPr>
        <p:txBody>
          <a:bodyPr/>
          <a:lstStyle/>
          <a:p>
            <a:endParaRPr lang="en-IN" dirty="0"/>
          </a:p>
        </p:txBody>
      </p:sp>
      <p:sp>
        <p:nvSpPr>
          <p:cNvPr id="10" name="Text 8"/>
          <p:cNvSpPr/>
          <p:nvPr/>
        </p:nvSpPr>
        <p:spPr>
          <a:xfrm>
            <a:off x="457200" y="2084832"/>
            <a:ext cx="2514600" cy="594360"/>
          </a:xfrm>
          <a:prstGeom prst="rect">
            <a:avLst/>
          </a:prstGeom>
          <a:noFill/>
          <a:ln/>
        </p:spPr>
        <p:txBody>
          <a:bodyPr wrap="square" rtlCol="0" anchor="ctr"/>
          <a:lstStyle/>
          <a:p>
            <a:pPr marL="0" indent="0">
              <a:lnSpc>
                <a:spcPct val="130000"/>
              </a:lnSpc>
              <a:buNone/>
            </a:pPr>
            <a:r>
              <a:rPr lang="en-US" sz="950" dirty="0">
                <a:solidFill>
                  <a:srgbClr val="9999CC"/>
                </a:solidFill>
              </a:rPr>
              <a:t>Primary health metric for each product / division</a:t>
            </a:r>
            <a:endParaRPr lang="en-US" sz="950" dirty="0"/>
          </a:p>
        </p:txBody>
      </p:sp>
      <p:sp>
        <p:nvSpPr>
          <p:cNvPr id="11" name="Shape 9"/>
          <p:cNvSpPr/>
          <p:nvPr/>
        </p:nvSpPr>
        <p:spPr>
          <a:xfrm>
            <a:off x="3246120" y="1188720"/>
            <a:ext cx="2743200" cy="1627632"/>
          </a:xfrm>
          <a:prstGeom prst="rect">
            <a:avLst/>
          </a:prstGeom>
          <a:solidFill>
            <a:srgbClr val="12122A"/>
          </a:solidFill>
          <a:ln w="12700">
            <a:solidFill>
              <a:srgbClr val="2D2D60"/>
            </a:solidFill>
            <a:prstDash val="solid"/>
          </a:ln>
          <a:effectLst>
            <a:outerShdw blurRad="101600" dist="38100" dir="8100000" algn="bl" rotWithShape="0">
              <a:srgbClr val="000000">
                <a:alpha val="12000"/>
              </a:srgbClr>
            </a:outerShdw>
          </a:effectLst>
        </p:spPr>
        <p:txBody>
          <a:bodyPr/>
          <a:lstStyle/>
          <a:p>
            <a:endParaRPr lang="en-IN" dirty="0"/>
          </a:p>
        </p:txBody>
      </p:sp>
      <p:sp>
        <p:nvSpPr>
          <p:cNvPr id="12" name="Shape 10"/>
          <p:cNvSpPr/>
          <p:nvPr/>
        </p:nvSpPr>
        <p:spPr>
          <a:xfrm>
            <a:off x="3246120" y="1188720"/>
            <a:ext cx="2743200" cy="54864"/>
          </a:xfrm>
          <a:prstGeom prst="rect">
            <a:avLst/>
          </a:prstGeom>
          <a:solidFill>
            <a:srgbClr val="028090"/>
          </a:solidFill>
          <a:ln w="12700">
            <a:solidFill>
              <a:srgbClr val="028090"/>
            </a:solidFill>
            <a:prstDash val="solid"/>
          </a:ln>
        </p:spPr>
        <p:txBody>
          <a:bodyPr/>
          <a:lstStyle/>
          <a:p>
            <a:endParaRPr lang="en-IN" dirty="0"/>
          </a:p>
        </p:txBody>
      </p:sp>
      <p:sp>
        <p:nvSpPr>
          <p:cNvPr id="13" name="Text 11"/>
          <p:cNvSpPr/>
          <p:nvPr/>
        </p:nvSpPr>
        <p:spPr>
          <a:xfrm>
            <a:off x="3383280" y="1325880"/>
            <a:ext cx="2468880" cy="329184"/>
          </a:xfrm>
          <a:prstGeom prst="rect">
            <a:avLst/>
          </a:prstGeom>
          <a:noFill/>
          <a:ln/>
        </p:spPr>
        <p:txBody>
          <a:bodyPr wrap="square"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Profit Per Unit</a:t>
            </a:r>
            <a:endParaRPr lang="en-US" sz="1300" dirty="0"/>
          </a:p>
        </p:txBody>
      </p:sp>
      <p:sp>
        <p:nvSpPr>
          <p:cNvPr id="14" name="Text 12"/>
          <p:cNvSpPr/>
          <p:nvPr/>
        </p:nvSpPr>
        <p:spPr>
          <a:xfrm>
            <a:off x="3383280" y="1691640"/>
            <a:ext cx="2514600" cy="274320"/>
          </a:xfrm>
          <a:prstGeom prst="rect">
            <a:avLst/>
          </a:prstGeom>
          <a:noFill/>
          <a:ln/>
        </p:spPr>
        <p:txBody>
          <a:bodyPr wrap="square" rtlCol="0" anchor="ctr"/>
          <a:lstStyle/>
          <a:p>
            <a:pPr marL="0" indent="0">
              <a:buNone/>
            </a:pPr>
            <a:r>
              <a:rPr lang="en-US" sz="900" i="1" dirty="0">
                <a:solidFill>
                  <a:srgbClr val="028090"/>
                </a:solidFill>
              </a:rPr>
              <a:t>Formula: Gross Profit ÷ Units Sold</a:t>
            </a:r>
            <a:endParaRPr lang="en-US" sz="900" dirty="0"/>
          </a:p>
        </p:txBody>
      </p:sp>
      <p:sp>
        <p:nvSpPr>
          <p:cNvPr id="15" name="Shape 13"/>
          <p:cNvSpPr/>
          <p:nvPr/>
        </p:nvSpPr>
        <p:spPr>
          <a:xfrm>
            <a:off x="3383280" y="1993392"/>
            <a:ext cx="2468880" cy="0"/>
          </a:xfrm>
          <a:prstGeom prst="line">
            <a:avLst/>
          </a:prstGeom>
          <a:noFill/>
          <a:ln w="6350">
            <a:solidFill>
              <a:srgbClr val="2D2D60"/>
            </a:solidFill>
            <a:prstDash val="solid"/>
          </a:ln>
        </p:spPr>
        <p:txBody>
          <a:bodyPr/>
          <a:lstStyle/>
          <a:p>
            <a:endParaRPr lang="en-IN" dirty="0"/>
          </a:p>
        </p:txBody>
      </p:sp>
      <p:sp>
        <p:nvSpPr>
          <p:cNvPr id="16" name="Text 14"/>
          <p:cNvSpPr/>
          <p:nvPr/>
        </p:nvSpPr>
        <p:spPr>
          <a:xfrm>
            <a:off x="3383280" y="2084832"/>
            <a:ext cx="2514600" cy="594360"/>
          </a:xfrm>
          <a:prstGeom prst="rect">
            <a:avLst/>
          </a:prstGeom>
          <a:noFill/>
          <a:ln/>
        </p:spPr>
        <p:txBody>
          <a:bodyPr wrap="square" rtlCol="0" anchor="ctr"/>
          <a:lstStyle/>
          <a:p>
            <a:pPr marL="0" indent="0">
              <a:lnSpc>
                <a:spcPct val="130000"/>
              </a:lnSpc>
              <a:buNone/>
            </a:pPr>
            <a:r>
              <a:rPr lang="en-US" sz="950" dirty="0">
                <a:solidFill>
                  <a:srgbClr val="9999CC"/>
                </a:solidFill>
              </a:rPr>
              <a:t>Efficiency — reveals thin-margin high-volume products</a:t>
            </a:r>
            <a:endParaRPr lang="en-US" sz="950" dirty="0"/>
          </a:p>
        </p:txBody>
      </p:sp>
      <p:sp>
        <p:nvSpPr>
          <p:cNvPr id="17" name="Shape 15"/>
          <p:cNvSpPr/>
          <p:nvPr/>
        </p:nvSpPr>
        <p:spPr>
          <a:xfrm>
            <a:off x="6172200" y="1188720"/>
            <a:ext cx="2743200" cy="1627632"/>
          </a:xfrm>
          <a:prstGeom prst="rect">
            <a:avLst/>
          </a:prstGeom>
          <a:solidFill>
            <a:srgbClr val="12122A"/>
          </a:solidFill>
          <a:ln w="12700">
            <a:solidFill>
              <a:srgbClr val="2D2D60"/>
            </a:solidFill>
            <a:prstDash val="solid"/>
          </a:ln>
          <a:effectLst>
            <a:outerShdw blurRad="101600" dist="38100" dir="8100000" algn="bl" rotWithShape="0">
              <a:srgbClr val="000000">
                <a:alpha val="12000"/>
              </a:srgbClr>
            </a:outerShdw>
          </a:effectLst>
        </p:spPr>
        <p:txBody>
          <a:bodyPr/>
          <a:lstStyle/>
          <a:p>
            <a:endParaRPr lang="en-IN" dirty="0"/>
          </a:p>
        </p:txBody>
      </p:sp>
      <p:sp>
        <p:nvSpPr>
          <p:cNvPr id="18" name="Shape 16"/>
          <p:cNvSpPr/>
          <p:nvPr/>
        </p:nvSpPr>
        <p:spPr>
          <a:xfrm>
            <a:off x="6172200" y="1188720"/>
            <a:ext cx="2743200" cy="54864"/>
          </a:xfrm>
          <a:prstGeom prst="rect">
            <a:avLst/>
          </a:prstGeom>
          <a:solidFill>
            <a:srgbClr val="E8963A"/>
          </a:solidFill>
          <a:ln w="12700">
            <a:solidFill>
              <a:srgbClr val="E8963A"/>
            </a:solidFill>
            <a:prstDash val="solid"/>
          </a:ln>
        </p:spPr>
        <p:txBody>
          <a:bodyPr/>
          <a:lstStyle/>
          <a:p>
            <a:endParaRPr lang="en-IN" dirty="0"/>
          </a:p>
        </p:txBody>
      </p:sp>
      <p:sp>
        <p:nvSpPr>
          <p:cNvPr id="19" name="Text 17"/>
          <p:cNvSpPr/>
          <p:nvPr/>
        </p:nvSpPr>
        <p:spPr>
          <a:xfrm>
            <a:off x="6309360" y="1325880"/>
            <a:ext cx="2468880" cy="329184"/>
          </a:xfrm>
          <a:prstGeom prst="rect">
            <a:avLst/>
          </a:prstGeom>
          <a:noFill/>
          <a:ln/>
        </p:spPr>
        <p:txBody>
          <a:bodyPr wrap="square"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Revenue Share %</a:t>
            </a:r>
            <a:endParaRPr lang="en-US" sz="1300" dirty="0"/>
          </a:p>
        </p:txBody>
      </p:sp>
      <p:sp>
        <p:nvSpPr>
          <p:cNvPr id="20" name="Text 18"/>
          <p:cNvSpPr/>
          <p:nvPr/>
        </p:nvSpPr>
        <p:spPr>
          <a:xfrm>
            <a:off x="6309360" y="1691640"/>
            <a:ext cx="2514600" cy="274320"/>
          </a:xfrm>
          <a:prstGeom prst="rect">
            <a:avLst/>
          </a:prstGeom>
          <a:noFill/>
          <a:ln/>
        </p:spPr>
        <p:txBody>
          <a:bodyPr wrap="square" rtlCol="0" anchor="ctr"/>
          <a:lstStyle/>
          <a:p>
            <a:pPr marL="0" indent="0">
              <a:buNone/>
            </a:pPr>
            <a:r>
              <a:rPr lang="en-US" sz="900" i="1" dirty="0">
                <a:solidFill>
                  <a:srgbClr val="E8963A"/>
                </a:solidFill>
              </a:rPr>
              <a:t>Formula: Product Sales ÷ Total Sales × 100</a:t>
            </a:r>
            <a:endParaRPr lang="en-US" sz="900" dirty="0"/>
          </a:p>
        </p:txBody>
      </p:sp>
      <p:sp>
        <p:nvSpPr>
          <p:cNvPr id="21" name="Shape 19"/>
          <p:cNvSpPr/>
          <p:nvPr/>
        </p:nvSpPr>
        <p:spPr>
          <a:xfrm>
            <a:off x="6309360" y="1993392"/>
            <a:ext cx="2468880" cy="0"/>
          </a:xfrm>
          <a:prstGeom prst="line">
            <a:avLst/>
          </a:prstGeom>
          <a:noFill/>
          <a:ln w="6350">
            <a:solidFill>
              <a:srgbClr val="2D2D60"/>
            </a:solidFill>
            <a:prstDash val="solid"/>
          </a:ln>
        </p:spPr>
        <p:txBody>
          <a:bodyPr/>
          <a:lstStyle/>
          <a:p>
            <a:endParaRPr lang="en-IN" dirty="0"/>
          </a:p>
        </p:txBody>
      </p:sp>
      <p:sp>
        <p:nvSpPr>
          <p:cNvPr id="22" name="Text 20"/>
          <p:cNvSpPr/>
          <p:nvPr/>
        </p:nvSpPr>
        <p:spPr>
          <a:xfrm>
            <a:off x="6309360" y="2084832"/>
            <a:ext cx="2514600" cy="594360"/>
          </a:xfrm>
          <a:prstGeom prst="rect">
            <a:avLst/>
          </a:prstGeom>
          <a:noFill/>
          <a:ln/>
        </p:spPr>
        <p:txBody>
          <a:bodyPr wrap="square" rtlCol="0" anchor="ctr"/>
          <a:lstStyle/>
          <a:p>
            <a:pPr marL="0" indent="0">
              <a:lnSpc>
                <a:spcPct val="130000"/>
              </a:lnSpc>
              <a:buNone/>
            </a:pPr>
            <a:r>
              <a:rPr lang="en-US" sz="950" dirty="0">
                <a:solidFill>
                  <a:srgbClr val="9999CC"/>
                </a:solidFill>
              </a:rPr>
              <a:t>Measures each product's weight in total revenue</a:t>
            </a:r>
            <a:endParaRPr lang="en-US" sz="950" dirty="0"/>
          </a:p>
        </p:txBody>
      </p:sp>
      <p:sp>
        <p:nvSpPr>
          <p:cNvPr id="23" name="Shape 21"/>
          <p:cNvSpPr/>
          <p:nvPr/>
        </p:nvSpPr>
        <p:spPr>
          <a:xfrm>
            <a:off x="320040" y="2971800"/>
            <a:ext cx="2743200" cy="1627632"/>
          </a:xfrm>
          <a:prstGeom prst="rect">
            <a:avLst/>
          </a:prstGeom>
          <a:solidFill>
            <a:srgbClr val="12122A"/>
          </a:solidFill>
          <a:ln w="12700">
            <a:solidFill>
              <a:srgbClr val="2D2D60"/>
            </a:solidFill>
            <a:prstDash val="solid"/>
          </a:ln>
          <a:effectLst>
            <a:outerShdw blurRad="101600" dist="38100" dir="8100000" algn="bl" rotWithShape="0">
              <a:srgbClr val="000000">
                <a:alpha val="12000"/>
              </a:srgbClr>
            </a:outerShdw>
          </a:effectLst>
        </p:spPr>
        <p:txBody>
          <a:bodyPr/>
          <a:lstStyle/>
          <a:p>
            <a:endParaRPr lang="en-IN" dirty="0"/>
          </a:p>
        </p:txBody>
      </p:sp>
      <p:sp>
        <p:nvSpPr>
          <p:cNvPr id="24" name="Shape 22"/>
          <p:cNvSpPr/>
          <p:nvPr/>
        </p:nvSpPr>
        <p:spPr>
          <a:xfrm>
            <a:off x="320040" y="2971800"/>
            <a:ext cx="2743200" cy="54864"/>
          </a:xfrm>
          <a:prstGeom prst="rect">
            <a:avLst/>
          </a:prstGeom>
          <a:solidFill>
            <a:srgbClr val="1FA66A"/>
          </a:solidFill>
          <a:ln w="12700">
            <a:solidFill>
              <a:srgbClr val="1FA66A"/>
            </a:solidFill>
            <a:prstDash val="solid"/>
          </a:ln>
        </p:spPr>
        <p:txBody>
          <a:bodyPr/>
          <a:lstStyle/>
          <a:p>
            <a:endParaRPr lang="en-IN" dirty="0"/>
          </a:p>
        </p:txBody>
      </p:sp>
      <p:sp>
        <p:nvSpPr>
          <p:cNvPr id="25" name="Text 23"/>
          <p:cNvSpPr/>
          <p:nvPr/>
        </p:nvSpPr>
        <p:spPr>
          <a:xfrm>
            <a:off x="457200" y="3108960"/>
            <a:ext cx="2468880" cy="329184"/>
          </a:xfrm>
          <a:prstGeom prst="rect">
            <a:avLst/>
          </a:prstGeom>
          <a:noFill/>
          <a:ln/>
        </p:spPr>
        <p:txBody>
          <a:bodyPr wrap="square"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Profit Share %</a:t>
            </a:r>
            <a:endParaRPr lang="en-US" sz="1300" dirty="0"/>
          </a:p>
        </p:txBody>
      </p:sp>
      <p:sp>
        <p:nvSpPr>
          <p:cNvPr id="26" name="Text 24"/>
          <p:cNvSpPr/>
          <p:nvPr/>
        </p:nvSpPr>
        <p:spPr>
          <a:xfrm>
            <a:off x="457200" y="3474720"/>
            <a:ext cx="2514600" cy="274320"/>
          </a:xfrm>
          <a:prstGeom prst="rect">
            <a:avLst/>
          </a:prstGeom>
          <a:noFill/>
          <a:ln/>
        </p:spPr>
        <p:txBody>
          <a:bodyPr wrap="square" rtlCol="0" anchor="ctr"/>
          <a:lstStyle/>
          <a:p>
            <a:pPr marL="0" indent="0">
              <a:buNone/>
            </a:pPr>
            <a:r>
              <a:rPr lang="en-US" sz="900" i="1" dirty="0">
                <a:solidFill>
                  <a:srgbClr val="1FA66A"/>
                </a:solidFill>
              </a:rPr>
              <a:t>Formula: Product Profit ÷ Total Profit × 100</a:t>
            </a:r>
            <a:endParaRPr lang="en-US" sz="900" dirty="0"/>
          </a:p>
        </p:txBody>
      </p:sp>
      <p:sp>
        <p:nvSpPr>
          <p:cNvPr id="27" name="Shape 25"/>
          <p:cNvSpPr/>
          <p:nvPr/>
        </p:nvSpPr>
        <p:spPr>
          <a:xfrm>
            <a:off x="457200" y="3776472"/>
            <a:ext cx="2468880" cy="0"/>
          </a:xfrm>
          <a:prstGeom prst="line">
            <a:avLst/>
          </a:prstGeom>
          <a:noFill/>
          <a:ln w="6350">
            <a:solidFill>
              <a:srgbClr val="2D2D60"/>
            </a:solidFill>
            <a:prstDash val="solid"/>
          </a:ln>
        </p:spPr>
        <p:txBody>
          <a:bodyPr/>
          <a:lstStyle/>
          <a:p>
            <a:endParaRPr lang="en-IN" dirty="0"/>
          </a:p>
        </p:txBody>
      </p:sp>
      <p:sp>
        <p:nvSpPr>
          <p:cNvPr id="28" name="Text 26"/>
          <p:cNvSpPr/>
          <p:nvPr/>
        </p:nvSpPr>
        <p:spPr>
          <a:xfrm>
            <a:off x="457200" y="3867912"/>
            <a:ext cx="2514600" cy="594360"/>
          </a:xfrm>
          <a:prstGeom prst="rect">
            <a:avLst/>
          </a:prstGeom>
          <a:noFill/>
          <a:ln/>
        </p:spPr>
        <p:txBody>
          <a:bodyPr wrap="square" rtlCol="0" anchor="ctr"/>
          <a:lstStyle/>
          <a:p>
            <a:pPr marL="0" indent="0">
              <a:lnSpc>
                <a:spcPct val="130000"/>
              </a:lnSpc>
              <a:buNone/>
            </a:pPr>
            <a:r>
              <a:rPr lang="en-US" sz="950" dirty="0">
                <a:solidFill>
                  <a:srgbClr val="9999CC"/>
                </a:solidFill>
              </a:rPr>
              <a:t>True profit contribution — often diverges from revenue</a:t>
            </a:r>
            <a:endParaRPr lang="en-US" sz="950" dirty="0"/>
          </a:p>
        </p:txBody>
      </p:sp>
      <p:sp>
        <p:nvSpPr>
          <p:cNvPr id="29" name="Shape 27"/>
          <p:cNvSpPr/>
          <p:nvPr/>
        </p:nvSpPr>
        <p:spPr>
          <a:xfrm>
            <a:off x="3246120" y="2971800"/>
            <a:ext cx="2743200" cy="1627632"/>
          </a:xfrm>
          <a:prstGeom prst="rect">
            <a:avLst/>
          </a:prstGeom>
          <a:solidFill>
            <a:srgbClr val="12122A"/>
          </a:solidFill>
          <a:ln w="12700">
            <a:solidFill>
              <a:srgbClr val="2D2D60"/>
            </a:solidFill>
            <a:prstDash val="solid"/>
          </a:ln>
          <a:effectLst>
            <a:outerShdw blurRad="101600" dist="38100" dir="8100000" algn="bl" rotWithShape="0">
              <a:srgbClr val="000000">
                <a:alpha val="12000"/>
              </a:srgbClr>
            </a:outerShdw>
          </a:effectLst>
        </p:spPr>
        <p:txBody>
          <a:bodyPr/>
          <a:lstStyle/>
          <a:p>
            <a:endParaRPr lang="en-IN" dirty="0"/>
          </a:p>
        </p:txBody>
      </p:sp>
      <p:sp>
        <p:nvSpPr>
          <p:cNvPr id="30" name="Shape 28"/>
          <p:cNvSpPr/>
          <p:nvPr/>
        </p:nvSpPr>
        <p:spPr>
          <a:xfrm>
            <a:off x="3246120" y="2971800"/>
            <a:ext cx="2743200" cy="54864"/>
          </a:xfrm>
          <a:prstGeom prst="rect">
            <a:avLst/>
          </a:prstGeom>
          <a:solidFill>
            <a:srgbClr val="7B4F2E"/>
          </a:solidFill>
          <a:ln w="12700">
            <a:solidFill>
              <a:srgbClr val="7B4F2E"/>
            </a:solidFill>
            <a:prstDash val="solid"/>
          </a:ln>
        </p:spPr>
        <p:txBody>
          <a:bodyPr/>
          <a:lstStyle/>
          <a:p>
            <a:endParaRPr lang="en-IN" dirty="0"/>
          </a:p>
        </p:txBody>
      </p:sp>
      <p:sp>
        <p:nvSpPr>
          <p:cNvPr id="31" name="Text 29"/>
          <p:cNvSpPr/>
          <p:nvPr/>
        </p:nvSpPr>
        <p:spPr>
          <a:xfrm>
            <a:off x="3383280" y="3108960"/>
            <a:ext cx="2468880" cy="329184"/>
          </a:xfrm>
          <a:prstGeom prst="rect">
            <a:avLst/>
          </a:prstGeom>
          <a:noFill/>
          <a:ln/>
        </p:spPr>
        <p:txBody>
          <a:bodyPr wrap="square"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Cost Ratio</a:t>
            </a:r>
            <a:endParaRPr lang="en-US" sz="1300" dirty="0"/>
          </a:p>
        </p:txBody>
      </p:sp>
      <p:sp>
        <p:nvSpPr>
          <p:cNvPr id="32" name="Text 30"/>
          <p:cNvSpPr/>
          <p:nvPr/>
        </p:nvSpPr>
        <p:spPr>
          <a:xfrm>
            <a:off x="3383280" y="3474720"/>
            <a:ext cx="2514600" cy="274320"/>
          </a:xfrm>
          <a:prstGeom prst="rect">
            <a:avLst/>
          </a:prstGeom>
          <a:noFill/>
          <a:ln/>
        </p:spPr>
        <p:txBody>
          <a:bodyPr wrap="square" rtlCol="0" anchor="ctr"/>
          <a:lstStyle/>
          <a:p>
            <a:pPr marL="0" indent="0">
              <a:buNone/>
            </a:pPr>
            <a:r>
              <a:rPr lang="en-US" sz="900" i="1" dirty="0">
                <a:solidFill>
                  <a:srgbClr val="8B4E1E"/>
                </a:solidFill>
              </a:rPr>
              <a:t>Formula: Cost ÷ Sales × 100</a:t>
            </a:r>
            <a:endParaRPr lang="en-US" sz="900" dirty="0"/>
          </a:p>
        </p:txBody>
      </p:sp>
      <p:sp>
        <p:nvSpPr>
          <p:cNvPr id="33" name="Shape 31"/>
          <p:cNvSpPr/>
          <p:nvPr/>
        </p:nvSpPr>
        <p:spPr>
          <a:xfrm>
            <a:off x="3383280" y="3776472"/>
            <a:ext cx="2468880" cy="0"/>
          </a:xfrm>
          <a:prstGeom prst="line">
            <a:avLst/>
          </a:prstGeom>
          <a:noFill/>
          <a:ln w="6350">
            <a:solidFill>
              <a:srgbClr val="2D2D60"/>
            </a:solidFill>
            <a:prstDash val="solid"/>
          </a:ln>
        </p:spPr>
        <p:txBody>
          <a:bodyPr/>
          <a:lstStyle/>
          <a:p>
            <a:endParaRPr lang="en-IN" dirty="0"/>
          </a:p>
        </p:txBody>
      </p:sp>
      <p:sp>
        <p:nvSpPr>
          <p:cNvPr id="34" name="Text 32"/>
          <p:cNvSpPr/>
          <p:nvPr/>
        </p:nvSpPr>
        <p:spPr>
          <a:xfrm>
            <a:off x="3383280" y="3867912"/>
            <a:ext cx="2514600" cy="594360"/>
          </a:xfrm>
          <a:prstGeom prst="rect">
            <a:avLst/>
          </a:prstGeom>
          <a:noFill/>
          <a:ln/>
        </p:spPr>
        <p:txBody>
          <a:bodyPr wrap="square" rtlCol="0" anchor="ctr"/>
          <a:lstStyle/>
          <a:p>
            <a:pPr marL="0" indent="0">
              <a:lnSpc>
                <a:spcPct val="130000"/>
              </a:lnSpc>
              <a:buNone/>
            </a:pPr>
            <a:r>
              <a:rPr lang="en-US" sz="950" dirty="0">
                <a:solidFill>
                  <a:srgbClr val="9999CC"/>
                </a:solidFill>
              </a:rPr>
              <a:t>Flags products where cost structure needs renegotiation</a:t>
            </a:r>
            <a:endParaRPr lang="en-US" sz="950" dirty="0"/>
          </a:p>
        </p:txBody>
      </p:sp>
      <p:sp>
        <p:nvSpPr>
          <p:cNvPr id="35" name="Shape 33"/>
          <p:cNvSpPr/>
          <p:nvPr/>
        </p:nvSpPr>
        <p:spPr>
          <a:xfrm>
            <a:off x="6172200" y="2971800"/>
            <a:ext cx="2743200" cy="1627632"/>
          </a:xfrm>
          <a:prstGeom prst="rect">
            <a:avLst/>
          </a:prstGeom>
          <a:solidFill>
            <a:srgbClr val="12122A"/>
          </a:solidFill>
          <a:ln w="12700">
            <a:solidFill>
              <a:srgbClr val="2D2D60"/>
            </a:solidFill>
            <a:prstDash val="solid"/>
          </a:ln>
          <a:effectLst>
            <a:outerShdw blurRad="101600" dist="38100" dir="8100000" algn="bl" rotWithShape="0">
              <a:srgbClr val="000000">
                <a:alpha val="12000"/>
              </a:srgbClr>
            </a:outerShdw>
          </a:effectLst>
        </p:spPr>
        <p:txBody>
          <a:bodyPr/>
          <a:lstStyle/>
          <a:p>
            <a:endParaRPr lang="en-IN" dirty="0"/>
          </a:p>
        </p:txBody>
      </p:sp>
      <p:sp>
        <p:nvSpPr>
          <p:cNvPr id="36" name="Shape 34"/>
          <p:cNvSpPr/>
          <p:nvPr/>
        </p:nvSpPr>
        <p:spPr>
          <a:xfrm>
            <a:off x="6172200" y="2971800"/>
            <a:ext cx="2743200" cy="54864"/>
          </a:xfrm>
          <a:prstGeom prst="rect">
            <a:avLst/>
          </a:prstGeom>
          <a:solidFill>
            <a:srgbClr val="E84393"/>
          </a:solidFill>
          <a:ln w="12700">
            <a:solidFill>
              <a:srgbClr val="E84393"/>
            </a:solidFill>
            <a:prstDash val="solid"/>
          </a:ln>
        </p:spPr>
        <p:txBody>
          <a:bodyPr/>
          <a:lstStyle/>
          <a:p>
            <a:endParaRPr lang="en-IN" dirty="0"/>
          </a:p>
        </p:txBody>
      </p:sp>
      <p:sp>
        <p:nvSpPr>
          <p:cNvPr id="37" name="Text 35"/>
          <p:cNvSpPr/>
          <p:nvPr/>
        </p:nvSpPr>
        <p:spPr>
          <a:xfrm>
            <a:off x="6309360" y="3108960"/>
            <a:ext cx="2468880" cy="329184"/>
          </a:xfrm>
          <a:prstGeom prst="rect">
            <a:avLst/>
          </a:prstGeom>
          <a:noFill/>
          <a:ln/>
        </p:spPr>
        <p:txBody>
          <a:bodyPr wrap="square"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Margin Volatility</a:t>
            </a:r>
            <a:endParaRPr lang="en-US" sz="1300" dirty="0"/>
          </a:p>
        </p:txBody>
      </p:sp>
      <p:sp>
        <p:nvSpPr>
          <p:cNvPr id="38" name="Text 36"/>
          <p:cNvSpPr/>
          <p:nvPr/>
        </p:nvSpPr>
        <p:spPr>
          <a:xfrm>
            <a:off x="6309360" y="3474720"/>
            <a:ext cx="2514600" cy="274320"/>
          </a:xfrm>
          <a:prstGeom prst="rect">
            <a:avLst/>
          </a:prstGeom>
          <a:noFill/>
          <a:ln/>
        </p:spPr>
        <p:txBody>
          <a:bodyPr wrap="square" rtlCol="0" anchor="ctr"/>
          <a:lstStyle/>
          <a:p>
            <a:pPr marL="0" indent="0">
              <a:buNone/>
            </a:pPr>
            <a:r>
              <a:rPr lang="en-US" sz="900" i="1" dirty="0">
                <a:solidFill>
                  <a:srgbClr val="E84393"/>
                </a:solidFill>
              </a:rPr>
              <a:t>Formula: Std Dev of Gross Margin over time</a:t>
            </a:r>
            <a:endParaRPr lang="en-US" sz="900" dirty="0"/>
          </a:p>
        </p:txBody>
      </p:sp>
      <p:sp>
        <p:nvSpPr>
          <p:cNvPr id="39" name="Shape 37"/>
          <p:cNvSpPr/>
          <p:nvPr/>
        </p:nvSpPr>
        <p:spPr>
          <a:xfrm>
            <a:off x="6309360" y="3776472"/>
            <a:ext cx="2468880" cy="0"/>
          </a:xfrm>
          <a:prstGeom prst="line">
            <a:avLst/>
          </a:prstGeom>
          <a:noFill/>
          <a:ln w="6350">
            <a:solidFill>
              <a:srgbClr val="2D2D60"/>
            </a:solidFill>
            <a:prstDash val="solid"/>
          </a:ln>
        </p:spPr>
        <p:txBody>
          <a:bodyPr/>
          <a:lstStyle/>
          <a:p>
            <a:endParaRPr lang="en-IN" dirty="0"/>
          </a:p>
        </p:txBody>
      </p:sp>
      <p:sp>
        <p:nvSpPr>
          <p:cNvPr id="40" name="Text 38"/>
          <p:cNvSpPr/>
          <p:nvPr/>
        </p:nvSpPr>
        <p:spPr>
          <a:xfrm>
            <a:off x="6309360" y="3867912"/>
            <a:ext cx="2514600" cy="594360"/>
          </a:xfrm>
          <a:prstGeom prst="rect">
            <a:avLst/>
          </a:prstGeom>
          <a:noFill/>
          <a:ln/>
        </p:spPr>
        <p:txBody>
          <a:bodyPr wrap="square" rtlCol="0" anchor="ctr"/>
          <a:lstStyle/>
          <a:p>
            <a:pPr marL="0" indent="0">
              <a:lnSpc>
                <a:spcPct val="130000"/>
              </a:lnSpc>
              <a:buNone/>
            </a:pPr>
            <a:r>
              <a:rPr lang="en-US" sz="950" dirty="0">
                <a:solidFill>
                  <a:srgbClr val="9999CC"/>
                </a:solidFill>
              </a:rPr>
              <a:t>Stability signal — high variance = repricing risk</a:t>
            </a:r>
            <a:endParaRPr lang="en-US" sz="950" dirty="0"/>
          </a:p>
        </p:txBody>
      </p:sp>
      <p:sp>
        <p:nvSpPr>
          <p:cNvPr id="41" name="Text 39"/>
          <p:cNvSpPr/>
          <p:nvPr/>
        </p:nvSpPr>
        <p:spPr>
          <a:xfrm>
            <a:off x="8046720" y="4800600"/>
            <a:ext cx="914400" cy="228600"/>
          </a:xfrm>
          <a:prstGeom prst="rect">
            <a:avLst/>
          </a:prstGeom>
          <a:noFill/>
          <a:ln/>
        </p:spPr>
        <p:txBody>
          <a:bodyPr wrap="square" rtlCol="0" anchor="ctr"/>
          <a:lstStyle/>
          <a:p>
            <a:pPr marL="0" indent="0" algn="r">
              <a:buNone/>
            </a:pPr>
            <a:r>
              <a:rPr lang="en-US" sz="800" dirty="0">
                <a:solidFill>
                  <a:srgbClr val="999999"/>
                </a:solidFill>
              </a:rPr>
              <a:t>8 / 12</a:t>
            </a:r>
            <a:endParaRPr lang="en-US" sz="800" dirty="0"/>
          </a:p>
        </p:txBody>
      </p:sp>
      <p:sp>
        <p:nvSpPr>
          <p:cNvPr id="42" name="Text 40"/>
          <p:cNvSpPr/>
          <p:nvPr/>
        </p:nvSpPr>
        <p:spPr>
          <a:xfrm>
            <a:off x="457200" y="4800600"/>
            <a:ext cx="5486400" cy="228600"/>
          </a:xfrm>
          <a:prstGeom prst="rect">
            <a:avLst/>
          </a:prstGeom>
          <a:noFill/>
          <a:ln/>
        </p:spPr>
        <p:txBody>
          <a:bodyPr wrap="square" rtlCol="0" anchor="ctr"/>
          <a:lstStyle/>
          <a:p>
            <a:pPr marL="0" indent="0" algn="l">
              <a:buNone/>
            </a:pPr>
            <a:r>
              <a:rPr lang="en-US" sz="800" dirty="0">
                <a:solidFill>
                  <a:srgbClr val="999999"/>
                </a:solidFill>
              </a:rPr>
              <a:t>Nassau Candy Distributor · Profitability Analysis</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4FB"/>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8963A"/>
          </a:solidFill>
          <a:ln w="12700">
            <a:solidFill>
              <a:srgbClr val="E8963A"/>
            </a:solidFill>
            <a:prstDash val="solid"/>
          </a:ln>
        </p:spPr>
        <p:txBody>
          <a:bodyPr/>
          <a:lstStyle/>
          <a:p>
            <a:endParaRPr lang="en-IN" dirty="0"/>
          </a:p>
        </p:txBody>
      </p:sp>
      <p:sp>
        <p:nvSpPr>
          <p:cNvPr id="3" name="Text 1"/>
          <p:cNvSpPr/>
          <p:nvPr/>
        </p:nvSpPr>
        <p:spPr>
          <a:xfrm>
            <a:off x="320040" y="256032"/>
            <a:ext cx="8229600" cy="475488"/>
          </a:xfrm>
          <a:prstGeom prst="rect">
            <a:avLst/>
          </a:prstGeom>
          <a:noFill/>
          <a:ln/>
        </p:spPr>
        <p:txBody>
          <a:bodyPr wrap="square" rtlCol="0" anchor="ctr"/>
          <a:lstStyle/>
          <a:p>
            <a:pPr marL="0" indent="0">
              <a:buNone/>
            </a:pPr>
            <a:r>
              <a:rPr lang="en-US" sz="2600" b="1" dirty="0">
                <a:solidFill>
                  <a:srgbClr val="1A1A2E"/>
                </a:solidFill>
                <a:latin typeface="Georgia" pitchFamily="34" charset="0"/>
                <a:ea typeface="Georgia" pitchFamily="34" charset="-122"/>
                <a:cs typeface="Georgia" pitchFamily="34" charset="-120"/>
              </a:rPr>
              <a:t>Streamlit Dashboard Architecture</a:t>
            </a:r>
            <a:endParaRPr lang="en-US" sz="2600" dirty="0"/>
          </a:p>
        </p:txBody>
      </p:sp>
      <p:sp>
        <p:nvSpPr>
          <p:cNvPr id="4" name="Text 2"/>
          <p:cNvSpPr/>
          <p:nvPr/>
        </p:nvSpPr>
        <p:spPr>
          <a:xfrm>
            <a:off x="320040" y="713232"/>
            <a:ext cx="8229600" cy="256032"/>
          </a:xfrm>
          <a:prstGeom prst="rect">
            <a:avLst/>
          </a:prstGeom>
          <a:noFill/>
          <a:ln/>
        </p:spPr>
        <p:txBody>
          <a:bodyPr wrap="square" rtlCol="0" anchor="ctr"/>
          <a:lstStyle/>
          <a:p>
            <a:pPr marL="0" indent="0">
              <a:buNone/>
            </a:pPr>
            <a:r>
              <a:rPr lang="en-US" sz="1100" i="1" dirty="0">
                <a:solidFill>
                  <a:srgbClr val="666688"/>
                </a:solidFill>
              </a:rPr>
              <a:t>5-module analytics application with shared data pipeline and sidebar filter system</a:t>
            </a:r>
            <a:endParaRPr lang="en-US" sz="1100" dirty="0"/>
          </a:p>
        </p:txBody>
      </p:sp>
      <p:sp>
        <p:nvSpPr>
          <p:cNvPr id="5" name="Shape 3"/>
          <p:cNvSpPr/>
          <p:nvPr/>
        </p:nvSpPr>
        <p:spPr>
          <a:xfrm>
            <a:off x="320040" y="1174128"/>
            <a:ext cx="1828800" cy="2881460"/>
          </a:xfrm>
          <a:prstGeom prst="rect">
            <a:avLst/>
          </a:prstGeom>
          <a:solidFill>
            <a:srgbClr val="1A1A2E"/>
          </a:solidFill>
          <a:ln w="12700">
            <a:solidFill>
              <a:srgbClr val="2D2D60"/>
            </a:solidFill>
            <a:prstDash val="solid"/>
          </a:ln>
          <a:effectLst>
            <a:outerShdw blurRad="101600" dist="38100" dir="8100000" algn="bl" rotWithShape="0">
              <a:srgbClr val="000000">
                <a:alpha val="12000"/>
              </a:srgbClr>
            </a:outerShdw>
          </a:effectLst>
        </p:spPr>
        <p:txBody>
          <a:bodyPr/>
          <a:lstStyle/>
          <a:p>
            <a:endParaRPr lang="en-IN" dirty="0"/>
          </a:p>
        </p:txBody>
      </p:sp>
      <p:sp>
        <p:nvSpPr>
          <p:cNvPr id="6" name="Text 4"/>
          <p:cNvSpPr/>
          <p:nvPr/>
        </p:nvSpPr>
        <p:spPr>
          <a:xfrm>
            <a:off x="320040" y="1228992"/>
            <a:ext cx="1828800" cy="457200"/>
          </a:xfrm>
          <a:prstGeom prst="rect">
            <a:avLst/>
          </a:prstGeom>
          <a:noFill/>
          <a:ln/>
        </p:spPr>
        <p:txBody>
          <a:bodyPr wrap="square" rtlCol="0" anchor="ctr"/>
          <a:lstStyle/>
          <a:p>
            <a:pPr marL="0" indent="0" algn="ctr">
              <a:buNone/>
            </a:pPr>
            <a:r>
              <a:rPr lang="en-US" sz="1100" b="1" kern="0" spc="50" dirty="0">
                <a:solidFill>
                  <a:srgbClr val="FFFFFF"/>
                </a:solidFill>
              </a:rPr>
              <a:t>Sidebar</a:t>
            </a:r>
            <a:endParaRPr lang="en-US" sz="1100" dirty="0"/>
          </a:p>
          <a:p>
            <a:pPr marL="0" indent="0" algn="ctr">
              <a:buNone/>
            </a:pPr>
            <a:r>
              <a:rPr lang="en-US" sz="1100" b="1" kern="0" spc="50" dirty="0">
                <a:solidFill>
                  <a:srgbClr val="FFFFFF"/>
                </a:solidFill>
              </a:rPr>
              <a:t>Filters</a:t>
            </a:r>
            <a:endParaRPr lang="en-US" sz="1100" dirty="0"/>
          </a:p>
        </p:txBody>
      </p:sp>
      <p:sp>
        <p:nvSpPr>
          <p:cNvPr id="7" name="Shape 5"/>
          <p:cNvSpPr/>
          <p:nvPr/>
        </p:nvSpPr>
        <p:spPr>
          <a:xfrm>
            <a:off x="411480" y="1272668"/>
            <a:ext cx="1645920" cy="502920"/>
          </a:xfrm>
          <a:prstGeom prst="rect">
            <a:avLst/>
          </a:prstGeom>
          <a:solidFill>
            <a:srgbClr val="2D2D4E"/>
          </a:solidFill>
          <a:ln w="12700">
            <a:solidFill>
              <a:srgbClr val="4A4A7A"/>
            </a:solidFill>
            <a:prstDash val="solid"/>
          </a:ln>
        </p:spPr>
        <p:txBody>
          <a:bodyPr/>
          <a:lstStyle/>
          <a:p>
            <a:endParaRPr lang="en-IN" dirty="0"/>
          </a:p>
        </p:txBody>
      </p:sp>
      <p:sp>
        <p:nvSpPr>
          <p:cNvPr id="8" name="Text 6"/>
          <p:cNvSpPr/>
          <p:nvPr/>
        </p:nvSpPr>
        <p:spPr>
          <a:xfrm>
            <a:off x="411480" y="1272668"/>
            <a:ext cx="1645920" cy="502920"/>
          </a:xfrm>
          <a:prstGeom prst="rect">
            <a:avLst/>
          </a:prstGeom>
          <a:noFill/>
          <a:ln/>
        </p:spPr>
        <p:txBody>
          <a:bodyPr wrap="square" lIns="0" tIns="0" rIns="0" bIns="0" rtlCol="0" anchor="ctr"/>
          <a:lstStyle/>
          <a:p>
            <a:pPr marL="0" indent="0" algn="ctr">
              <a:buNone/>
            </a:pPr>
            <a:r>
              <a:rPr lang="en-US" sz="950" dirty="0">
                <a:solidFill>
                  <a:srgbClr val="C0C0FF"/>
                </a:solidFill>
              </a:rPr>
              <a:t>Division Filter</a:t>
            </a:r>
            <a:endParaRPr lang="en-US" sz="950" dirty="0"/>
          </a:p>
        </p:txBody>
      </p:sp>
      <p:sp>
        <p:nvSpPr>
          <p:cNvPr id="9" name="Shape 7"/>
          <p:cNvSpPr/>
          <p:nvPr/>
        </p:nvSpPr>
        <p:spPr>
          <a:xfrm>
            <a:off x="411480" y="2032668"/>
            <a:ext cx="1645920" cy="502920"/>
          </a:xfrm>
          <a:prstGeom prst="rect">
            <a:avLst/>
          </a:prstGeom>
          <a:solidFill>
            <a:srgbClr val="2D2D4E"/>
          </a:solidFill>
          <a:ln w="12700">
            <a:solidFill>
              <a:srgbClr val="4A4A7A"/>
            </a:solidFill>
            <a:prstDash val="solid"/>
          </a:ln>
        </p:spPr>
        <p:txBody>
          <a:bodyPr/>
          <a:lstStyle/>
          <a:p>
            <a:endParaRPr lang="en-IN" dirty="0"/>
          </a:p>
        </p:txBody>
      </p:sp>
      <p:sp>
        <p:nvSpPr>
          <p:cNvPr id="10" name="Text 8"/>
          <p:cNvSpPr/>
          <p:nvPr/>
        </p:nvSpPr>
        <p:spPr>
          <a:xfrm>
            <a:off x="411480" y="2032668"/>
            <a:ext cx="1645920" cy="502920"/>
          </a:xfrm>
          <a:prstGeom prst="rect">
            <a:avLst/>
          </a:prstGeom>
          <a:noFill/>
          <a:ln/>
        </p:spPr>
        <p:txBody>
          <a:bodyPr wrap="square" lIns="0" tIns="0" rIns="0" bIns="0" rtlCol="0" anchor="ctr"/>
          <a:lstStyle/>
          <a:p>
            <a:pPr marL="0" indent="0" algn="ctr">
              <a:buNone/>
            </a:pPr>
            <a:r>
              <a:rPr lang="en-US" sz="950" dirty="0">
                <a:solidFill>
                  <a:srgbClr val="C0C0FF"/>
                </a:solidFill>
              </a:rPr>
              <a:t>Date Range</a:t>
            </a:r>
            <a:endParaRPr lang="en-US" sz="950" dirty="0"/>
          </a:p>
        </p:txBody>
      </p:sp>
      <p:sp>
        <p:nvSpPr>
          <p:cNvPr id="11" name="Shape 9"/>
          <p:cNvSpPr/>
          <p:nvPr/>
        </p:nvSpPr>
        <p:spPr>
          <a:xfrm>
            <a:off x="411480" y="2792668"/>
            <a:ext cx="1645920" cy="502920"/>
          </a:xfrm>
          <a:prstGeom prst="rect">
            <a:avLst/>
          </a:prstGeom>
          <a:solidFill>
            <a:srgbClr val="2D2D4E"/>
          </a:solidFill>
          <a:ln w="12700">
            <a:solidFill>
              <a:srgbClr val="4A4A7A"/>
            </a:solidFill>
            <a:prstDash val="solid"/>
          </a:ln>
        </p:spPr>
        <p:txBody>
          <a:bodyPr/>
          <a:lstStyle/>
          <a:p>
            <a:endParaRPr lang="en-IN" dirty="0"/>
          </a:p>
        </p:txBody>
      </p:sp>
      <p:sp>
        <p:nvSpPr>
          <p:cNvPr id="12" name="Text 10"/>
          <p:cNvSpPr/>
          <p:nvPr/>
        </p:nvSpPr>
        <p:spPr>
          <a:xfrm>
            <a:off x="411480" y="2792668"/>
            <a:ext cx="1645920" cy="502920"/>
          </a:xfrm>
          <a:prstGeom prst="rect">
            <a:avLst/>
          </a:prstGeom>
          <a:noFill/>
          <a:ln/>
        </p:spPr>
        <p:txBody>
          <a:bodyPr wrap="square" lIns="0" tIns="0" rIns="0" bIns="0" rtlCol="0" anchor="ctr"/>
          <a:lstStyle/>
          <a:p>
            <a:pPr marL="0" indent="0" algn="ctr">
              <a:buNone/>
            </a:pPr>
            <a:r>
              <a:rPr lang="en-US" sz="950" dirty="0">
                <a:solidFill>
                  <a:srgbClr val="C0C0FF"/>
                </a:solidFill>
              </a:rPr>
              <a:t>Gross Margin %</a:t>
            </a:r>
            <a:endParaRPr lang="en-US" sz="950" dirty="0"/>
          </a:p>
        </p:txBody>
      </p:sp>
      <p:sp>
        <p:nvSpPr>
          <p:cNvPr id="13" name="Shape 11"/>
          <p:cNvSpPr/>
          <p:nvPr/>
        </p:nvSpPr>
        <p:spPr>
          <a:xfrm>
            <a:off x="411480" y="3552668"/>
            <a:ext cx="1645920" cy="502920"/>
          </a:xfrm>
          <a:prstGeom prst="rect">
            <a:avLst/>
          </a:prstGeom>
          <a:solidFill>
            <a:srgbClr val="2D2D4E"/>
          </a:solidFill>
          <a:ln w="12700">
            <a:solidFill>
              <a:srgbClr val="4A4A7A"/>
            </a:solidFill>
            <a:prstDash val="solid"/>
          </a:ln>
        </p:spPr>
        <p:txBody>
          <a:bodyPr/>
          <a:lstStyle/>
          <a:p>
            <a:endParaRPr lang="en-IN" dirty="0"/>
          </a:p>
        </p:txBody>
      </p:sp>
      <p:sp>
        <p:nvSpPr>
          <p:cNvPr id="14" name="Text 12"/>
          <p:cNvSpPr/>
          <p:nvPr/>
        </p:nvSpPr>
        <p:spPr>
          <a:xfrm>
            <a:off x="411480" y="3552668"/>
            <a:ext cx="1645920" cy="502920"/>
          </a:xfrm>
          <a:prstGeom prst="rect">
            <a:avLst/>
          </a:prstGeom>
          <a:noFill/>
          <a:ln/>
        </p:spPr>
        <p:txBody>
          <a:bodyPr wrap="square" lIns="0" tIns="0" rIns="0" bIns="0" rtlCol="0" anchor="ctr"/>
          <a:lstStyle/>
          <a:p>
            <a:pPr marL="0" indent="0" algn="ctr">
              <a:buNone/>
            </a:pPr>
            <a:r>
              <a:rPr lang="en-US" sz="950" dirty="0">
                <a:solidFill>
                  <a:srgbClr val="C0C0FF"/>
                </a:solidFill>
              </a:rPr>
              <a:t>Product Search</a:t>
            </a:r>
            <a:endParaRPr lang="en-US" sz="950" dirty="0"/>
          </a:p>
        </p:txBody>
      </p:sp>
      <p:sp>
        <p:nvSpPr>
          <p:cNvPr id="15" name="Shape 13"/>
          <p:cNvSpPr/>
          <p:nvPr/>
        </p:nvSpPr>
        <p:spPr>
          <a:xfrm>
            <a:off x="2148840" y="2894128"/>
            <a:ext cx="365760" cy="0"/>
          </a:xfrm>
          <a:prstGeom prst="line">
            <a:avLst/>
          </a:prstGeom>
          <a:noFill/>
          <a:ln w="25400">
            <a:solidFill>
              <a:srgbClr val="E8963A"/>
            </a:solidFill>
            <a:prstDash val="solid"/>
          </a:ln>
        </p:spPr>
        <p:txBody>
          <a:bodyPr/>
          <a:lstStyle/>
          <a:p>
            <a:endParaRPr lang="en-IN" dirty="0"/>
          </a:p>
        </p:txBody>
      </p:sp>
      <p:sp>
        <p:nvSpPr>
          <p:cNvPr id="16" name="Shape 14"/>
          <p:cNvSpPr/>
          <p:nvPr/>
        </p:nvSpPr>
        <p:spPr>
          <a:xfrm>
            <a:off x="2606040" y="1024128"/>
            <a:ext cx="6217920" cy="700000"/>
          </a:xfrm>
          <a:prstGeom prst="rect">
            <a:avLst/>
          </a:prstGeom>
          <a:solidFill>
            <a:srgbClr val="FFFFFF"/>
          </a:solidFill>
          <a:ln w="12700">
            <a:solidFill>
              <a:srgbClr val="E0E0EE"/>
            </a:solidFill>
            <a:prstDash val="solid"/>
          </a:ln>
          <a:effectLst>
            <a:outerShdw blurRad="101600" dist="38100" dir="8100000" algn="bl" rotWithShape="0">
              <a:srgbClr val="000000">
                <a:alpha val="12000"/>
              </a:srgbClr>
            </a:outerShdw>
          </a:effectLst>
        </p:spPr>
        <p:txBody>
          <a:bodyPr/>
          <a:lstStyle/>
          <a:p>
            <a:endParaRPr lang="en-IN" dirty="0"/>
          </a:p>
        </p:txBody>
      </p:sp>
      <p:sp>
        <p:nvSpPr>
          <p:cNvPr id="17" name="Shape 15"/>
          <p:cNvSpPr/>
          <p:nvPr/>
        </p:nvSpPr>
        <p:spPr>
          <a:xfrm>
            <a:off x="2606040" y="1024128"/>
            <a:ext cx="54864" cy="700000"/>
          </a:xfrm>
          <a:prstGeom prst="rect">
            <a:avLst/>
          </a:prstGeom>
          <a:solidFill>
            <a:srgbClr val="6C63FF"/>
          </a:solidFill>
          <a:ln w="12700">
            <a:solidFill>
              <a:srgbClr val="6C63FF"/>
            </a:solidFill>
            <a:prstDash val="solid"/>
          </a:ln>
        </p:spPr>
        <p:txBody>
          <a:bodyPr/>
          <a:lstStyle/>
          <a:p>
            <a:endParaRPr lang="en-IN" dirty="0"/>
          </a:p>
        </p:txBody>
      </p:sp>
      <p:sp>
        <p:nvSpPr>
          <p:cNvPr id="18" name="Text 16"/>
          <p:cNvSpPr/>
          <p:nvPr/>
        </p:nvSpPr>
        <p:spPr>
          <a:xfrm>
            <a:off x="2761488" y="1079128"/>
            <a:ext cx="5822424" cy="292608"/>
          </a:xfrm>
          <a:prstGeom prst="rect">
            <a:avLst/>
          </a:prstGeom>
          <a:noFill/>
          <a:ln/>
        </p:spPr>
        <p:txBody>
          <a:bodyPr wrap="square" rtlCol="0" anchor="ctr"/>
          <a:lstStyle/>
          <a:p>
            <a:pPr marL="0" indent="0">
              <a:buNone/>
            </a:pPr>
            <a:r>
              <a:rPr lang="en-US" sz="1200" b="1" dirty="0">
                <a:solidFill>
                  <a:srgbClr val="1A1A2E"/>
                </a:solidFill>
              </a:rPr>
              <a:t>📊  Executive Overview</a:t>
            </a:r>
            <a:endParaRPr lang="en-US" sz="1200" dirty="0"/>
          </a:p>
        </p:txBody>
      </p:sp>
      <p:sp>
        <p:nvSpPr>
          <p:cNvPr id="19" name="Text 17"/>
          <p:cNvSpPr/>
          <p:nvPr/>
        </p:nvSpPr>
        <p:spPr>
          <a:xfrm>
            <a:off x="8150000" y="1115128"/>
            <a:ext cx="673960" cy="237744"/>
          </a:xfrm>
          <a:prstGeom prst="rect">
            <a:avLst/>
          </a:prstGeom>
          <a:noFill/>
          <a:ln/>
        </p:spPr>
        <p:txBody>
          <a:bodyPr wrap="square" rtlCol="0" anchor="ctr"/>
          <a:lstStyle/>
          <a:p>
            <a:pPr marL="0" indent="0" algn="r">
              <a:buNone/>
            </a:pPr>
            <a:r>
              <a:rPr lang="en-US" sz="800" b="1" dirty="0">
                <a:solidFill>
                  <a:srgbClr val="6C63FF"/>
                </a:solidFill>
              </a:rPr>
              <a:t>Page 1</a:t>
            </a:r>
            <a:endParaRPr lang="en-US" sz="800" dirty="0"/>
          </a:p>
        </p:txBody>
      </p:sp>
      <p:sp>
        <p:nvSpPr>
          <p:cNvPr id="20" name="Text 18"/>
          <p:cNvSpPr/>
          <p:nvPr/>
        </p:nvSpPr>
        <p:spPr>
          <a:xfrm>
            <a:off x="2761488" y="1204128"/>
            <a:ext cx="6062472" cy="520000"/>
          </a:xfrm>
          <a:prstGeom prst="rect">
            <a:avLst/>
          </a:prstGeom>
          <a:noFill/>
          <a:ln/>
        </p:spPr>
        <p:txBody>
          <a:bodyPr wrap="square" lIns="91440" tIns="182880" rIns="91440" bIns="45720" rtlCol="0" anchor="t"/>
          <a:lstStyle/>
          <a:p>
            <a:pPr marL="0" indent="0">
              <a:lnSpc>
                <a:spcPct val="125000"/>
              </a:lnSpc>
              <a:buNone/>
            </a:pPr>
            <a:r>
              <a:rPr lang="en-US" sz="870" dirty="0">
                <a:solidFill>
                  <a:srgbClr val="444466"/>
                </a:solidFill>
              </a:rPr>
              <a:t>The landing page surfaces six KPI cards — margin, profit per unit, revenue share, volatility, and critical zone alerts. Supporting charts cover sales distribution, division performance, a product-level Pareto, and gross margin distribution by division.</a:t>
            </a:r>
          </a:p>
        </p:txBody>
      </p:sp>
      <p:sp>
        <p:nvSpPr>
          <p:cNvPr id="21" name="Shape 19"/>
          <p:cNvSpPr/>
          <p:nvPr/>
        </p:nvSpPr>
        <p:spPr>
          <a:xfrm>
            <a:off x="2606040" y="1784128"/>
            <a:ext cx="6217920" cy="700000"/>
          </a:xfrm>
          <a:prstGeom prst="rect">
            <a:avLst/>
          </a:prstGeom>
          <a:solidFill>
            <a:srgbClr val="FFFFFF"/>
          </a:solidFill>
          <a:ln w="12700">
            <a:solidFill>
              <a:srgbClr val="E0E0EE"/>
            </a:solidFill>
            <a:prstDash val="solid"/>
          </a:ln>
          <a:effectLst>
            <a:outerShdw blurRad="101600" dist="38100" dir="8100000" algn="bl" rotWithShape="0">
              <a:srgbClr val="000000">
                <a:alpha val="12000"/>
              </a:srgbClr>
            </a:outerShdw>
          </a:effectLst>
        </p:spPr>
        <p:txBody>
          <a:bodyPr/>
          <a:lstStyle/>
          <a:p>
            <a:endParaRPr lang="en-IN" dirty="0"/>
          </a:p>
        </p:txBody>
      </p:sp>
      <p:sp>
        <p:nvSpPr>
          <p:cNvPr id="22" name="Shape 20"/>
          <p:cNvSpPr/>
          <p:nvPr/>
        </p:nvSpPr>
        <p:spPr>
          <a:xfrm>
            <a:off x="2606040" y="1784128"/>
            <a:ext cx="54864" cy="700000"/>
          </a:xfrm>
          <a:prstGeom prst="rect">
            <a:avLst/>
          </a:prstGeom>
          <a:solidFill>
            <a:srgbClr val="7B4F2E"/>
          </a:solidFill>
          <a:ln w="12700">
            <a:solidFill>
              <a:srgbClr val="7B4F2E"/>
            </a:solidFill>
            <a:prstDash val="solid"/>
          </a:ln>
        </p:spPr>
        <p:txBody>
          <a:bodyPr/>
          <a:lstStyle/>
          <a:p>
            <a:endParaRPr lang="en-IN" dirty="0"/>
          </a:p>
        </p:txBody>
      </p:sp>
      <p:sp>
        <p:nvSpPr>
          <p:cNvPr id="23" name="Text 21"/>
          <p:cNvSpPr/>
          <p:nvPr/>
        </p:nvSpPr>
        <p:spPr>
          <a:xfrm>
            <a:off x="2761488" y="1839128"/>
            <a:ext cx="5822424" cy="292608"/>
          </a:xfrm>
          <a:prstGeom prst="rect">
            <a:avLst/>
          </a:prstGeom>
          <a:noFill/>
          <a:ln/>
        </p:spPr>
        <p:txBody>
          <a:bodyPr wrap="square" rtlCol="0" anchor="ctr"/>
          <a:lstStyle/>
          <a:p>
            <a:pPr marL="0" indent="0">
              <a:buNone/>
            </a:pPr>
            <a:r>
              <a:rPr lang="en-US" sz="1200" b="1" dirty="0">
                <a:solidFill>
                  <a:srgbClr val="1A1A2E"/>
                </a:solidFill>
              </a:rPr>
              <a:t>🏷️  Product Profitability</a:t>
            </a:r>
            <a:endParaRPr lang="en-US" sz="1200" dirty="0"/>
          </a:p>
        </p:txBody>
      </p:sp>
      <p:sp>
        <p:nvSpPr>
          <p:cNvPr id="24" name="Text 22"/>
          <p:cNvSpPr/>
          <p:nvPr/>
        </p:nvSpPr>
        <p:spPr>
          <a:xfrm>
            <a:off x="8150000" y="1875128"/>
            <a:ext cx="673960" cy="237744"/>
          </a:xfrm>
          <a:prstGeom prst="rect">
            <a:avLst/>
          </a:prstGeom>
          <a:noFill/>
          <a:ln/>
        </p:spPr>
        <p:txBody>
          <a:bodyPr wrap="square" rtlCol="0" anchor="ctr"/>
          <a:lstStyle/>
          <a:p>
            <a:pPr marL="0" indent="0" algn="r">
              <a:buNone/>
            </a:pPr>
            <a:r>
              <a:rPr lang="en-US" sz="800" b="1" dirty="0">
                <a:solidFill>
                  <a:srgbClr val="7B4F2E"/>
                </a:solidFill>
              </a:rPr>
              <a:t>Page 2</a:t>
            </a:r>
            <a:endParaRPr lang="en-US" sz="800" dirty="0"/>
          </a:p>
        </p:txBody>
      </p:sp>
      <p:sp>
        <p:nvSpPr>
          <p:cNvPr id="25" name="Text 23"/>
          <p:cNvSpPr/>
          <p:nvPr/>
        </p:nvSpPr>
        <p:spPr>
          <a:xfrm>
            <a:off x="2761488" y="1964128"/>
            <a:ext cx="6062472" cy="520000"/>
          </a:xfrm>
          <a:prstGeom prst="rect">
            <a:avLst/>
          </a:prstGeom>
          <a:noFill/>
          <a:ln/>
        </p:spPr>
        <p:txBody>
          <a:bodyPr wrap="square" lIns="91440" tIns="182880" rIns="91440" bIns="45720" rtlCol="0" anchor="t"/>
          <a:lstStyle/>
          <a:p>
            <a:pPr marL="0" indent="0">
              <a:lnSpc>
                <a:spcPct val="125000"/>
              </a:lnSpc>
              <a:buNone/>
            </a:pPr>
            <a:r>
              <a:rPr lang="en-US" sz="870" dirty="0">
                <a:solidFill>
                  <a:srgbClr val="444466"/>
                </a:solidFill>
              </a:rPr>
              <a:t>Products are ranked by gross margin and plotted on a scatter to assign each a zone from Healthy through Critical. Six action flags from Maintain to Discontinue guide prioritisation, alongside a written portfolio assessment narrative.</a:t>
            </a:r>
          </a:p>
        </p:txBody>
      </p:sp>
      <p:sp>
        <p:nvSpPr>
          <p:cNvPr id="26" name="Shape 24"/>
          <p:cNvSpPr/>
          <p:nvPr/>
        </p:nvSpPr>
        <p:spPr>
          <a:xfrm>
            <a:off x="2606040" y="2544128"/>
            <a:ext cx="6217920" cy="700000"/>
          </a:xfrm>
          <a:prstGeom prst="rect">
            <a:avLst/>
          </a:prstGeom>
          <a:solidFill>
            <a:srgbClr val="FFFFFF"/>
          </a:solidFill>
          <a:ln w="12700">
            <a:solidFill>
              <a:srgbClr val="E0E0EE"/>
            </a:solidFill>
            <a:prstDash val="solid"/>
          </a:ln>
          <a:effectLst>
            <a:outerShdw blurRad="101600" dist="38100" dir="8100000" algn="bl" rotWithShape="0">
              <a:srgbClr val="000000">
                <a:alpha val="12000"/>
              </a:srgbClr>
            </a:outerShdw>
          </a:effectLst>
        </p:spPr>
        <p:txBody>
          <a:bodyPr/>
          <a:lstStyle/>
          <a:p>
            <a:endParaRPr lang="en-IN" dirty="0"/>
          </a:p>
        </p:txBody>
      </p:sp>
      <p:sp>
        <p:nvSpPr>
          <p:cNvPr id="27" name="Shape 25"/>
          <p:cNvSpPr/>
          <p:nvPr/>
        </p:nvSpPr>
        <p:spPr>
          <a:xfrm>
            <a:off x="2606040" y="2544128"/>
            <a:ext cx="54864" cy="700000"/>
          </a:xfrm>
          <a:prstGeom prst="rect">
            <a:avLst/>
          </a:prstGeom>
          <a:solidFill>
            <a:srgbClr val="028090"/>
          </a:solidFill>
          <a:ln w="12700">
            <a:solidFill>
              <a:srgbClr val="028090"/>
            </a:solidFill>
            <a:prstDash val="solid"/>
          </a:ln>
        </p:spPr>
        <p:txBody>
          <a:bodyPr/>
          <a:lstStyle/>
          <a:p>
            <a:endParaRPr lang="en-IN" dirty="0"/>
          </a:p>
        </p:txBody>
      </p:sp>
      <p:sp>
        <p:nvSpPr>
          <p:cNvPr id="28" name="Text 26"/>
          <p:cNvSpPr/>
          <p:nvPr/>
        </p:nvSpPr>
        <p:spPr>
          <a:xfrm>
            <a:off x="2761488" y="2599128"/>
            <a:ext cx="5822424" cy="292608"/>
          </a:xfrm>
          <a:prstGeom prst="rect">
            <a:avLst/>
          </a:prstGeom>
          <a:noFill/>
          <a:ln/>
        </p:spPr>
        <p:txBody>
          <a:bodyPr wrap="square" rtlCol="0" anchor="ctr"/>
          <a:lstStyle/>
          <a:p>
            <a:pPr marL="0" indent="0">
              <a:buNone/>
            </a:pPr>
            <a:r>
              <a:rPr lang="en-US" sz="1200" b="1" dirty="0">
                <a:solidFill>
                  <a:srgbClr val="1A1A2E"/>
                </a:solidFill>
              </a:rPr>
              <a:t>🏢  Division Performance</a:t>
            </a:r>
            <a:endParaRPr lang="en-US" sz="1200" dirty="0"/>
          </a:p>
        </p:txBody>
      </p:sp>
      <p:sp>
        <p:nvSpPr>
          <p:cNvPr id="29" name="Text 27"/>
          <p:cNvSpPr/>
          <p:nvPr/>
        </p:nvSpPr>
        <p:spPr>
          <a:xfrm>
            <a:off x="8150000" y="2635128"/>
            <a:ext cx="673960" cy="237744"/>
          </a:xfrm>
          <a:prstGeom prst="rect">
            <a:avLst/>
          </a:prstGeom>
          <a:noFill/>
          <a:ln/>
        </p:spPr>
        <p:txBody>
          <a:bodyPr wrap="square" rtlCol="0" anchor="ctr"/>
          <a:lstStyle/>
          <a:p>
            <a:pPr marL="0" indent="0" algn="r">
              <a:buNone/>
            </a:pPr>
            <a:r>
              <a:rPr lang="en-US" sz="800" b="1" dirty="0">
                <a:solidFill>
                  <a:srgbClr val="028090"/>
                </a:solidFill>
              </a:rPr>
              <a:t>Page 3</a:t>
            </a:r>
            <a:endParaRPr lang="en-US" sz="800" dirty="0"/>
          </a:p>
        </p:txBody>
      </p:sp>
      <p:sp>
        <p:nvSpPr>
          <p:cNvPr id="30" name="Text 28"/>
          <p:cNvSpPr/>
          <p:nvPr/>
        </p:nvSpPr>
        <p:spPr>
          <a:xfrm>
            <a:off x="2761488" y="2724128"/>
            <a:ext cx="6062472" cy="520000"/>
          </a:xfrm>
          <a:prstGeom prst="rect">
            <a:avLst/>
          </a:prstGeom>
          <a:noFill/>
          <a:ln/>
        </p:spPr>
        <p:txBody>
          <a:bodyPr wrap="square" lIns="91440" tIns="182880" rIns="91440" bIns="45720" rtlCol="0" anchor="t"/>
          <a:lstStyle/>
          <a:p>
            <a:pPr marL="0" indent="0">
              <a:lnSpc>
                <a:spcPct val="125000"/>
              </a:lnSpc>
              <a:buNone/>
            </a:pPr>
            <a:r>
              <a:rPr lang="en-US" sz="870" dirty="0">
                <a:solidFill>
                  <a:srgbClr val="444466"/>
                </a:solidFill>
              </a:rPr>
              <a:t>Each division is evaluated across six KPIs — average margin, revenue, profit, cost, units, and orders. A revenue-vs-gross-profit chart and a revenue-share vs profit-share comparison reveal where high turnover fails to convert into proportional earnings.</a:t>
            </a:r>
          </a:p>
        </p:txBody>
      </p:sp>
      <p:sp>
        <p:nvSpPr>
          <p:cNvPr id="31" name="Shape 29"/>
          <p:cNvSpPr/>
          <p:nvPr/>
        </p:nvSpPr>
        <p:spPr>
          <a:xfrm>
            <a:off x="2606040" y="3304128"/>
            <a:ext cx="6217920" cy="700000"/>
          </a:xfrm>
          <a:prstGeom prst="rect">
            <a:avLst/>
          </a:prstGeom>
          <a:solidFill>
            <a:srgbClr val="FFFFFF"/>
          </a:solidFill>
          <a:ln w="12700">
            <a:solidFill>
              <a:srgbClr val="E0E0EE"/>
            </a:solidFill>
            <a:prstDash val="solid"/>
          </a:ln>
          <a:effectLst>
            <a:outerShdw blurRad="101600" dist="38100" dir="8100000" algn="bl" rotWithShape="0">
              <a:srgbClr val="000000">
                <a:alpha val="12000"/>
              </a:srgbClr>
            </a:outerShdw>
          </a:effectLst>
        </p:spPr>
        <p:txBody>
          <a:bodyPr/>
          <a:lstStyle/>
          <a:p>
            <a:endParaRPr lang="en-IN" dirty="0"/>
          </a:p>
        </p:txBody>
      </p:sp>
      <p:sp>
        <p:nvSpPr>
          <p:cNvPr id="32" name="Shape 30"/>
          <p:cNvSpPr/>
          <p:nvPr/>
        </p:nvSpPr>
        <p:spPr>
          <a:xfrm>
            <a:off x="2606040" y="3304128"/>
            <a:ext cx="54864" cy="700000"/>
          </a:xfrm>
          <a:prstGeom prst="rect">
            <a:avLst/>
          </a:prstGeom>
          <a:solidFill>
            <a:srgbClr val="E8963A"/>
          </a:solidFill>
          <a:ln w="12700">
            <a:solidFill>
              <a:srgbClr val="E8963A"/>
            </a:solidFill>
            <a:prstDash val="solid"/>
          </a:ln>
        </p:spPr>
        <p:txBody>
          <a:bodyPr/>
          <a:lstStyle/>
          <a:p>
            <a:endParaRPr lang="en-IN" dirty="0"/>
          </a:p>
        </p:txBody>
      </p:sp>
      <p:sp>
        <p:nvSpPr>
          <p:cNvPr id="33" name="Text 31"/>
          <p:cNvSpPr/>
          <p:nvPr/>
        </p:nvSpPr>
        <p:spPr>
          <a:xfrm>
            <a:off x="2761488" y="3359128"/>
            <a:ext cx="5822424" cy="292608"/>
          </a:xfrm>
          <a:prstGeom prst="rect">
            <a:avLst/>
          </a:prstGeom>
          <a:noFill/>
          <a:ln/>
        </p:spPr>
        <p:txBody>
          <a:bodyPr wrap="square" rtlCol="0" anchor="ctr"/>
          <a:lstStyle/>
          <a:p>
            <a:pPr marL="0" indent="0">
              <a:buNone/>
            </a:pPr>
            <a:r>
              <a:rPr lang="en-US" sz="1200" b="1" dirty="0">
                <a:solidFill>
                  <a:srgbClr val="1A1A2E"/>
                </a:solidFill>
              </a:rPr>
              <a:t>📈  Profit Concentration</a:t>
            </a:r>
            <a:endParaRPr lang="en-US" sz="1200" dirty="0"/>
          </a:p>
        </p:txBody>
      </p:sp>
      <p:sp>
        <p:nvSpPr>
          <p:cNvPr id="34" name="Text 32"/>
          <p:cNvSpPr/>
          <p:nvPr/>
        </p:nvSpPr>
        <p:spPr>
          <a:xfrm>
            <a:off x="8150000" y="3395128"/>
            <a:ext cx="673960" cy="237744"/>
          </a:xfrm>
          <a:prstGeom prst="rect">
            <a:avLst/>
          </a:prstGeom>
          <a:noFill/>
          <a:ln/>
        </p:spPr>
        <p:txBody>
          <a:bodyPr wrap="square" rtlCol="0" anchor="ctr"/>
          <a:lstStyle/>
          <a:p>
            <a:pPr marL="0" indent="0" algn="r">
              <a:buNone/>
            </a:pPr>
            <a:r>
              <a:rPr lang="en-US" sz="800" b="1" dirty="0">
                <a:solidFill>
                  <a:srgbClr val="E8963A"/>
                </a:solidFill>
              </a:rPr>
              <a:t>Page 4</a:t>
            </a:r>
            <a:endParaRPr lang="en-US" sz="800" dirty="0"/>
          </a:p>
        </p:txBody>
      </p:sp>
      <p:sp>
        <p:nvSpPr>
          <p:cNvPr id="35" name="Text 33"/>
          <p:cNvSpPr/>
          <p:nvPr/>
        </p:nvSpPr>
        <p:spPr>
          <a:xfrm>
            <a:off x="2761488" y="3484128"/>
            <a:ext cx="6062472" cy="520000"/>
          </a:xfrm>
          <a:prstGeom prst="rect">
            <a:avLst/>
          </a:prstGeom>
          <a:noFill/>
          <a:ln/>
        </p:spPr>
        <p:txBody>
          <a:bodyPr wrap="square" lIns="91440" tIns="182880" rIns="91440" bIns="45720" rtlCol="0" anchor="t"/>
          <a:lstStyle/>
          <a:p>
            <a:pPr marL="0" indent="0">
              <a:lnSpc>
                <a:spcPct val="125000"/>
              </a:lnSpc>
              <a:buNone/>
            </a:pPr>
            <a:r>
              <a:rPr lang="en-US" sz="870" dirty="0">
                <a:solidFill>
                  <a:srgbClr val="444466"/>
                </a:solidFill>
              </a:rPr>
              <a:t>Order volumes are mapped by US state and Canadian province, with a top-20 Pareto and an over-dependency risk table. A cumulative 80/20 curve shows how few products drive the bulk of divisional performance.</a:t>
            </a:r>
          </a:p>
        </p:txBody>
      </p:sp>
      <p:sp>
        <p:nvSpPr>
          <p:cNvPr id="36" name="Shape 34"/>
          <p:cNvSpPr/>
          <p:nvPr/>
        </p:nvSpPr>
        <p:spPr>
          <a:xfrm>
            <a:off x="2606040" y="4064128"/>
            <a:ext cx="6217920" cy="716472"/>
          </a:xfrm>
          <a:prstGeom prst="rect">
            <a:avLst/>
          </a:prstGeom>
          <a:solidFill>
            <a:srgbClr val="FFFFFF"/>
          </a:solidFill>
          <a:ln w="12700">
            <a:solidFill>
              <a:srgbClr val="E0E0EE"/>
            </a:solidFill>
            <a:prstDash val="solid"/>
          </a:ln>
          <a:effectLst>
            <a:outerShdw blurRad="101600" dist="38100" dir="8100000" algn="bl" rotWithShape="0">
              <a:srgbClr val="000000">
                <a:alpha val="12000"/>
              </a:srgbClr>
            </a:outerShdw>
          </a:effectLst>
        </p:spPr>
        <p:txBody>
          <a:bodyPr/>
          <a:lstStyle/>
          <a:p>
            <a:endParaRPr lang="en-IN" dirty="0"/>
          </a:p>
        </p:txBody>
      </p:sp>
      <p:sp>
        <p:nvSpPr>
          <p:cNvPr id="37" name="Shape 35"/>
          <p:cNvSpPr/>
          <p:nvPr/>
        </p:nvSpPr>
        <p:spPr>
          <a:xfrm>
            <a:off x="2606040" y="4064128"/>
            <a:ext cx="54864" cy="716472"/>
          </a:xfrm>
          <a:prstGeom prst="rect">
            <a:avLst/>
          </a:prstGeom>
          <a:solidFill>
            <a:srgbClr val="1FA66A"/>
          </a:solidFill>
          <a:ln w="12700">
            <a:solidFill>
              <a:srgbClr val="1FA66A"/>
            </a:solidFill>
            <a:prstDash val="solid"/>
          </a:ln>
        </p:spPr>
        <p:txBody>
          <a:bodyPr/>
          <a:lstStyle/>
          <a:p>
            <a:endParaRPr lang="en-IN" dirty="0"/>
          </a:p>
        </p:txBody>
      </p:sp>
      <p:sp>
        <p:nvSpPr>
          <p:cNvPr id="38" name="Text 36"/>
          <p:cNvSpPr/>
          <p:nvPr/>
        </p:nvSpPr>
        <p:spPr>
          <a:xfrm>
            <a:off x="2761488" y="4119128"/>
            <a:ext cx="5822424" cy="292608"/>
          </a:xfrm>
          <a:prstGeom prst="rect">
            <a:avLst/>
          </a:prstGeom>
          <a:noFill/>
          <a:ln/>
        </p:spPr>
        <p:txBody>
          <a:bodyPr wrap="square" rtlCol="0" anchor="ctr"/>
          <a:lstStyle/>
          <a:p>
            <a:pPr marL="0" indent="0">
              <a:buNone/>
            </a:pPr>
            <a:r>
              <a:rPr lang="en-US" sz="1200" b="1" dirty="0">
                <a:solidFill>
                  <a:srgbClr val="1A1A2E"/>
                </a:solidFill>
              </a:rPr>
              <a:t>🔬  Cost vs Margin Diagnostics</a:t>
            </a:r>
            <a:endParaRPr lang="en-US" sz="1200" dirty="0"/>
          </a:p>
        </p:txBody>
      </p:sp>
      <p:sp>
        <p:nvSpPr>
          <p:cNvPr id="39" name="Text 37"/>
          <p:cNvSpPr/>
          <p:nvPr/>
        </p:nvSpPr>
        <p:spPr>
          <a:xfrm>
            <a:off x="8150000" y="4155128"/>
            <a:ext cx="673960" cy="237744"/>
          </a:xfrm>
          <a:prstGeom prst="rect">
            <a:avLst/>
          </a:prstGeom>
          <a:noFill/>
          <a:ln/>
        </p:spPr>
        <p:txBody>
          <a:bodyPr wrap="square" rtlCol="0" anchor="ctr"/>
          <a:lstStyle/>
          <a:p>
            <a:pPr marL="0" indent="0" algn="r">
              <a:buNone/>
            </a:pPr>
            <a:r>
              <a:rPr lang="en-US" sz="800" b="1" dirty="0">
                <a:solidFill>
                  <a:srgbClr val="1FA66A"/>
                </a:solidFill>
              </a:rPr>
              <a:t>Page 5</a:t>
            </a:r>
            <a:endParaRPr lang="en-US" sz="800" dirty="0"/>
          </a:p>
        </p:txBody>
      </p:sp>
      <p:sp>
        <p:nvSpPr>
          <p:cNvPr id="40" name="Text 38"/>
          <p:cNvSpPr/>
          <p:nvPr/>
        </p:nvSpPr>
        <p:spPr>
          <a:xfrm>
            <a:off x="2761488" y="4244128"/>
            <a:ext cx="6062472" cy="536472"/>
          </a:xfrm>
          <a:prstGeom prst="rect">
            <a:avLst/>
          </a:prstGeom>
          <a:noFill/>
          <a:ln/>
        </p:spPr>
        <p:txBody>
          <a:bodyPr wrap="square" lIns="91440" tIns="182880" rIns="91440" bIns="45720" rtlCol="0" anchor="t"/>
          <a:lstStyle/>
          <a:p>
            <a:pPr marL="0" indent="0">
              <a:lnSpc>
                <a:spcPct val="125000"/>
              </a:lnSpc>
              <a:buNone/>
            </a:pPr>
            <a:r>
              <a:rPr lang="en-US" sz="870" dirty="0">
                <a:solidFill>
                  <a:srgbClr val="444466"/>
                </a:solidFill>
              </a:rPr>
              <a:t>A cost-vs-sales scatter with colour-coded margin zones identifies products where sourcing costs are eroding profitability. An action table assigns one of five responses to every product, and a strategic assessment flags the highest-priority cost risks.</a:t>
            </a:r>
          </a:p>
        </p:txBody>
      </p:sp>
      <p:sp>
        <p:nvSpPr>
          <p:cNvPr id="41" name="Text 39"/>
          <p:cNvSpPr/>
          <p:nvPr/>
        </p:nvSpPr>
        <p:spPr>
          <a:xfrm>
            <a:off x="8046720" y="4800600"/>
            <a:ext cx="914400" cy="228600"/>
          </a:xfrm>
          <a:prstGeom prst="rect">
            <a:avLst/>
          </a:prstGeom>
          <a:noFill/>
          <a:ln/>
        </p:spPr>
        <p:txBody>
          <a:bodyPr wrap="square" rtlCol="0" anchor="ctr"/>
          <a:lstStyle/>
          <a:p>
            <a:pPr marL="0" indent="0" algn="r">
              <a:buNone/>
            </a:pPr>
            <a:r>
              <a:rPr lang="en-US" sz="800" dirty="0">
                <a:solidFill>
                  <a:srgbClr val="999999"/>
                </a:solidFill>
              </a:rPr>
              <a:t>9 / 12</a:t>
            </a:r>
            <a:endParaRPr lang="en-US" sz="800" dirty="0"/>
          </a:p>
        </p:txBody>
      </p:sp>
      <p:sp>
        <p:nvSpPr>
          <p:cNvPr id="42" name="Text 40"/>
          <p:cNvSpPr/>
          <p:nvPr/>
        </p:nvSpPr>
        <p:spPr>
          <a:xfrm>
            <a:off x="457200" y="4800600"/>
            <a:ext cx="5486400" cy="228600"/>
          </a:xfrm>
          <a:prstGeom prst="rect">
            <a:avLst/>
          </a:prstGeom>
          <a:noFill/>
          <a:ln/>
        </p:spPr>
        <p:txBody>
          <a:bodyPr wrap="square" rtlCol="0" anchor="ctr"/>
          <a:lstStyle/>
          <a:p>
            <a:pPr marL="0" indent="0" algn="l">
              <a:buNone/>
            </a:pPr>
            <a:r>
              <a:rPr lang="en-US" sz="800" dirty="0">
                <a:solidFill>
                  <a:srgbClr val="999999"/>
                </a:solidFill>
              </a:rPr>
              <a:t>Nassau Candy Distributor · Profitability Analysis</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FA66A"/>
          </a:solidFill>
          <a:ln w="12700">
            <a:solidFill>
              <a:srgbClr val="1FA66A"/>
            </a:solidFill>
            <a:prstDash val="solid"/>
          </a:ln>
        </p:spPr>
        <p:txBody>
          <a:bodyPr/>
          <a:lstStyle/>
          <a:p>
            <a:endParaRPr lang="en-IN" dirty="0"/>
          </a:p>
        </p:txBody>
      </p:sp>
      <p:sp>
        <p:nvSpPr>
          <p:cNvPr id="3" name="Text 1"/>
          <p:cNvSpPr/>
          <p:nvPr/>
        </p:nvSpPr>
        <p:spPr>
          <a:xfrm>
            <a:off x="7772400" y="137160"/>
            <a:ext cx="1280160" cy="822960"/>
          </a:xfrm>
          <a:prstGeom prst="rect">
            <a:avLst/>
          </a:prstGeom>
          <a:noFill/>
          <a:ln/>
        </p:spPr>
        <p:txBody>
          <a:bodyPr wrap="square" rtlCol="0" anchor="ctr"/>
          <a:lstStyle/>
          <a:p>
            <a:pPr marL="0" indent="0" algn="r">
              <a:buNone/>
            </a:pPr>
            <a:r>
              <a:rPr lang="en-US" sz="5200" b="1" dirty="0">
                <a:solidFill>
                  <a:srgbClr val="1A3A2A"/>
                </a:solidFill>
                <a:latin typeface="Times New Roman" pitchFamily="34" charset="0"/>
                <a:ea typeface="Times New Roman" pitchFamily="34" charset="-122"/>
                <a:cs typeface="Times New Roman" pitchFamily="34" charset="-120"/>
              </a:rPr>
              <a:t>05</a:t>
            </a:r>
            <a:endParaRPr lang="en-US" sz="5200" dirty="0"/>
          </a:p>
        </p:txBody>
      </p:sp>
      <p:sp>
        <p:nvSpPr>
          <p:cNvPr id="4" name="Text 2"/>
          <p:cNvSpPr/>
          <p:nvPr/>
        </p:nvSpPr>
        <p:spPr>
          <a:xfrm>
            <a:off x="320040" y="274320"/>
            <a:ext cx="7315200" cy="502920"/>
          </a:xfrm>
          <a:prstGeom prst="rect">
            <a:avLst/>
          </a:prstGeom>
          <a:noFill/>
          <a:ln/>
        </p:spPr>
        <p:txBody>
          <a:bodyPr wrap="square"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Results &amp; Key Findings</a:t>
            </a:r>
            <a:endParaRPr lang="en-US" sz="2800" dirty="0"/>
          </a:p>
        </p:txBody>
      </p:sp>
      <p:sp>
        <p:nvSpPr>
          <p:cNvPr id="5" name="Text 3"/>
          <p:cNvSpPr/>
          <p:nvPr/>
        </p:nvSpPr>
        <p:spPr>
          <a:xfrm>
            <a:off x="320040" y="786384"/>
            <a:ext cx="7772400" cy="256032"/>
          </a:xfrm>
          <a:prstGeom prst="rect">
            <a:avLst/>
          </a:prstGeom>
          <a:noFill/>
          <a:ln/>
        </p:spPr>
        <p:txBody>
          <a:bodyPr wrap="square" rtlCol="0" anchor="ctr"/>
          <a:lstStyle/>
          <a:p>
            <a:pPr marL="0" indent="0">
              <a:buNone/>
            </a:pPr>
            <a:r>
              <a:rPr lang="en-US" sz="1200" i="1" dirty="0">
                <a:solidFill>
                  <a:srgbClr val="8888BB"/>
                </a:solidFill>
              </a:rPr>
              <a:t>Analytical insights from the profitability intelligence dashboard</a:t>
            </a:r>
            <a:endParaRPr lang="en-US" sz="1200" dirty="0"/>
          </a:p>
        </p:txBody>
      </p:sp>
      <p:sp>
        <p:nvSpPr>
          <p:cNvPr id="6" name="Shape 4"/>
          <p:cNvSpPr/>
          <p:nvPr/>
        </p:nvSpPr>
        <p:spPr>
          <a:xfrm>
            <a:off x="320040" y="1188720"/>
            <a:ext cx="4114800" cy="1627632"/>
          </a:xfrm>
          <a:prstGeom prst="rect">
            <a:avLst/>
          </a:prstGeom>
          <a:solidFill>
            <a:srgbClr val="12122A"/>
          </a:solidFill>
          <a:ln w="12700">
            <a:solidFill>
              <a:srgbClr val="2D2D60"/>
            </a:solidFill>
            <a:prstDash val="solid"/>
          </a:ln>
          <a:effectLst>
            <a:outerShdw blurRad="101600" dist="38100" dir="8100000" algn="bl" rotWithShape="0">
              <a:srgbClr val="000000">
                <a:alpha val="12000"/>
              </a:srgbClr>
            </a:outerShdw>
          </a:effectLst>
        </p:spPr>
        <p:txBody>
          <a:bodyPr/>
          <a:lstStyle/>
          <a:p>
            <a:endParaRPr lang="en-IN" dirty="0"/>
          </a:p>
        </p:txBody>
      </p:sp>
      <p:sp>
        <p:nvSpPr>
          <p:cNvPr id="7" name="Shape 5"/>
          <p:cNvSpPr/>
          <p:nvPr/>
        </p:nvSpPr>
        <p:spPr>
          <a:xfrm>
            <a:off x="320040" y="1188720"/>
            <a:ext cx="54864" cy="1627632"/>
          </a:xfrm>
          <a:prstGeom prst="rect">
            <a:avLst/>
          </a:prstGeom>
          <a:solidFill>
            <a:srgbClr val="6C63FF"/>
          </a:solidFill>
          <a:ln w="12700">
            <a:solidFill>
              <a:srgbClr val="6C63FF"/>
            </a:solidFill>
            <a:prstDash val="solid"/>
          </a:ln>
        </p:spPr>
        <p:txBody>
          <a:bodyPr/>
          <a:lstStyle/>
          <a:p>
            <a:endParaRPr lang="en-IN" dirty="0"/>
          </a:p>
        </p:txBody>
      </p:sp>
      <p:sp>
        <p:nvSpPr>
          <p:cNvPr id="8" name="Text 6"/>
          <p:cNvSpPr/>
          <p:nvPr/>
        </p:nvSpPr>
        <p:spPr>
          <a:xfrm>
            <a:off x="466344" y="1316736"/>
            <a:ext cx="3840480" cy="310896"/>
          </a:xfrm>
          <a:prstGeom prst="rect">
            <a:avLst/>
          </a:prstGeom>
          <a:noFill/>
          <a:ln/>
        </p:spPr>
        <p:txBody>
          <a:bodyPr wrap="square" rtlCol="0" anchor="ctr"/>
          <a:lstStyle/>
          <a:p>
            <a:pPr marL="0" indent="0">
              <a:buNone/>
            </a:pPr>
            <a:r>
              <a:rPr lang="en-US" sz="1300" b="1" dirty="0">
                <a:solidFill>
                  <a:srgbClr val="6C63FF"/>
                </a:solidFill>
                <a:latin typeface="Georgia" pitchFamily="34" charset="0"/>
                <a:ea typeface="Georgia" pitchFamily="34" charset="-122"/>
                <a:cs typeface="Georgia" pitchFamily="34" charset="-120"/>
              </a:rPr>
              <a:t>📊  Profit ≠ Revenue</a:t>
            </a:r>
            <a:endParaRPr lang="en-US" sz="1300" dirty="0"/>
          </a:p>
        </p:txBody>
      </p:sp>
      <p:sp>
        <p:nvSpPr>
          <p:cNvPr id="9" name="Text 7"/>
          <p:cNvSpPr/>
          <p:nvPr/>
        </p:nvSpPr>
        <p:spPr>
          <a:xfrm>
            <a:off x="466344" y="1682496"/>
            <a:ext cx="3858768" cy="1024128"/>
          </a:xfrm>
          <a:prstGeom prst="rect">
            <a:avLst/>
          </a:prstGeom>
          <a:noFill/>
          <a:ln/>
        </p:spPr>
        <p:txBody>
          <a:bodyPr wrap="square" rtlCol="0" anchor="ctr"/>
          <a:lstStyle/>
          <a:p>
            <a:pPr marL="0" indent="0">
              <a:lnSpc>
                <a:spcPct val="135000"/>
              </a:lnSpc>
              <a:buNone/>
            </a:pPr>
            <a:r>
              <a:rPr lang="en-US" sz="950" dirty="0">
                <a:solidFill>
                  <a:srgbClr val="AAAACC"/>
                </a:solidFill>
              </a:rPr>
              <a:t>Top-selling products by revenue are not always top profit contributors. Several high-volume products were found in the 'High Sales / Low Margin' quadrant, consuming disproportionate cost.</a:t>
            </a:r>
            <a:endParaRPr lang="en-US" sz="950" dirty="0"/>
          </a:p>
        </p:txBody>
      </p:sp>
      <p:sp>
        <p:nvSpPr>
          <p:cNvPr id="10" name="Shape 8"/>
          <p:cNvSpPr/>
          <p:nvPr/>
        </p:nvSpPr>
        <p:spPr>
          <a:xfrm>
            <a:off x="4663440" y="1188720"/>
            <a:ext cx="4114800" cy="1627632"/>
          </a:xfrm>
          <a:prstGeom prst="rect">
            <a:avLst/>
          </a:prstGeom>
          <a:solidFill>
            <a:srgbClr val="12122A"/>
          </a:solidFill>
          <a:ln w="12700">
            <a:solidFill>
              <a:srgbClr val="2D2D60"/>
            </a:solidFill>
            <a:prstDash val="solid"/>
          </a:ln>
          <a:effectLst>
            <a:outerShdw blurRad="101600" dist="38100" dir="8100000" algn="bl" rotWithShape="0">
              <a:srgbClr val="000000">
                <a:alpha val="12000"/>
              </a:srgbClr>
            </a:outerShdw>
          </a:effectLst>
        </p:spPr>
        <p:txBody>
          <a:bodyPr/>
          <a:lstStyle/>
          <a:p>
            <a:endParaRPr lang="en-IN" dirty="0"/>
          </a:p>
        </p:txBody>
      </p:sp>
      <p:sp>
        <p:nvSpPr>
          <p:cNvPr id="11" name="Shape 9"/>
          <p:cNvSpPr/>
          <p:nvPr/>
        </p:nvSpPr>
        <p:spPr>
          <a:xfrm>
            <a:off x="4663440" y="1188720"/>
            <a:ext cx="54864" cy="1627632"/>
          </a:xfrm>
          <a:prstGeom prst="rect">
            <a:avLst/>
          </a:prstGeom>
          <a:solidFill>
            <a:srgbClr val="7B4F2E"/>
          </a:solidFill>
          <a:ln w="12700">
            <a:solidFill>
              <a:srgbClr val="7B4F2E"/>
            </a:solidFill>
            <a:prstDash val="solid"/>
          </a:ln>
        </p:spPr>
        <p:txBody>
          <a:bodyPr/>
          <a:lstStyle/>
          <a:p>
            <a:endParaRPr lang="en-IN" dirty="0"/>
          </a:p>
        </p:txBody>
      </p:sp>
      <p:sp>
        <p:nvSpPr>
          <p:cNvPr id="12" name="Text 10"/>
          <p:cNvSpPr/>
          <p:nvPr/>
        </p:nvSpPr>
        <p:spPr>
          <a:xfrm>
            <a:off x="4809744" y="1316736"/>
            <a:ext cx="3840480" cy="310896"/>
          </a:xfrm>
          <a:prstGeom prst="rect">
            <a:avLst/>
          </a:prstGeom>
          <a:noFill/>
          <a:ln/>
        </p:spPr>
        <p:txBody>
          <a:bodyPr wrap="square" rtlCol="0" anchor="ctr"/>
          <a:lstStyle/>
          <a:p>
            <a:pPr marL="0" indent="0">
              <a:buNone/>
            </a:pPr>
            <a:r>
              <a:rPr lang="en-US" sz="1300" b="1" dirty="0">
                <a:solidFill>
                  <a:srgbClr val="7B4F2E"/>
                </a:solidFill>
                <a:latin typeface="Georgia" pitchFamily="34" charset="0"/>
                <a:ea typeface="Georgia" pitchFamily="34" charset="-122"/>
                <a:cs typeface="Georgia" pitchFamily="34" charset="-120"/>
              </a:rPr>
              <a:t>🍫  Chocolate Leads Margins</a:t>
            </a:r>
            <a:endParaRPr lang="en-US" sz="1300" dirty="0"/>
          </a:p>
        </p:txBody>
      </p:sp>
      <p:sp>
        <p:nvSpPr>
          <p:cNvPr id="13" name="Text 11"/>
          <p:cNvSpPr/>
          <p:nvPr/>
        </p:nvSpPr>
        <p:spPr>
          <a:xfrm>
            <a:off x="4809744" y="1682496"/>
            <a:ext cx="3858768" cy="1024128"/>
          </a:xfrm>
          <a:prstGeom prst="rect">
            <a:avLst/>
          </a:prstGeom>
          <a:noFill/>
          <a:ln/>
        </p:spPr>
        <p:txBody>
          <a:bodyPr wrap="square" rtlCol="0" anchor="ctr"/>
          <a:lstStyle/>
          <a:p>
            <a:pPr marL="0" indent="0">
              <a:lnSpc>
                <a:spcPct val="135000"/>
              </a:lnSpc>
              <a:buNone/>
            </a:pPr>
            <a:r>
              <a:rPr lang="en-US" sz="950" dirty="0">
                <a:solidFill>
                  <a:srgbClr val="AAAACC"/>
                </a:solidFill>
              </a:rPr>
              <a:t>The Chocolate division consistently shows the strongest gross margin percentages. Wonka Bar variants from Lot's O' Nuts factory carry premium margins vs commodity sugar products.</a:t>
            </a:r>
            <a:endParaRPr lang="en-US" sz="950" dirty="0"/>
          </a:p>
        </p:txBody>
      </p:sp>
      <p:sp>
        <p:nvSpPr>
          <p:cNvPr id="14" name="Shape 12"/>
          <p:cNvSpPr/>
          <p:nvPr/>
        </p:nvSpPr>
        <p:spPr>
          <a:xfrm>
            <a:off x="320040" y="3017520"/>
            <a:ext cx="4114800" cy="1627632"/>
          </a:xfrm>
          <a:prstGeom prst="rect">
            <a:avLst/>
          </a:prstGeom>
          <a:solidFill>
            <a:srgbClr val="12122A"/>
          </a:solidFill>
          <a:ln w="12700">
            <a:solidFill>
              <a:srgbClr val="2D2D60"/>
            </a:solidFill>
            <a:prstDash val="solid"/>
          </a:ln>
          <a:effectLst>
            <a:outerShdw blurRad="101600" dist="38100" dir="8100000" algn="bl" rotWithShape="0">
              <a:srgbClr val="000000">
                <a:alpha val="12000"/>
              </a:srgbClr>
            </a:outerShdw>
          </a:effectLst>
        </p:spPr>
        <p:txBody>
          <a:bodyPr/>
          <a:lstStyle/>
          <a:p>
            <a:endParaRPr lang="en-IN" dirty="0"/>
          </a:p>
        </p:txBody>
      </p:sp>
      <p:sp>
        <p:nvSpPr>
          <p:cNvPr id="15" name="Shape 13"/>
          <p:cNvSpPr/>
          <p:nvPr/>
        </p:nvSpPr>
        <p:spPr>
          <a:xfrm>
            <a:off x="320040" y="3017520"/>
            <a:ext cx="54864" cy="1627632"/>
          </a:xfrm>
          <a:prstGeom prst="rect">
            <a:avLst/>
          </a:prstGeom>
          <a:solidFill>
            <a:srgbClr val="E8963A"/>
          </a:solidFill>
          <a:ln w="12700">
            <a:solidFill>
              <a:srgbClr val="E8963A"/>
            </a:solidFill>
            <a:prstDash val="solid"/>
          </a:ln>
        </p:spPr>
        <p:txBody>
          <a:bodyPr/>
          <a:lstStyle/>
          <a:p>
            <a:endParaRPr lang="en-IN" dirty="0"/>
          </a:p>
        </p:txBody>
      </p:sp>
      <p:sp>
        <p:nvSpPr>
          <p:cNvPr id="16" name="Text 14"/>
          <p:cNvSpPr/>
          <p:nvPr/>
        </p:nvSpPr>
        <p:spPr>
          <a:xfrm>
            <a:off x="466344" y="3145536"/>
            <a:ext cx="3840480" cy="310896"/>
          </a:xfrm>
          <a:prstGeom prst="rect">
            <a:avLst/>
          </a:prstGeom>
          <a:noFill/>
          <a:ln/>
        </p:spPr>
        <p:txBody>
          <a:bodyPr wrap="square" rtlCol="0" anchor="ctr"/>
          <a:lstStyle/>
          <a:p>
            <a:pPr marL="0" indent="0">
              <a:buNone/>
            </a:pPr>
            <a:r>
              <a:rPr lang="en-US" sz="1300" b="1" dirty="0">
                <a:solidFill>
                  <a:srgbClr val="E8963A"/>
                </a:solidFill>
                <a:latin typeface="Georgia" pitchFamily="34" charset="0"/>
                <a:ea typeface="Georgia" pitchFamily="34" charset="-122"/>
                <a:cs typeface="Georgia" pitchFamily="34" charset="-120"/>
              </a:rPr>
              <a:t>⚖️  80/20 Profit Concentration</a:t>
            </a:r>
            <a:endParaRPr lang="en-US" sz="1300" dirty="0"/>
          </a:p>
        </p:txBody>
      </p:sp>
      <p:sp>
        <p:nvSpPr>
          <p:cNvPr id="17" name="Text 15"/>
          <p:cNvSpPr/>
          <p:nvPr/>
        </p:nvSpPr>
        <p:spPr>
          <a:xfrm>
            <a:off x="466344" y="3511296"/>
            <a:ext cx="3858768" cy="1024128"/>
          </a:xfrm>
          <a:prstGeom prst="rect">
            <a:avLst/>
          </a:prstGeom>
          <a:noFill/>
          <a:ln/>
        </p:spPr>
        <p:txBody>
          <a:bodyPr wrap="square" rtlCol="0" anchor="ctr"/>
          <a:lstStyle/>
          <a:p>
            <a:pPr marL="0" indent="0">
              <a:lnSpc>
                <a:spcPct val="135000"/>
              </a:lnSpc>
              <a:buNone/>
            </a:pPr>
            <a:r>
              <a:rPr lang="en-US" sz="950" dirty="0">
                <a:solidFill>
                  <a:srgbClr val="AAAACC"/>
                </a:solidFill>
              </a:rPr>
              <a:t>Pareto analysis reveals that approximately 20% of products generate 80% of gross profit, creating dependency risk. A single division disruption could materially impact overall profitability.</a:t>
            </a:r>
            <a:endParaRPr lang="en-US" sz="950" dirty="0"/>
          </a:p>
        </p:txBody>
      </p:sp>
      <p:sp>
        <p:nvSpPr>
          <p:cNvPr id="18" name="Shape 16"/>
          <p:cNvSpPr/>
          <p:nvPr/>
        </p:nvSpPr>
        <p:spPr>
          <a:xfrm>
            <a:off x="4663440" y="3017520"/>
            <a:ext cx="4114800" cy="1627632"/>
          </a:xfrm>
          <a:prstGeom prst="rect">
            <a:avLst/>
          </a:prstGeom>
          <a:solidFill>
            <a:srgbClr val="12122A"/>
          </a:solidFill>
          <a:ln w="12700">
            <a:solidFill>
              <a:srgbClr val="2D2D60"/>
            </a:solidFill>
            <a:prstDash val="solid"/>
          </a:ln>
          <a:effectLst>
            <a:outerShdw blurRad="101600" dist="38100" dir="8100000" algn="bl" rotWithShape="0">
              <a:srgbClr val="000000">
                <a:alpha val="12000"/>
              </a:srgbClr>
            </a:outerShdw>
          </a:effectLst>
        </p:spPr>
        <p:txBody>
          <a:bodyPr/>
          <a:lstStyle/>
          <a:p>
            <a:endParaRPr lang="en-IN" dirty="0"/>
          </a:p>
        </p:txBody>
      </p:sp>
      <p:sp>
        <p:nvSpPr>
          <p:cNvPr id="19" name="Shape 17"/>
          <p:cNvSpPr/>
          <p:nvPr/>
        </p:nvSpPr>
        <p:spPr>
          <a:xfrm>
            <a:off x="4663440" y="3017520"/>
            <a:ext cx="54864" cy="1627632"/>
          </a:xfrm>
          <a:prstGeom prst="rect">
            <a:avLst/>
          </a:prstGeom>
          <a:solidFill>
            <a:srgbClr val="028090"/>
          </a:solidFill>
          <a:ln w="12700">
            <a:solidFill>
              <a:srgbClr val="028090"/>
            </a:solidFill>
            <a:prstDash val="solid"/>
          </a:ln>
        </p:spPr>
        <p:txBody>
          <a:bodyPr/>
          <a:lstStyle/>
          <a:p>
            <a:endParaRPr lang="en-IN" dirty="0"/>
          </a:p>
        </p:txBody>
      </p:sp>
      <p:sp>
        <p:nvSpPr>
          <p:cNvPr id="20" name="Text 18"/>
          <p:cNvSpPr/>
          <p:nvPr/>
        </p:nvSpPr>
        <p:spPr>
          <a:xfrm>
            <a:off x="4809744" y="3145536"/>
            <a:ext cx="3840480" cy="310896"/>
          </a:xfrm>
          <a:prstGeom prst="rect">
            <a:avLst/>
          </a:prstGeom>
          <a:noFill/>
          <a:ln/>
        </p:spPr>
        <p:txBody>
          <a:bodyPr wrap="square" rtlCol="0" anchor="ctr"/>
          <a:lstStyle/>
          <a:p>
            <a:pPr marL="0" indent="0">
              <a:buNone/>
            </a:pPr>
            <a:r>
              <a:rPr lang="en-US" sz="1300" b="1" dirty="0">
                <a:solidFill>
                  <a:srgbClr val="028090"/>
                </a:solidFill>
                <a:latin typeface="Georgia" pitchFamily="34" charset="0"/>
                <a:ea typeface="Georgia" pitchFamily="34" charset="-122"/>
                <a:cs typeface="Georgia" pitchFamily="34" charset="-120"/>
              </a:rPr>
              <a:t>🔬  Cost Structure Risk</a:t>
            </a:r>
            <a:endParaRPr lang="en-US" sz="1300" dirty="0"/>
          </a:p>
        </p:txBody>
      </p:sp>
      <p:sp>
        <p:nvSpPr>
          <p:cNvPr id="21" name="Text 19"/>
          <p:cNvSpPr/>
          <p:nvPr/>
        </p:nvSpPr>
        <p:spPr>
          <a:xfrm>
            <a:off x="4809744" y="3511296"/>
            <a:ext cx="3858768" cy="1024128"/>
          </a:xfrm>
          <a:prstGeom prst="rect">
            <a:avLst/>
          </a:prstGeom>
          <a:noFill/>
          <a:ln/>
        </p:spPr>
        <p:txBody>
          <a:bodyPr wrap="square" rtlCol="0" anchor="ctr"/>
          <a:lstStyle/>
          <a:p>
            <a:pPr marL="0" indent="0">
              <a:lnSpc>
                <a:spcPct val="135000"/>
              </a:lnSpc>
              <a:buNone/>
            </a:pPr>
            <a:r>
              <a:rPr lang="en-US" sz="950" dirty="0">
                <a:solidFill>
                  <a:srgbClr val="AAAACC"/>
                </a:solidFill>
              </a:rPr>
              <a:t>Multiple products exhibit cost ratios above 80%, requiring urgent renegotiation or repricing. The diagnostics module flags these as 'Renegotiate Cost' or 'Review Pricing' in the action matrix.</a:t>
            </a:r>
            <a:endParaRPr lang="en-US" sz="950" dirty="0"/>
          </a:p>
        </p:txBody>
      </p:sp>
      <p:sp>
        <p:nvSpPr>
          <p:cNvPr id="22" name="Text 20"/>
          <p:cNvSpPr/>
          <p:nvPr/>
        </p:nvSpPr>
        <p:spPr>
          <a:xfrm>
            <a:off x="8046720" y="4800600"/>
            <a:ext cx="914400" cy="228600"/>
          </a:xfrm>
          <a:prstGeom prst="rect">
            <a:avLst/>
          </a:prstGeom>
          <a:noFill/>
          <a:ln/>
        </p:spPr>
        <p:txBody>
          <a:bodyPr wrap="square" rtlCol="0" anchor="ctr"/>
          <a:lstStyle/>
          <a:p>
            <a:pPr marL="0" indent="0" algn="r">
              <a:buNone/>
            </a:pPr>
            <a:r>
              <a:rPr lang="en-US" sz="800" dirty="0">
                <a:solidFill>
                  <a:srgbClr val="999999"/>
                </a:solidFill>
              </a:rPr>
              <a:t>10 / 12</a:t>
            </a:r>
            <a:endParaRPr lang="en-US" sz="800" dirty="0"/>
          </a:p>
        </p:txBody>
      </p:sp>
      <p:sp>
        <p:nvSpPr>
          <p:cNvPr id="23" name="Text 21"/>
          <p:cNvSpPr/>
          <p:nvPr/>
        </p:nvSpPr>
        <p:spPr>
          <a:xfrm>
            <a:off x="457200" y="4800600"/>
            <a:ext cx="5486400" cy="228600"/>
          </a:xfrm>
          <a:prstGeom prst="rect">
            <a:avLst/>
          </a:prstGeom>
          <a:noFill/>
          <a:ln/>
        </p:spPr>
        <p:txBody>
          <a:bodyPr wrap="square" rtlCol="0" anchor="ctr"/>
          <a:lstStyle/>
          <a:p>
            <a:pPr marL="0" indent="0" algn="l">
              <a:buNone/>
            </a:pPr>
            <a:r>
              <a:rPr lang="en-US" sz="800" dirty="0">
                <a:solidFill>
                  <a:srgbClr val="999999"/>
                </a:solidFill>
              </a:rPr>
              <a:t>Nassau Candy Distributor · Profitability Analysis</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4FB"/>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FA66A"/>
          </a:solidFill>
          <a:ln w="12700">
            <a:solidFill>
              <a:srgbClr val="1FA66A"/>
            </a:solidFill>
            <a:prstDash val="solid"/>
          </a:ln>
        </p:spPr>
        <p:txBody>
          <a:bodyPr/>
          <a:lstStyle/>
          <a:p>
            <a:endParaRPr lang="en-IN" dirty="0"/>
          </a:p>
        </p:txBody>
      </p:sp>
      <p:sp>
        <p:nvSpPr>
          <p:cNvPr id="3" name="Text 1"/>
          <p:cNvSpPr/>
          <p:nvPr/>
        </p:nvSpPr>
        <p:spPr>
          <a:xfrm>
            <a:off x="320040" y="256032"/>
            <a:ext cx="7315200" cy="475488"/>
          </a:xfrm>
          <a:prstGeom prst="rect">
            <a:avLst/>
          </a:prstGeom>
          <a:noFill/>
          <a:ln/>
        </p:spPr>
        <p:txBody>
          <a:bodyPr wrap="square" rtlCol="0" anchor="ctr"/>
          <a:lstStyle/>
          <a:p>
            <a:pPr marL="0" indent="0">
              <a:buNone/>
            </a:pPr>
            <a:r>
              <a:rPr lang="en-US" sz="2600" b="1" dirty="0">
                <a:solidFill>
                  <a:srgbClr val="1A1A2E"/>
                </a:solidFill>
                <a:latin typeface="Georgia" pitchFamily="34" charset="0"/>
                <a:ea typeface="Georgia" pitchFamily="34" charset="-122"/>
                <a:cs typeface="Georgia" pitchFamily="34" charset="-120"/>
              </a:rPr>
              <a:t>Product Action Matrix</a:t>
            </a:r>
            <a:endParaRPr lang="en-US" sz="2600" dirty="0"/>
          </a:p>
        </p:txBody>
      </p:sp>
      <p:sp>
        <p:nvSpPr>
          <p:cNvPr id="4" name="Text 2"/>
          <p:cNvSpPr/>
          <p:nvPr/>
        </p:nvSpPr>
        <p:spPr>
          <a:xfrm>
            <a:off x="320040" y="713232"/>
            <a:ext cx="8229600" cy="256032"/>
          </a:xfrm>
          <a:prstGeom prst="rect">
            <a:avLst/>
          </a:prstGeom>
          <a:noFill/>
          <a:ln/>
        </p:spPr>
        <p:txBody>
          <a:bodyPr wrap="square" rtlCol="0" anchor="ctr"/>
          <a:lstStyle/>
          <a:p>
            <a:pPr marL="0" indent="0">
              <a:buNone/>
            </a:pPr>
            <a:r>
              <a:rPr lang="en-US" sz="1100" i="1" dirty="0">
                <a:solidFill>
                  <a:srgbClr val="666688"/>
                </a:solidFill>
              </a:rPr>
              <a:t>Recommended strategic action per product based on sales × margin quadrant positioning</a:t>
            </a:r>
            <a:endParaRPr lang="en-US" sz="1100" dirty="0"/>
          </a:p>
        </p:txBody>
      </p:sp>
      <p:sp>
        <p:nvSpPr>
          <p:cNvPr id="5" name="Text 3"/>
          <p:cNvSpPr/>
          <p:nvPr/>
        </p:nvSpPr>
        <p:spPr>
          <a:xfrm>
            <a:off x="3017520" y="1005840"/>
            <a:ext cx="2743200" cy="274320"/>
          </a:xfrm>
          <a:prstGeom prst="rect">
            <a:avLst/>
          </a:prstGeom>
          <a:noFill/>
          <a:ln/>
        </p:spPr>
        <p:txBody>
          <a:bodyPr wrap="square" rtlCol="0" anchor="ctr"/>
          <a:lstStyle/>
          <a:p>
            <a:pPr marL="0" indent="0" algn="ctr">
              <a:buNone/>
            </a:pPr>
            <a:r>
              <a:rPr lang="en-US" sz="1000" b="1" kern="0" spc="100" dirty="0">
                <a:solidFill>
                  <a:srgbClr val="1FA66A"/>
                </a:solidFill>
              </a:rPr>
              <a:t>HIGH MARGIN</a:t>
            </a:r>
            <a:endParaRPr lang="en-US" sz="1000" dirty="0"/>
          </a:p>
        </p:txBody>
      </p:sp>
      <p:sp>
        <p:nvSpPr>
          <p:cNvPr id="6" name="Text 4"/>
          <p:cNvSpPr/>
          <p:nvPr/>
        </p:nvSpPr>
        <p:spPr>
          <a:xfrm>
            <a:off x="5943600" y="1005840"/>
            <a:ext cx="2743200" cy="274320"/>
          </a:xfrm>
          <a:prstGeom prst="rect">
            <a:avLst/>
          </a:prstGeom>
          <a:noFill/>
          <a:ln/>
        </p:spPr>
        <p:txBody>
          <a:bodyPr wrap="square" rtlCol="0" anchor="ctr"/>
          <a:lstStyle/>
          <a:p>
            <a:pPr marL="0" indent="0" algn="ctr">
              <a:buNone/>
            </a:pPr>
            <a:r>
              <a:rPr lang="en-US" sz="1000" b="1" kern="0" spc="100" dirty="0">
                <a:solidFill>
                  <a:srgbClr val="C0392B"/>
                </a:solidFill>
              </a:rPr>
              <a:t>LOW MARGIN</a:t>
            </a:r>
            <a:endParaRPr lang="en-US" sz="1000" dirty="0"/>
          </a:p>
        </p:txBody>
      </p:sp>
      <p:sp>
        <p:nvSpPr>
          <p:cNvPr id="7" name="Text 5"/>
          <p:cNvSpPr/>
          <p:nvPr/>
        </p:nvSpPr>
        <p:spPr>
          <a:xfrm rot="16200000">
            <a:off x="320040" y="1645920"/>
            <a:ext cx="2560320" cy="274320"/>
          </a:xfrm>
          <a:prstGeom prst="rect">
            <a:avLst/>
          </a:prstGeom>
          <a:noFill/>
          <a:ln/>
        </p:spPr>
        <p:txBody>
          <a:bodyPr wrap="square" rtlCol="0" anchor="ctr"/>
          <a:lstStyle/>
          <a:p>
            <a:pPr marL="0" indent="0" algn="ctr">
              <a:buNone/>
            </a:pPr>
            <a:r>
              <a:rPr lang="en-US" sz="1000" b="1" kern="0" spc="100" dirty="0">
                <a:solidFill>
                  <a:srgbClr val="1A1A2E"/>
                </a:solidFill>
              </a:rPr>
              <a:t>HIGH SALES</a:t>
            </a:r>
            <a:endParaRPr lang="en-US" sz="1000" dirty="0"/>
          </a:p>
        </p:txBody>
      </p:sp>
      <p:sp>
        <p:nvSpPr>
          <p:cNvPr id="8" name="Text 6"/>
          <p:cNvSpPr/>
          <p:nvPr/>
        </p:nvSpPr>
        <p:spPr>
          <a:xfrm rot="16200000">
            <a:off x="320040" y="3246120"/>
            <a:ext cx="2560320" cy="274320"/>
          </a:xfrm>
          <a:prstGeom prst="rect">
            <a:avLst/>
          </a:prstGeom>
          <a:noFill/>
          <a:ln/>
        </p:spPr>
        <p:txBody>
          <a:bodyPr wrap="square" rtlCol="0" anchor="ctr"/>
          <a:lstStyle/>
          <a:p>
            <a:pPr marL="0" indent="0" algn="ctr">
              <a:buNone/>
            </a:pPr>
            <a:r>
              <a:rPr lang="en-US" sz="1000" b="1" kern="0" spc="100" dirty="0">
                <a:solidFill>
                  <a:srgbClr val="666688"/>
                </a:solidFill>
              </a:rPr>
              <a:t>LOW SALES</a:t>
            </a:r>
            <a:endParaRPr lang="en-US" sz="1000" dirty="0"/>
          </a:p>
        </p:txBody>
      </p:sp>
      <p:sp>
        <p:nvSpPr>
          <p:cNvPr id="9" name="Shape 7"/>
          <p:cNvSpPr/>
          <p:nvPr/>
        </p:nvSpPr>
        <p:spPr>
          <a:xfrm>
            <a:off x="3017520" y="1325880"/>
            <a:ext cx="2743200" cy="1627632"/>
          </a:xfrm>
          <a:prstGeom prst="rect">
            <a:avLst/>
          </a:prstGeom>
          <a:solidFill>
            <a:srgbClr val="EAF9EE"/>
          </a:solidFill>
          <a:ln w="12700">
            <a:solidFill>
              <a:srgbClr val="1FA66A"/>
            </a:solidFill>
            <a:prstDash val="solid"/>
          </a:ln>
          <a:effectLst>
            <a:outerShdw blurRad="101600" dist="38100" dir="8100000" algn="bl" rotWithShape="0">
              <a:srgbClr val="000000">
                <a:alpha val="12000"/>
              </a:srgbClr>
            </a:outerShdw>
          </a:effectLst>
        </p:spPr>
        <p:txBody>
          <a:bodyPr/>
          <a:lstStyle/>
          <a:p>
            <a:endParaRPr lang="en-IN" dirty="0"/>
          </a:p>
        </p:txBody>
      </p:sp>
      <p:sp>
        <p:nvSpPr>
          <p:cNvPr id="10" name="Text 8"/>
          <p:cNvSpPr/>
          <p:nvPr/>
        </p:nvSpPr>
        <p:spPr>
          <a:xfrm>
            <a:off x="3127248" y="1435608"/>
            <a:ext cx="2560320" cy="320040"/>
          </a:xfrm>
          <a:prstGeom prst="rect">
            <a:avLst/>
          </a:prstGeom>
          <a:noFill/>
          <a:ln/>
        </p:spPr>
        <p:txBody>
          <a:bodyPr wrap="square" rtlCol="0" anchor="ctr"/>
          <a:lstStyle/>
          <a:p>
            <a:pPr marL="0" indent="0">
              <a:buNone/>
            </a:pPr>
            <a:r>
              <a:rPr lang="en-US" sz="1300" b="1" dirty="0">
                <a:solidFill>
                  <a:srgbClr val="1A1A2E"/>
                </a:solidFill>
                <a:latin typeface="Georgia" pitchFamily="34" charset="0"/>
                <a:ea typeface="Georgia" pitchFamily="34" charset="-122"/>
                <a:cs typeface="Georgia" pitchFamily="34" charset="-120"/>
              </a:rPr>
              <a:t>⭐ Stars</a:t>
            </a:r>
            <a:endParaRPr lang="en-US" sz="1300" dirty="0"/>
          </a:p>
        </p:txBody>
      </p:sp>
      <p:sp>
        <p:nvSpPr>
          <p:cNvPr id="11" name="Shape 9"/>
          <p:cNvSpPr/>
          <p:nvPr/>
        </p:nvSpPr>
        <p:spPr>
          <a:xfrm>
            <a:off x="3127248" y="1801368"/>
            <a:ext cx="1280160" cy="256032"/>
          </a:xfrm>
          <a:prstGeom prst="roundRect">
            <a:avLst>
              <a:gd name="adj" fmla="val 17857"/>
            </a:avLst>
          </a:prstGeom>
          <a:solidFill>
            <a:srgbClr val="1FA66A"/>
          </a:solidFill>
          <a:ln w="12700">
            <a:solidFill>
              <a:srgbClr val="1FA66A"/>
            </a:solidFill>
            <a:prstDash val="solid"/>
          </a:ln>
        </p:spPr>
        <p:txBody>
          <a:bodyPr/>
          <a:lstStyle/>
          <a:p>
            <a:endParaRPr lang="en-IN" dirty="0"/>
          </a:p>
        </p:txBody>
      </p:sp>
      <p:sp>
        <p:nvSpPr>
          <p:cNvPr id="12" name="Text 10"/>
          <p:cNvSpPr/>
          <p:nvPr/>
        </p:nvSpPr>
        <p:spPr>
          <a:xfrm>
            <a:off x="3127248" y="1801368"/>
            <a:ext cx="1280160" cy="256032"/>
          </a:xfrm>
          <a:prstGeom prst="rect">
            <a:avLst/>
          </a:prstGeom>
          <a:noFill/>
          <a:ln/>
        </p:spPr>
        <p:txBody>
          <a:bodyPr wrap="square" lIns="0" tIns="0" rIns="0" bIns="0" rtlCol="0" anchor="ctr"/>
          <a:lstStyle/>
          <a:p>
            <a:pPr marL="0" indent="0" algn="ctr">
              <a:buNone/>
            </a:pPr>
            <a:r>
              <a:rPr lang="en-US" sz="900" b="1" dirty="0">
                <a:solidFill>
                  <a:srgbClr val="FFFFFF"/>
                </a:solidFill>
              </a:rPr>
              <a:t>MAINTAIN</a:t>
            </a:r>
            <a:endParaRPr lang="en-US" sz="900" dirty="0"/>
          </a:p>
        </p:txBody>
      </p:sp>
      <p:sp>
        <p:nvSpPr>
          <p:cNvPr id="13" name="Text 11"/>
          <p:cNvSpPr/>
          <p:nvPr/>
        </p:nvSpPr>
        <p:spPr>
          <a:xfrm>
            <a:off x="3127248" y="2148840"/>
            <a:ext cx="2523744" cy="685800"/>
          </a:xfrm>
          <a:prstGeom prst="rect">
            <a:avLst/>
          </a:prstGeom>
          <a:noFill/>
          <a:ln/>
        </p:spPr>
        <p:txBody>
          <a:bodyPr wrap="square" rtlCol="0" anchor="ctr"/>
          <a:lstStyle/>
          <a:p>
            <a:pPr marL="0" indent="0">
              <a:lnSpc>
                <a:spcPct val="130000"/>
              </a:lnSpc>
              <a:buNone/>
            </a:pPr>
            <a:r>
              <a:rPr lang="en-US" sz="950" dirty="0">
                <a:solidFill>
                  <a:srgbClr val="666688"/>
                </a:solidFill>
              </a:rPr>
              <a:t>High Sales / High Margin</a:t>
            </a:r>
            <a:endParaRPr lang="en-US" sz="950" dirty="0"/>
          </a:p>
          <a:p>
            <a:pPr marL="0" indent="0">
              <a:lnSpc>
                <a:spcPct val="130000"/>
              </a:lnSpc>
              <a:buNone/>
            </a:pPr>
            <a:r>
              <a:rPr lang="en-US" sz="950" dirty="0">
                <a:solidFill>
                  <a:srgbClr val="666688"/>
                </a:solidFill>
              </a:rPr>
              <a:t>Protect pricing, invest in growth</a:t>
            </a:r>
            <a:endParaRPr lang="en-US" sz="950" dirty="0"/>
          </a:p>
        </p:txBody>
      </p:sp>
      <p:sp>
        <p:nvSpPr>
          <p:cNvPr id="14" name="Shape 12"/>
          <p:cNvSpPr/>
          <p:nvPr/>
        </p:nvSpPr>
        <p:spPr>
          <a:xfrm>
            <a:off x="5943600" y="1325880"/>
            <a:ext cx="2743200" cy="1627632"/>
          </a:xfrm>
          <a:prstGeom prst="rect">
            <a:avLst/>
          </a:prstGeom>
          <a:solidFill>
            <a:srgbClr val="FFF3E0"/>
          </a:solidFill>
          <a:ln w="12700">
            <a:solidFill>
              <a:srgbClr val="E8963A"/>
            </a:solidFill>
            <a:prstDash val="solid"/>
          </a:ln>
          <a:effectLst>
            <a:outerShdw blurRad="101600" dist="38100" dir="8100000" algn="bl" rotWithShape="0">
              <a:srgbClr val="000000">
                <a:alpha val="12000"/>
              </a:srgbClr>
            </a:outerShdw>
          </a:effectLst>
        </p:spPr>
        <p:txBody>
          <a:bodyPr/>
          <a:lstStyle/>
          <a:p>
            <a:endParaRPr lang="en-IN" dirty="0"/>
          </a:p>
        </p:txBody>
      </p:sp>
      <p:sp>
        <p:nvSpPr>
          <p:cNvPr id="15" name="Text 13"/>
          <p:cNvSpPr/>
          <p:nvPr/>
        </p:nvSpPr>
        <p:spPr>
          <a:xfrm>
            <a:off x="6053328" y="1435608"/>
            <a:ext cx="2560320" cy="320040"/>
          </a:xfrm>
          <a:prstGeom prst="rect">
            <a:avLst/>
          </a:prstGeom>
          <a:noFill/>
          <a:ln/>
        </p:spPr>
        <p:txBody>
          <a:bodyPr wrap="square" rtlCol="0" anchor="ctr"/>
          <a:lstStyle/>
          <a:p>
            <a:pPr marL="0" indent="0">
              <a:buNone/>
            </a:pPr>
            <a:r>
              <a:rPr lang="en-US" sz="1300" b="1" dirty="0">
                <a:solidFill>
                  <a:srgbClr val="1A1A2E"/>
                </a:solidFill>
                <a:latin typeface="Georgia" pitchFamily="34" charset="0"/>
                <a:ea typeface="Georgia" pitchFamily="34" charset="-122"/>
                <a:cs typeface="Georgia" pitchFamily="34" charset="-120"/>
              </a:rPr>
              <a:t>⚠️ Cash Traps</a:t>
            </a:r>
            <a:endParaRPr lang="en-US" sz="1300" dirty="0"/>
          </a:p>
        </p:txBody>
      </p:sp>
      <p:sp>
        <p:nvSpPr>
          <p:cNvPr id="16" name="Shape 14"/>
          <p:cNvSpPr/>
          <p:nvPr/>
        </p:nvSpPr>
        <p:spPr>
          <a:xfrm>
            <a:off x="6053328" y="1801368"/>
            <a:ext cx="1280160" cy="256032"/>
          </a:xfrm>
          <a:prstGeom prst="roundRect">
            <a:avLst>
              <a:gd name="adj" fmla="val 17857"/>
            </a:avLst>
          </a:prstGeom>
          <a:solidFill>
            <a:srgbClr val="E8963A"/>
          </a:solidFill>
          <a:ln w="12700">
            <a:solidFill>
              <a:srgbClr val="E8963A"/>
            </a:solidFill>
            <a:prstDash val="solid"/>
          </a:ln>
        </p:spPr>
        <p:txBody>
          <a:bodyPr/>
          <a:lstStyle/>
          <a:p>
            <a:endParaRPr lang="en-IN" dirty="0"/>
          </a:p>
        </p:txBody>
      </p:sp>
      <p:sp>
        <p:nvSpPr>
          <p:cNvPr id="17" name="Text 15"/>
          <p:cNvSpPr/>
          <p:nvPr/>
        </p:nvSpPr>
        <p:spPr>
          <a:xfrm>
            <a:off x="6053328" y="1801368"/>
            <a:ext cx="1280160" cy="256032"/>
          </a:xfrm>
          <a:prstGeom prst="rect">
            <a:avLst/>
          </a:prstGeom>
          <a:noFill/>
          <a:ln/>
        </p:spPr>
        <p:txBody>
          <a:bodyPr wrap="square" lIns="0" tIns="0" rIns="0" bIns="0" rtlCol="0" anchor="ctr"/>
          <a:lstStyle/>
          <a:p>
            <a:pPr marL="0" indent="0" algn="ctr">
              <a:buNone/>
            </a:pPr>
            <a:r>
              <a:rPr lang="en-US" sz="900" b="1" dirty="0">
                <a:solidFill>
                  <a:srgbClr val="FFFFFF"/>
                </a:solidFill>
              </a:rPr>
              <a:t>REPRICE</a:t>
            </a:r>
            <a:endParaRPr lang="en-US" sz="900" dirty="0"/>
          </a:p>
        </p:txBody>
      </p:sp>
      <p:sp>
        <p:nvSpPr>
          <p:cNvPr id="18" name="Text 16"/>
          <p:cNvSpPr/>
          <p:nvPr/>
        </p:nvSpPr>
        <p:spPr>
          <a:xfrm>
            <a:off x="6053328" y="2148840"/>
            <a:ext cx="2523744" cy="685800"/>
          </a:xfrm>
          <a:prstGeom prst="rect">
            <a:avLst/>
          </a:prstGeom>
          <a:noFill/>
          <a:ln/>
        </p:spPr>
        <p:txBody>
          <a:bodyPr wrap="square" rtlCol="0" anchor="ctr"/>
          <a:lstStyle/>
          <a:p>
            <a:pPr marL="0" indent="0">
              <a:lnSpc>
                <a:spcPct val="130000"/>
              </a:lnSpc>
              <a:buNone/>
            </a:pPr>
            <a:r>
              <a:rPr lang="en-US" sz="950" dirty="0">
                <a:solidFill>
                  <a:srgbClr val="666688"/>
                </a:solidFill>
              </a:rPr>
              <a:t>High Sales / Low Margin</a:t>
            </a:r>
            <a:endParaRPr lang="en-US" sz="950" dirty="0"/>
          </a:p>
          <a:p>
            <a:pPr marL="0" indent="0">
              <a:lnSpc>
                <a:spcPct val="130000"/>
              </a:lnSpc>
              <a:buNone/>
            </a:pPr>
            <a:r>
              <a:rPr lang="en-US" sz="950" dirty="0">
                <a:solidFill>
                  <a:srgbClr val="666688"/>
                </a:solidFill>
              </a:rPr>
              <a:t>Urgent repricing or cost renegotiation needed</a:t>
            </a:r>
            <a:endParaRPr lang="en-US" sz="950" dirty="0"/>
          </a:p>
        </p:txBody>
      </p:sp>
      <p:sp>
        <p:nvSpPr>
          <p:cNvPr id="19" name="Shape 17"/>
          <p:cNvSpPr/>
          <p:nvPr/>
        </p:nvSpPr>
        <p:spPr>
          <a:xfrm>
            <a:off x="3017520" y="3017520"/>
            <a:ext cx="2743200" cy="1627632"/>
          </a:xfrm>
          <a:prstGeom prst="rect">
            <a:avLst/>
          </a:prstGeom>
          <a:solidFill>
            <a:srgbClr val="E8F4FC"/>
          </a:solidFill>
          <a:ln w="12700">
            <a:solidFill>
              <a:srgbClr val="028090"/>
            </a:solidFill>
            <a:prstDash val="solid"/>
          </a:ln>
          <a:effectLst>
            <a:outerShdw blurRad="101600" dist="38100" dir="8100000" algn="bl" rotWithShape="0">
              <a:srgbClr val="000000">
                <a:alpha val="12000"/>
              </a:srgbClr>
            </a:outerShdw>
          </a:effectLst>
        </p:spPr>
        <p:txBody>
          <a:bodyPr/>
          <a:lstStyle/>
          <a:p>
            <a:endParaRPr lang="en-IN" dirty="0"/>
          </a:p>
        </p:txBody>
      </p:sp>
      <p:sp>
        <p:nvSpPr>
          <p:cNvPr id="20" name="Text 18"/>
          <p:cNvSpPr/>
          <p:nvPr/>
        </p:nvSpPr>
        <p:spPr>
          <a:xfrm>
            <a:off x="3127248" y="3127248"/>
            <a:ext cx="2560320" cy="320040"/>
          </a:xfrm>
          <a:prstGeom prst="rect">
            <a:avLst/>
          </a:prstGeom>
          <a:noFill/>
          <a:ln/>
        </p:spPr>
        <p:txBody>
          <a:bodyPr wrap="square" rtlCol="0" anchor="ctr"/>
          <a:lstStyle/>
          <a:p>
            <a:pPr marL="0" indent="0">
              <a:buNone/>
            </a:pPr>
            <a:r>
              <a:rPr lang="en-US" sz="1300" b="1" dirty="0">
                <a:solidFill>
                  <a:srgbClr val="1A1A2E"/>
                </a:solidFill>
                <a:latin typeface="Georgia" pitchFamily="34" charset="0"/>
                <a:ea typeface="Georgia" pitchFamily="34" charset="-122"/>
                <a:cs typeface="Georgia" pitchFamily="34" charset="-120"/>
              </a:rPr>
              <a:t>📊 Hidden Gems</a:t>
            </a:r>
            <a:endParaRPr lang="en-US" sz="1300" dirty="0"/>
          </a:p>
        </p:txBody>
      </p:sp>
      <p:sp>
        <p:nvSpPr>
          <p:cNvPr id="21" name="Shape 19"/>
          <p:cNvSpPr/>
          <p:nvPr/>
        </p:nvSpPr>
        <p:spPr>
          <a:xfrm>
            <a:off x="3127248" y="3493008"/>
            <a:ext cx="1280160" cy="256032"/>
          </a:xfrm>
          <a:prstGeom prst="roundRect">
            <a:avLst>
              <a:gd name="adj" fmla="val 17857"/>
            </a:avLst>
          </a:prstGeom>
          <a:solidFill>
            <a:srgbClr val="028090"/>
          </a:solidFill>
          <a:ln w="12700">
            <a:solidFill>
              <a:srgbClr val="028090"/>
            </a:solidFill>
            <a:prstDash val="solid"/>
          </a:ln>
        </p:spPr>
        <p:txBody>
          <a:bodyPr/>
          <a:lstStyle/>
          <a:p>
            <a:endParaRPr lang="en-IN" dirty="0"/>
          </a:p>
        </p:txBody>
      </p:sp>
      <p:sp>
        <p:nvSpPr>
          <p:cNvPr id="22" name="Text 20"/>
          <p:cNvSpPr/>
          <p:nvPr/>
        </p:nvSpPr>
        <p:spPr>
          <a:xfrm>
            <a:off x="3127248" y="3493008"/>
            <a:ext cx="1280160" cy="256032"/>
          </a:xfrm>
          <a:prstGeom prst="rect">
            <a:avLst/>
          </a:prstGeom>
          <a:noFill/>
          <a:ln/>
        </p:spPr>
        <p:txBody>
          <a:bodyPr wrap="square" lIns="0" tIns="0" rIns="0" bIns="0" rtlCol="0" anchor="ctr"/>
          <a:lstStyle/>
          <a:p>
            <a:pPr marL="0" indent="0" algn="ctr">
              <a:buNone/>
            </a:pPr>
            <a:r>
              <a:rPr lang="en-US" sz="900" b="1" dirty="0">
                <a:solidFill>
                  <a:srgbClr val="FFFFFF"/>
                </a:solidFill>
              </a:rPr>
              <a:t>PROMOTE</a:t>
            </a:r>
            <a:endParaRPr lang="en-US" sz="900" dirty="0"/>
          </a:p>
        </p:txBody>
      </p:sp>
      <p:sp>
        <p:nvSpPr>
          <p:cNvPr id="23" name="Text 21"/>
          <p:cNvSpPr/>
          <p:nvPr/>
        </p:nvSpPr>
        <p:spPr>
          <a:xfrm>
            <a:off x="3127248" y="3840480"/>
            <a:ext cx="2523744" cy="685800"/>
          </a:xfrm>
          <a:prstGeom prst="rect">
            <a:avLst/>
          </a:prstGeom>
          <a:noFill/>
          <a:ln/>
        </p:spPr>
        <p:txBody>
          <a:bodyPr wrap="square" rtlCol="0" anchor="ctr"/>
          <a:lstStyle/>
          <a:p>
            <a:pPr marL="0" indent="0">
              <a:lnSpc>
                <a:spcPct val="130000"/>
              </a:lnSpc>
              <a:buNone/>
            </a:pPr>
            <a:r>
              <a:rPr lang="en-US" sz="950" dirty="0">
                <a:solidFill>
                  <a:srgbClr val="666688"/>
                </a:solidFill>
              </a:rPr>
              <a:t>Low Sales / High Margin</a:t>
            </a:r>
            <a:endParaRPr lang="en-US" sz="950" dirty="0"/>
          </a:p>
          <a:p>
            <a:pPr marL="0" indent="0">
              <a:lnSpc>
                <a:spcPct val="130000"/>
              </a:lnSpc>
              <a:buNone/>
            </a:pPr>
            <a:r>
              <a:rPr lang="en-US" sz="950" dirty="0">
                <a:solidFill>
                  <a:srgbClr val="666688"/>
                </a:solidFill>
              </a:rPr>
              <a:t>Build visibility and demand — margin is solid</a:t>
            </a:r>
            <a:endParaRPr lang="en-US" sz="950" dirty="0"/>
          </a:p>
        </p:txBody>
      </p:sp>
      <p:sp>
        <p:nvSpPr>
          <p:cNvPr id="24" name="Shape 22"/>
          <p:cNvSpPr/>
          <p:nvPr/>
        </p:nvSpPr>
        <p:spPr>
          <a:xfrm>
            <a:off x="5943600" y="3017520"/>
            <a:ext cx="2743200" cy="1627632"/>
          </a:xfrm>
          <a:prstGeom prst="rect">
            <a:avLst/>
          </a:prstGeom>
          <a:solidFill>
            <a:srgbClr val="FDEDEC"/>
          </a:solidFill>
          <a:ln w="12700">
            <a:solidFill>
              <a:srgbClr val="C0392B"/>
            </a:solidFill>
            <a:prstDash val="solid"/>
          </a:ln>
          <a:effectLst>
            <a:outerShdw blurRad="101600" dist="38100" dir="8100000" algn="bl" rotWithShape="0">
              <a:srgbClr val="000000">
                <a:alpha val="12000"/>
              </a:srgbClr>
            </a:outerShdw>
          </a:effectLst>
        </p:spPr>
        <p:txBody>
          <a:bodyPr/>
          <a:lstStyle/>
          <a:p>
            <a:endParaRPr lang="en-IN" dirty="0"/>
          </a:p>
        </p:txBody>
      </p:sp>
      <p:sp>
        <p:nvSpPr>
          <p:cNvPr id="25" name="Text 23"/>
          <p:cNvSpPr/>
          <p:nvPr/>
        </p:nvSpPr>
        <p:spPr>
          <a:xfrm>
            <a:off x="6053328" y="3127248"/>
            <a:ext cx="2560320" cy="320040"/>
          </a:xfrm>
          <a:prstGeom prst="rect">
            <a:avLst/>
          </a:prstGeom>
          <a:noFill/>
          <a:ln/>
        </p:spPr>
        <p:txBody>
          <a:bodyPr wrap="square" rtlCol="0" anchor="ctr"/>
          <a:lstStyle/>
          <a:p>
            <a:pPr marL="0" indent="0">
              <a:buNone/>
            </a:pPr>
            <a:r>
              <a:rPr lang="en-US" sz="1300" b="1" dirty="0">
                <a:solidFill>
                  <a:srgbClr val="1A1A2E"/>
                </a:solidFill>
                <a:latin typeface="Georgia" pitchFamily="34" charset="0"/>
                <a:ea typeface="Georgia" pitchFamily="34" charset="-122"/>
                <a:cs typeface="Georgia" pitchFamily="34" charset="-120"/>
              </a:rPr>
              <a:t>🔻 Drag Products</a:t>
            </a:r>
            <a:endParaRPr lang="en-US" sz="1300" dirty="0"/>
          </a:p>
        </p:txBody>
      </p:sp>
      <p:sp>
        <p:nvSpPr>
          <p:cNvPr id="26" name="Shape 24"/>
          <p:cNvSpPr/>
          <p:nvPr/>
        </p:nvSpPr>
        <p:spPr>
          <a:xfrm>
            <a:off x="6053328" y="3493008"/>
            <a:ext cx="1280160" cy="256032"/>
          </a:xfrm>
          <a:prstGeom prst="roundRect">
            <a:avLst>
              <a:gd name="adj" fmla="val 17857"/>
            </a:avLst>
          </a:prstGeom>
          <a:solidFill>
            <a:srgbClr val="C0392B"/>
          </a:solidFill>
          <a:ln w="12700">
            <a:solidFill>
              <a:srgbClr val="C0392B"/>
            </a:solidFill>
            <a:prstDash val="solid"/>
          </a:ln>
        </p:spPr>
        <p:txBody>
          <a:bodyPr/>
          <a:lstStyle/>
          <a:p>
            <a:endParaRPr lang="en-IN" dirty="0"/>
          </a:p>
        </p:txBody>
      </p:sp>
      <p:sp>
        <p:nvSpPr>
          <p:cNvPr id="27" name="Text 25"/>
          <p:cNvSpPr/>
          <p:nvPr/>
        </p:nvSpPr>
        <p:spPr>
          <a:xfrm>
            <a:off x="6053328" y="3493008"/>
            <a:ext cx="1280160" cy="256032"/>
          </a:xfrm>
          <a:prstGeom prst="rect">
            <a:avLst/>
          </a:prstGeom>
          <a:noFill/>
          <a:ln/>
        </p:spPr>
        <p:txBody>
          <a:bodyPr wrap="square" lIns="0" tIns="0" rIns="0" bIns="0" rtlCol="0" anchor="ctr"/>
          <a:lstStyle/>
          <a:p>
            <a:pPr marL="0" indent="0" algn="ctr">
              <a:buNone/>
            </a:pPr>
            <a:r>
              <a:rPr lang="en-US" sz="900" b="1" dirty="0">
                <a:solidFill>
                  <a:srgbClr val="FFFFFF"/>
                </a:solidFill>
              </a:rPr>
              <a:t>DISCONTINUE</a:t>
            </a:r>
            <a:endParaRPr lang="en-US" sz="900" dirty="0"/>
          </a:p>
        </p:txBody>
      </p:sp>
      <p:sp>
        <p:nvSpPr>
          <p:cNvPr id="28" name="Text 26"/>
          <p:cNvSpPr/>
          <p:nvPr/>
        </p:nvSpPr>
        <p:spPr>
          <a:xfrm>
            <a:off x="6053328" y="3840480"/>
            <a:ext cx="2523744" cy="685800"/>
          </a:xfrm>
          <a:prstGeom prst="rect">
            <a:avLst/>
          </a:prstGeom>
          <a:noFill/>
          <a:ln/>
        </p:spPr>
        <p:txBody>
          <a:bodyPr wrap="square" rtlCol="0" anchor="ctr"/>
          <a:lstStyle/>
          <a:p>
            <a:pPr marL="0" indent="0">
              <a:lnSpc>
                <a:spcPct val="130000"/>
              </a:lnSpc>
              <a:buNone/>
            </a:pPr>
            <a:r>
              <a:rPr lang="en-US" sz="950" dirty="0">
                <a:solidFill>
                  <a:srgbClr val="666688"/>
                </a:solidFill>
              </a:rPr>
              <a:t>Low Sales / Low Margin</a:t>
            </a:r>
            <a:endParaRPr lang="en-US" sz="950" dirty="0"/>
          </a:p>
          <a:p>
            <a:pPr marL="0" indent="0">
              <a:lnSpc>
                <a:spcPct val="130000"/>
              </a:lnSpc>
              <a:buNone/>
            </a:pPr>
            <a:r>
              <a:rPr lang="en-US" sz="950" dirty="0">
                <a:solidFill>
                  <a:srgbClr val="666688"/>
                </a:solidFill>
              </a:rPr>
              <a:t>Review for elimination from portfolio</a:t>
            </a:r>
            <a:endParaRPr lang="en-US" sz="950" dirty="0"/>
          </a:p>
        </p:txBody>
      </p:sp>
      <p:sp>
        <p:nvSpPr>
          <p:cNvPr id="29" name="Text 27"/>
          <p:cNvSpPr/>
          <p:nvPr/>
        </p:nvSpPr>
        <p:spPr>
          <a:xfrm>
            <a:off x="8046720" y="4800600"/>
            <a:ext cx="914400" cy="228600"/>
          </a:xfrm>
          <a:prstGeom prst="rect">
            <a:avLst/>
          </a:prstGeom>
          <a:noFill/>
          <a:ln/>
        </p:spPr>
        <p:txBody>
          <a:bodyPr wrap="square" rtlCol="0" anchor="ctr"/>
          <a:lstStyle/>
          <a:p>
            <a:pPr marL="0" indent="0" algn="r">
              <a:buNone/>
            </a:pPr>
            <a:r>
              <a:rPr lang="en-US" sz="800" dirty="0">
                <a:solidFill>
                  <a:srgbClr val="999999"/>
                </a:solidFill>
              </a:rPr>
              <a:t>11 / 12</a:t>
            </a:r>
            <a:endParaRPr lang="en-US" sz="800" dirty="0"/>
          </a:p>
        </p:txBody>
      </p:sp>
      <p:sp>
        <p:nvSpPr>
          <p:cNvPr id="30" name="Text 28"/>
          <p:cNvSpPr/>
          <p:nvPr/>
        </p:nvSpPr>
        <p:spPr>
          <a:xfrm>
            <a:off x="457200" y="4800600"/>
            <a:ext cx="5486400" cy="228600"/>
          </a:xfrm>
          <a:prstGeom prst="rect">
            <a:avLst/>
          </a:prstGeom>
          <a:noFill/>
          <a:ln/>
        </p:spPr>
        <p:txBody>
          <a:bodyPr wrap="square" rtlCol="0" anchor="ctr"/>
          <a:lstStyle/>
          <a:p>
            <a:pPr marL="0" indent="0" algn="l">
              <a:buNone/>
            </a:pPr>
            <a:r>
              <a:rPr lang="en-US" sz="800" dirty="0">
                <a:solidFill>
                  <a:srgbClr val="999999"/>
                </a:solidFill>
              </a:rPr>
              <a:t>Nassau Candy Distributor · Profitability Analysis</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9144000" cy="1508760"/>
          </a:xfrm>
          <a:prstGeom prst="rect">
            <a:avLst/>
          </a:prstGeom>
          <a:solidFill>
            <a:srgbClr val="12122A"/>
          </a:solidFill>
          <a:ln w="12700">
            <a:solidFill>
              <a:srgbClr val="12122A"/>
            </a:solidFill>
            <a:prstDash val="solid"/>
          </a:ln>
        </p:spPr>
        <p:txBody>
          <a:bodyPr/>
          <a:lstStyle/>
          <a:p>
            <a:endParaRPr lang="en-IN" dirty="0"/>
          </a:p>
        </p:txBody>
      </p:sp>
      <p:sp>
        <p:nvSpPr>
          <p:cNvPr id="3" name="Shape 1"/>
          <p:cNvSpPr/>
          <p:nvPr/>
        </p:nvSpPr>
        <p:spPr>
          <a:xfrm>
            <a:off x="0" y="1481328"/>
            <a:ext cx="9144000" cy="54864"/>
          </a:xfrm>
          <a:prstGeom prst="rect">
            <a:avLst/>
          </a:prstGeom>
          <a:solidFill>
            <a:srgbClr val="6C63FF"/>
          </a:solidFill>
          <a:ln w="12700">
            <a:solidFill>
              <a:srgbClr val="6C63FF"/>
            </a:solidFill>
            <a:prstDash val="solid"/>
          </a:ln>
        </p:spPr>
        <p:txBody>
          <a:bodyPr/>
          <a:lstStyle/>
          <a:p>
            <a:endParaRPr lang="en-IN" dirty="0"/>
          </a:p>
        </p:txBody>
      </p:sp>
      <p:sp>
        <p:nvSpPr>
          <p:cNvPr id="4" name="Text 2"/>
          <p:cNvSpPr/>
          <p:nvPr/>
        </p:nvSpPr>
        <p:spPr>
          <a:xfrm>
            <a:off x="457200" y="201168"/>
            <a:ext cx="8229600" cy="594360"/>
          </a:xfrm>
          <a:prstGeom prst="rect">
            <a:avLst/>
          </a:prstGeom>
          <a:noFill/>
          <a:ln/>
        </p:spPr>
        <p:txBody>
          <a:bodyPr wrap="square" rtlCol="0" anchor="ctr"/>
          <a:lstStyle/>
          <a:p>
            <a:pPr marL="0" indent="0">
              <a:buNone/>
            </a:pPr>
            <a:r>
              <a:rPr lang="en-US" sz="3800" b="1" dirty="0">
                <a:solidFill>
                  <a:srgbClr val="FFFFFF"/>
                </a:solidFill>
                <a:latin typeface="Georgia" pitchFamily="34" charset="0"/>
                <a:ea typeface="Georgia" pitchFamily="34" charset="-122"/>
                <a:cs typeface="Georgia" pitchFamily="34" charset="-120"/>
              </a:rPr>
              <a:t>Conclusion</a:t>
            </a:r>
            <a:endParaRPr lang="en-US" sz="3800" dirty="0"/>
          </a:p>
        </p:txBody>
      </p:sp>
      <p:sp>
        <p:nvSpPr>
          <p:cNvPr id="5" name="Text 3"/>
          <p:cNvSpPr/>
          <p:nvPr/>
        </p:nvSpPr>
        <p:spPr>
          <a:xfrm>
            <a:off x="457200" y="804672"/>
            <a:ext cx="8229600" cy="292608"/>
          </a:xfrm>
          <a:prstGeom prst="rect">
            <a:avLst/>
          </a:prstGeom>
          <a:noFill/>
          <a:ln/>
        </p:spPr>
        <p:txBody>
          <a:bodyPr wrap="square" rtlCol="0" anchor="ctr"/>
          <a:lstStyle/>
          <a:p>
            <a:pPr marL="0" indent="0">
              <a:buNone/>
            </a:pPr>
            <a:r>
              <a:rPr lang="en-US" sz="1400" i="1" dirty="0">
                <a:solidFill>
                  <a:srgbClr val="8888BB"/>
                </a:solidFill>
              </a:rPr>
              <a:t>From data to decision — building a profit-first product strategy</a:t>
            </a:r>
            <a:endParaRPr lang="en-US" sz="1400" dirty="0"/>
          </a:p>
        </p:txBody>
      </p:sp>
      <p:sp>
        <p:nvSpPr>
          <p:cNvPr id="6" name="Shape 4"/>
          <p:cNvSpPr/>
          <p:nvPr/>
        </p:nvSpPr>
        <p:spPr>
          <a:xfrm>
            <a:off x="320040" y="1664208"/>
            <a:ext cx="4114800" cy="1444752"/>
          </a:xfrm>
          <a:prstGeom prst="rect">
            <a:avLst/>
          </a:prstGeom>
          <a:solidFill>
            <a:srgbClr val="12122A"/>
          </a:solidFill>
          <a:ln w="12700">
            <a:solidFill>
              <a:srgbClr val="2D2D60"/>
            </a:solidFill>
            <a:prstDash val="solid"/>
          </a:ln>
          <a:effectLst>
            <a:outerShdw blurRad="101600" dist="38100" dir="8100000" algn="bl" rotWithShape="0">
              <a:srgbClr val="000000">
                <a:alpha val="12000"/>
              </a:srgbClr>
            </a:outerShdw>
          </a:effectLst>
        </p:spPr>
        <p:txBody>
          <a:bodyPr/>
          <a:lstStyle/>
          <a:p>
            <a:endParaRPr lang="en-IN" dirty="0"/>
          </a:p>
        </p:txBody>
      </p:sp>
      <p:sp>
        <p:nvSpPr>
          <p:cNvPr id="7" name="Shape 5"/>
          <p:cNvSpPr/>
          <p:nvPr/>
        </p:nvSpPr>
        <p:spPr>
          <a:xfrm>
            <a:off x="320040" y="1664208"/>
            <a:ext cx="54864" cy="1444752"/>
          </a:xfrm>
          <a:prstGeom prst="rect">
            <a:avLst/>
          </a:prstGeom>
          <a:solidFill>
            <a:srgbClr val="1FA66A"/>
          </a:solidFill>
          <a:ln w="12700">
            <a:solidFill>
              <a:srgbClr val="1FA66A"/>
            </a:solidFill>
            <a:prstDash val="solid"/>
          </a:ln>
        </p:spPr>
        <p:txBody>
          <a:bodyPr/>
          <a:lstStyle/>
          <a:p>
            <a:endParaRPr lang="en-IN" dirty="0"/>
          </a:p>
        </p:txBody>
      </p:sp>
      <p:sp>
        <p:nvSpPr>
          <p:cNvPr id="8" name="Text 6"/>
          <p:cNvSpPr/>
          <p:nvPr/>
        </p:nvSpPr>
        <p:spPr>
          <a:xfrm>
            <a:off x="466344" y="1773936"/>
            <a:ext cx="3840480" cy="320040"/>
          </a:xfrm>
          <a:prstGeom prst="rect">
            <a:avLst/>
          </a:prstGeom>
          <a:noFill/>
          <a:ln/>
        </p:spPr>
        <p:txBody>
          <a:bodyPr wrap="square" rtlCol="0" anchor="ctr"/>
          <a:lstStyle/>
          <a:p>
            <a:pPr marL="0" indent="0">
              <a:buNone/>
            </a:pPr>
            <a:r>
              <a:rPr lang="en-US" sz="1300" b="1" dirty="0">
                <a:solidFill>
                  <a:srgbClr val="1FA66A"/>
                </a:solidFill>
                <a:latin typeface="Georgia" pitchFamily="34" charset="0"/>
                <a:ea typeface="Georgia" pitchFamily="34" charset="-122"/>
                <a:cs typeface="Georgia" pitchFamily="34" charset="-120"/>
              </a:rPr>
              <a:t>✅  Visibility Achieved</a:t>
            </a:r>
            <a:endParaRPr lang="en-US" sz="1300" dirty="0"/>
          </a:p>
        </p:txBody>
      </p:sp>
      <p:sp>
        <p:nvSpPr>
          <p:cNvPr id="9" name="Text 7"/>
          <p:cNvSpPr/>
          <p:nvPr/>
        </p:nvSpPr>
        <p:spPr>
          <a:xfrm>
            <a:off x="466344" y="2157984"/>
            <a:ext cx="3858768" cy="868680"/>
          </a:xfrm>
          <a:prstGeom prst="rect">
            <a:avLst/>
          </a:prstGeom>
          <a:noFill/>
          <a:ln/>
        </p:spPr>
        <p:txBody>
          <a:bodyPr wrap="square" rtlCol="0" anchor="ctr"/>
          <a:lstStyle/>
          <a:p>
            <a:pPr marL="0" indent="0">
              <a:lnSpc>
                <a:spcPct val="135000"/>
              </a:lnSpc>
              <a:buNone/>
            </a:pPr>
            <a:r>
              <a:rPr lang="en-US" sz="950" dirty="0">
                <a:solidFill>
                  <a:srgbClr val="9999CC"/>
                </a:solidFill>
              </a:rPr>
              <a:t>The dashboard provides real-time, filter-driven visibility into product and division profitability — replacing intuition-based decisions with evidence.</a:t>
            </a:r>
            <a:endParaRPr lang="en-US" sz="950" dirty="0"/>
          </a:p>
        </p:txBody>
      </p:sp>
      <p:sp>
        <p:nvSpPr>
          <p:cNvPr id="10" name="Shape 8"/>
          <p:cNvSpPr/>
          <p:nvPr/>
        </p:nvSpPr>
        <p:spPr>
          <a:xfrm>
            <a:off x="4690872" y="1664208"/>
            <a:ext cx="4114800" cy="1444752"/>
          </a:xfrm>
          <a:prstGeom prst="rect">
            <a:avLst/>
          </a:prstGeom>
          <a:solidFill>
            <a:srgbClr val="12122A"/>
          </a:solidFill>
          <a:ln w="12700">
            <a:solidFill>
              <a:srgbClr val="2D2D60"/>
            </a:solidFill>
            <a:prstDash val="solid"/>
          </a:ln>
          <a:effectLst>
            <a:outerShdw blurRad="101600" dist="38100" dir="8100000" algn="bl" rotWithShape="0">
              <a:srgbClr val="000000">
                <a:alpha val="12000"/>
              </a:srgbClr>
            </a:outerShdw>
          </a:effectLst>
        </p:spPr>
        <p:txBody>
          <a:bodyPr/>
          <a:lstStyle/>
          <a:p>
            <a:endParaRPr lang="en-IN" dirty="0"/>
          </a:p>
        </p:txBody>
      </p:sp>
      <p:sp>
        <p:nvSpPr>
          <p:cNvPr id="11" name="Shape 9"/>
          <p:cNvSpPr/>
          <p:nvPr/>
        </p:nvSpPr>
        <p:spPr>
          <a:xfrm>
            <a:off x="4690872" y="1664208"/>
            <a:ext cx="54864" cy="1444752"/>
          </a:xfrm>
          <a:prstGeom prst="rect">
            <a:avLst/>
          </a:prstGeom>
          <a:solidFill>
            <a:srgbClr val="6C63FF"/>
          </a:solidFill>
          <a:ln w="12700">
            <a:solidFill>
              <a:srgbClr val="6C63FF"/>
            </a:solidFill>
            <a:prstDash val="solid"/>
          </a:ln>
        </p:spPr>
        <p:txBody>
          <a:bodyPr/>
          <a:lstStyle/>
          <a:p>
            <a:endParaRPr lang="en-IN" dirty="0"/>
          </a:p>
        </p:txBody>
      </p:sp>
      <p:sp>
        <p:nvSpPr>
          <p:cNvPr id="12" name="Text 10"/>
          <p:cNvSpPr/>
          <p:nvPr/>
        </p:nvSpPr>
        <p:spPr>
          <a:xfrm>
            <a:off x="4837176" y="1773936"/>
            <a:ext cx="3840480" cy="320040"/>
          </a:xfrm>
          <a:prstGeom prst="rect">
            <a:avLst/>
          </a:prstGeom>
          <a:noFill/>
          <a:ln/>
        </p:spPr>
        <p:txBody>
          <a:bodyPr wrap="square" rtlCol="0" anchor="ctr"/>
          <a:lstStyle/>
          <a:p>
            <a:pPr marL="0" indent="0">
              <a:buNone/>
            </a:pPr>
            <a:r>
              <a:rPr lang="en-US" sz="1300" b="1" dirty="0">
                <a:solidFill>
                  <a:srgbClr val="6C63FF"/>
                </a:solidFill>
                <a:latin typeface="Georgia" pitchFamily="34" charset="0"/>
                <a:ea typeface="Georgia" pitchFamily="34" charset="-122"/>
                <a:cs typeface="Georgia" pitchFamily="34" charset="-120"/>
              </a:rPr>
              <a:t>📋  Actionable Flags</a:t>
            </a:r>
            <a:endParaRPr lang="en-US" sz="1300" dirty="0"/>
          </a:p>
        </p:txBody>
      </p:sp>
      <p:sp>
        <p:nvSpPr>
          <p:cNvPr id="13" name="Text 11"/>
          <p:cNvSpPr/>
          <p:nvPr/>
        </p:nvSpPr>
        <p:spPr>
          <a:xfrm>
            <a:off x="4837176" y="2157984"/>
            <a:ext cx="3858768" cy="868680"/>
          </a:xfrm>
          <a:prstGeom prst="rect">
            <a:avLst/>
          </a:prstGeom>
          <a:noFill/>
          <a:ln/>
        </p:spPr>
        <p:txBody>
          <a:bodyPr wrap="square" rtlCol="0" anchor="ctr"/>
          <a:lstStyle/>
          <a:p>
            <a:pPr marL="0" indent="0">
              <a:lnSpc>
                <a:spcPct val="135000"/>
              </a:lnSpc>
              <a:buNone/>
            </a:pPr>
            <a:r>
              <a:rPr lang="en-US" sz="950" dirty="0">
                <a:solidFill>
                  <a:srgbClr val="9999CC"/>
                </a:solidFill>
              </a:rPr>
              <a:t>Every product carries a recommended action (Maintain / Promote / Reprice / Discontinue) derived from both sales volume and gross margin thresholds.</a:t>
            </a:r>
            <a:endParaRPr lang="en-US" sz="950" dirty="0"/>
          </a:p>
        </p:txBody>
      </p:sp>
      <p:sp>
        <p:nvSpPr>
          <p:cNvPr id="14" name="Shape 12"/>
          <p:cNvSpPr/>
          <p:nvPr/>
        </p:nvSpPr>
        <p:spPr>
          <a:xfrm>
            <a:off x="320040" y="3264408"/>
            <a:ext cx="4114800" cy="1444752"/>
          </a:xfrm>
          <a:prstGeom prst="rect">
            <a:avLst/>
          </a:prstGeom>
          <a:solidFill>
            <a:srgbClr val="12122A"/>
          </a:solidFill>
          <a:ln w="12700">
            <a:solidFill>
              <a:srgbClr val="2D2D60"/>
            </a:solidFill>
            <a:prstDash val="solid"/>
          </a:ln>
          <a:effectLst>
            <a:outerShdw blurRad="101600" dist="38100" dir="8100000" algn="bl" rotWithShape="0">
              <a:srgbClr val="000000">
                <a:alpha val="12000"/>
              </a:srgbClr>
            </a:outerShdw>
          </a:effectLst>
        </p:spPr>
        <p:txBody>
          <a:bodyPr/>
          <a:lstStyle/>
          <a:p>
            <a:endParaRPr lang="en-IN" dirty="0"/>
          </a:p>
        </p:txBody>
      </p:sp>
      <p:sp>
        <p:nvSpPr>
          <p:cNvPr id="15" name="Shape 13"/>
          <p:cNvSpPr/>
          <p:nvPr/>
        </p:nvSpPr>
        <p:spPr>
          <a:xfrm>
            <a:off x="320040" y="3264408"/>
            <a:ext cx="54864" cy="1444752"/>
          </a:xfrm>
          <a:prstGeom prst="rect">
            <a:avLst/>
          </a:prstGeom>
          <a:solidFill>
            <a:srgbClr val="E8963A"/>
          </a:solidFill>
          <a:ln w="12700">
            <a:solidFill>
              <a:srgbClr val="E8963A"/>
            </a:solidFill>
            <a:prstDash val="solid"/>
          </a:ln>
        </p:spPr>
        <p:txBody>
          <a:bodyPr/>
          <a:lstStyle/>
          <a:p>
            <a:endParaRPr lang="en-IN" dirty="0"/>
          </a:p>
        </p:txBody>
      </p:sp>
      <p:sp>
        <p:nvSpPr>
          <p:cNvPr id="16" name="Text 14"/>
          <p:cNvSpPr/>
          <p:nvPr/>
        </p:nvSpPr>
        <p:spPr>
          <a:xfrm>
            <a:off x="466344" y="3374136"/>
            <a:ext cx="3840480" cy="320040"/>
          </a:xfrm>
          <a:prstGeom prst="rect">
            <a:avLst/>
          </a:prstGeom>
          <a:noFill/>
          <a:ln/>
        </p:spPr>
        <p:txBody>
          <a:bodyPr wrap="square" rtlCol="0" anchor="ctr"/>
          <a:lstStyle/>
          <a:p>
            <a:pPr marL="0" indent="0">
              <a:buNone/>
            </a:pPr>
            <a:r>
              <a:rPr lang="en-US" sz="1300" b="1" dirty="0">
                <a:solidFill>
                  <a:srgbClr val="E8963A"/>
                </a:solidFill>
                <a:latin typeface="Georgia" pitchFamily="34" charset="0"/>
                <a:ea typeface="Georgia" pitchFamily="34" charset="-122"/>
                <a:cs typeface="Georgia" pitchFamily="34" charset="-120"/>
              </a:rPr>
              <a:t>⚡  Immediate Priorities</a:t>
            </a:r>
            <a:endParaRPr lang="en-US" sz="1300" dirty="0"/>
          </a:p>
        </p:txBody>
      </p:sp>
      <p:sp>
        <p:nvSpPr>
          <p:cNvPr id="17" name="Text 15"/>
          <p:cNvSpPr/>
          <p:nvPr/>
        </p:nvSpPr>
        <p:spPr>
          <a:xfrm>
            <a:off x="466344" y="3758184"/>
            <a:ext cx="3858768" cy="868680"/>
          </a:xfrm>
          <a:prstGeom prst="rect">
            <a:avLst/>
          </a:prstGeom>
          <a:noFill/>
          <a:ln/>
        </p:spPr>
        <p:txBody>
          <a:bodyPr wrap="square" rtlCol="0" anchor="ctr"/>
          <a:lstStyle/>
          <a:p>
            <a:pPr marL="0" indent="0">
              <a:lnSpc>
                <a:spcPct val="135000"/>
              </a:lnSpc>
              <a:buNone/>
            </a:pPr>
            <a:r>
              <a:rPr lang="en-US" sz="950" dirty="0">
                <a:solidFill>
                  <a:srgbClr val="9999CC"/>
                </a:solidFill>
              </a:rPr>
              <a:t>Products with cost ratios &gt;80% and below-threshold margins need urgent cost renegotiation. The diagnostics module identifies these automatically.</a:t>
            </a:r>
            <a:endParaRPr lang="en-US" sz="950" dirty="0"/>
          </a:p>
        </p:txBody>
      </p:sp>
      <p:sp>
        <p:nvSpPr>
          <p:cNvPr id="18" name="Shape 16"/>
          <p:cNvSpPr/>
          <p:nvPr/>
        </p:nvSpPr>
        <p:spPr>
          <a:xfrm>
            <a:off x="4690872" y="3264408"/>
            <a:ext cx="4114800" cy="1444752"/>
          </a:xfrm>
          <a:prstGeom prst="rect">
            <a:avLst/>
          </a:prstGeom>
          <a:solidFill>
            <a:srgbClr val="12122A"/>
          </a:solidFill>
          <a:ln w="12700">
            <a:solidFill>
              <a:srgbClr val="2D2D60"/>
            </a:solidFill>
            <a:prstDash val="solid"/>
          </a:ln>
          <a:effectLst>
            <a:outerShdw blurRad="101600" dist="38100" dir="8100000" algn="bl" rotWithShape="0">
              <a:srgbClr val="000000">
                <a:alpha val="12000"/>
              </a:srgbClr>
            </a:outerShdw>
          </a:effectLst>
        </p:spPr>
        <p:txBody>
          <a:bodyPr/>
          <a:lstStyle/>
          <a:p>
            <a:endParaRPr lang="en-IN" dirty="0"/>
          </a:p>
        </p:txBody>
      </p:sp>
      <p:sp>
        <p:nvSpPr>
          <p:cNvPr id="19" name="Shape 17"/>
          <p:cNvSpPr/>
          <p:nvPr/>
        </p:nvSpPr>
        <p:spPr>
          <a:xfrm>
            <a:off x="4690872" y="3264408"/>
            <a:ext cx="54864" cy="1444752"/>
          </a:xfrm>
          <a:prstGeom prst="rect">
            <a:avLst/>
          </a:prstGeom>
          <a:solidFill>
            <a:srgbClr val="028090"/>
          </a:solidFill>
          <a:ln w="12700">
            <a:solidFill>
              <a:srgbClr val="028090"/>
            </a:solidFill>
            <a:prstDash val="solid"/>
          </a:ln>
        </p:spPr>
        <p:txBody>
          <a:bodyPr/>
          <a:lstStyle/>
          <a:p>
            <a:endParaRPr lang="en-IN" dirty="0"/>
          </a:p>
        </p:txBody>
      </p:sp>
      <p:sp>
        <p:nvSpPr>
          <p:cNvPr id="20" name="Text 18"/>
          <p:cNvSpPr/>
          <p:nvPr/>
        </p:nvSpPr>
        <p:spPr>
          <a:xfrm>
            <a:off x="4837176" y="3374136"/>
            <a:ext cx="3840480" cy="320040"/>
          </a:xfrm>
          <a:prstGeom prst="rect">
            <a:avLst/>
          </a:prstGeom>
          <a:noFill/>
          <a:ln/>
        </p:spPr>
        <p:txBody>
          <a:bodyPr wrap="square" rtlCol="0" anchor="ctr"/>
          <a:lstStyle/>
          <a:p>
            <a:pPr marL="0" indent="0">
              <a:buNone/>
            </a:pPr>
            <a:r>
              <a:rPr lang="en-US" sz="1300" b="1" dirty="0">
                <a:solidFill>
                  <a:srgbClr val="028090"/>
                </a:solidFill>
                <a:latin typeface="Georgia" pitchFamily="34" charset="0"/>
                <a:ea typeface="Georgia" pitchFamily="34" charset="-122"/>
                <a:cs typeface="Georgia" pitchFamily="34" charset="-120"/>
              </a:rPr>
              <a:t>🚀  Strategic Path Forward</a:t>
            </a:r>
            <a:endParaRPr lang="en-US" sz="1300" dirty="0"/>
          </a:p>
        </p:txBody>
      </p:sp>
      <p:sp>
        <p:nvSpPr>
          <p:cNvPr id="21" name="Text 19"/>
          <p:cNvSpPr/>
          <p:nvPr/>
        </p:nvSpPr>
        <p:spPr>
          <a:xfrm>
            <a:off x="4837176" y="3758184"/>
            <a:ext cx="3858768" cy="868680"/>
          </a:xfrm>
          <a:prstGeom prst="rect">
            <a:avLst/>
          </a:prstGeom>
          <a:noFill/>
          <a:ln/>
        </p:spPr>
        <p:txBody>
          <a:bodyPr wrap="square" rtlCol="0" anchor="ctr"/>
          <a:lstStyle/>
          <a:p>
            <a:pPr marL="0" indent="0">
              <a:lnSpc>
                <a:spcPct val="135000"/>
              </a:lnSpc>
              <a:buNone/>
            </a:pPr>
            <a:r>
              <a:rPr lang="en-US" sz="950" dirty="0">
                <a:solidFill>
                  <a:srgbClr val="9999CC"/>
                </a:solidFill>
              </a:rPr>
              <a:t>Focus portfolio investment on Star products, promote Hidden Gems, reprice Cash Traps, and initiate discontinuation review for Drag Products.</a:t>
            </a:r>
            <a:endParaRPr lang="en-US" sz="950" dirty="0"/>
          </a:p>
        </p:txBody>
      </p:sp>
      <p:sp>
        <p:nvSpPr>
          <p:cNvPr id="22" name="Shape 20"/>
          <p:cNvSpPr/>
          <p:nvPr/>
        </p:nvSpPr>
        <p:spPr>
          <a:xfrm>
            <a:off x="0" y="4754880"/>
            <a:ext cx="9144000" cy="388620"/>
          </a:xfrm>
          <a:prstGeom prst="rect">
            <a:avLst/>
          </a:prstGeom>
          <a:solidFill>
            <a:srgbClr val="6C63FF"/>
          </a:solidFill>
          <a:ln w="12700">
            <a:solidFill>
              <a:srgbClr val="6C63FF"/>
            </a:solidFill>
            <a:prstDash val="solid"/>
          </a:ln>
        </p:spPr>
        <p:txBody>
          <a:bodyPr/>
          <a:lstStyle/>
          <a:p>
            <a:endParaRPr lang="en-IN" dirty="0"/>
          </a:p>
        </p:txBody>
      </p:sp>
      <p:sp>
        <p:nvSpPr>
          <p:cNvPr id="23" name="Text 21"/>
          <p:cNvSpPr/>
          <p:nvPr/>
        </p:nvSpPr>
        <p:spPr>
          <a:xfrm>
            <a:off x="0" y="4754880"/>
            <a:ext cx="9144000" cy="388620"/>
          </a:xfrm>
          <a:prstGeom prst="rect">
            <a:avLst/>
          </a:prstGeom>
          <a:noFill/>
          <a:ln/>
        </p:spPr>
        <p:txBody>
          <a:bodyPr wrap="square" lIns="0" tIns="0" rIns="0" bIns="0" rtlCol="0" anchor="ctr"/>
          <a:lstStyle/>
          <a:p>
            <a:pPr marL="0" indent="0" algn="ctr">
              <a:buNone/>
            </a:pPr>
            <a:r>
              <a:rPr lang="en-US" sz="1000" dirty="0">
                <a:solidFill>
                  <a:srgbClr val="FFFFFF"/>
                </a:solidFill>
              </a:rPr>
              <a:t>Nassau Candy Distributor  ·  Product Line Profitability &amp; Margin Performance Analysis  ·  2024–2025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1759</Words>
  <Application>Microsoft Office PowerPoint</Application>
  <PresentationFormat>On-screen Show (16:9)</PresentationFormat>
  <Paragraphs>247</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Georgia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Nassau Candy Distributor – Product Line Profitability Analysis</dc:title>
  <dc:subject>PptxGenJS Presentation</dc:subject>
  <dc:creator>Nassau Candy Analytics Team</dc:creator>
  <cp:lastModifiedBy>Chandan B S</cp:lastModifiedBy>
  <cp:revision>1</cp:revision>
  <dcterms:created xsi:type="dcterms:W3CDTF">2026-05-15T10:57:36Z</dcterms:created>
  <dcterms:modified xsi:type="dcterms:W3CDTF">2026-05-20T10:23:10Z</dcterms:modified>
</cp:coreProperties>
</file>